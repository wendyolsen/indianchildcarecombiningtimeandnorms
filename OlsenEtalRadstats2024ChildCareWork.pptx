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3"/>
  </p:notesMasterIdLst>
  <p:sldIdLst>
    <p:sldId id="267" r:id="rId2"/>
    <p:sldId id="265" r:id="rId3"/>
    <p:sldId id="288" r:id="rId4"/>
    <p:sldId id="266" r:id="rId5"/>
    <p:sldId id="275" r:id="rId6"/>
    <p:sldId id="274" r:id="rId7"/>
    <p:sldId id="268" r:id="rId8"/>
    <p:sldId id="258" r:id="rId9"/>
    <p:sldId id="289" r:id="rId10"/>
    <p:sldId id="277" r:id="rId11"/>
    <p:sldId id="290" r:id="rId12"/>
    <p:sldId id="278" r:id="rId13"/>
    <p:sldId id="279" r:id="rId14"/>
    <p:sldId id="270" r:id="rId15"/>
    <p:sldId id="259" r:id="rId16"/>
    <p:sldId id="280" r:id="rId17"/>
    <p:sldId id="260" r:id="rId18"/>
    <p:sldId id="271" r:id="rId19"/>
    <p:sldId id="263" r:id="rId20"/>
    <p:sldId id="281" r:id="rId21"/>
    <p:sldId id="28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4542" autoAdjust="0"/>
  </p:normalViewPr>
  <p:slideViewPr>
    <p:cSldViewPr snapToGrid="0">
      <p:cViewPr varScale="1">
        <p:scale>
          <a:sx n="119" d="100"/>
          <a:sy n="119" d="100"/>
        </p:scale>
        <p:origin x="702" y="84"/>
      </p:cViewPr>
      <p:guideLst>
        <p:guide orient="horz" pos="2160"/>
        <p:guide pos="3840"/>
      </p:guideLst>
    </p:cSldViewPr>
  </p:slideViewPr>
  <p:notesTextViewPr>
    <p:cViewPr>
      <p:scale>
        <a:sx n="1" d="1"/>
        <a:sy n="1" d="1"/>
      </p:scale>
      <p:origin x="0" y="0"/>
    </p:cViewPr>
  </p:notesTextViewPr>
  <p:sorterViewPr>
    <p:cViewPr>
      <p:scale>
        <a:sx n="100" d="100"/>
        <a:sy n="100" d="100"/>
      </p:scale>
      <p:origin x="0" y="-2322"/>
    </p:cViewPr>
  </p:sorterViewPr>
  <p:notesViewPr>
    <p:cSldViewPr snapToGrid="0">
      <p:cViewPr varScale="1">
        <p:scale>
          <a:sx n="58" d="100"/>
          <a:sy n="58" d="100"/>
        </p:scale>
        <p:origin x="224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1D46C7-6BD7-43FD-96C8-CF9D7B7BB37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E50DA37A-C889-4DF3-81CE-E4BFCFA7254A}">
      <dgm:prSet phldrT="[Text]"/>
      <dgm:spPr/>
      <dgm:t>
        <a:bodyPr/>
        <a:lstStyle/>
        <a:p>
          <a:r>
            <a:rPr lang="en-GB" dirty="0">
              <a:solidFill>
                <a:schemeClr val="tx1"/>
              </a:solidFill>
            </a:rPr>
            <a:t>What is a patriarchal standpoint? It is one which favours the control over social decisions by the elders and particularly male elders.</a:t>
          </a:r>
        </a:p>
      </dgm:t>
    </dgm:pt>
    <dgm:pt modelId="{526A8F22-CEF0-41ED-AED1-82D9B451E95A}" type="parTrans" cxnId="{0996FD54-A81D-4618-9362-1508F4CF03A7}">
      <dgm:prSet/>
      <dgm:spPr/>
      <dgm:t>
        <a:bodyPr/>
        <a:lstStyle/>
        <a:p>
          <a:endParaRPr lang="en-GB"/>
        </a:p>
      </dgm:t>
    </dgm:pt>
    <dgm:pt modelId="{83FB00FE-D4F0-4888-9308-5FE5C3C10849}" type="sibTrans" cxnId="{0996FD54-A81D-4618-9362-1508F4CF03A7}">
      <dgm:prSet/>
      <dgm:spPr/>
      <dgm:t>
        <a:bodyPr/>
        <a:lstStyle/>
        <a:p>
          <a:endParaRPr lang="en-GB"/>
        </a:p>
      </dgm:t>
    </dgm:pt>
    <dgm:pt modelId="{94CEB076-B5FF-4D67-845A-64AFD9BBACB8}">
      <dgm:prSet phldrT="[Text]"/>
      <dgm:spPr/>
      <dgm:t>
        <a:bodyPr/>
        <a:lstStyle/>
        <a:p>
          <a:r>
            <a:rPr lang="en-GB" b="1" dirty="0">
              <a:solidFill>
                <a:schemeClr val="tx1"/>
              </a:solidFill>
            </a:rPr>
            <a:t>How we measure gender norms – use attitude and opinion questions – make a factor to smooth out the variations and gain the central tendency (Kim, et al., 2022)-</a:t>
          </a:r>
          <a:r>
            <a:rPr lang="en-GB" b="1" i="1" dirty="0">
              <a:solidFill>
                <a:schemeClr val="tx1"/>
              </a:solidFill>
            </a:rPr>
            <a:t>WES journal</a:t>
          </a:r>
          <a:endParaRPr lang="en-GB" i="1" dirty="0">
            <a:solidFill>
              <a:schemeClr val="tx1"/>
            </a:solidFill>
          </a:endParaRPr>
        </a:p>
      </dgm:t>
    </dgm:pt>
    <dgm:pt modelId="{D7689D96-1A9D-4FE2-95C6-B76EB02D7EF7}" type="parTrans" cxnId="{8C9A5C24-BD1D-426B-947B-C6DDF409B1D3}">
      <dgm:prSet/>
      <dgm:spPr/>
      <dgm:t>
        <a:bodyPr/>
        <a:lstStyle/>
        <a:p>
          <a:endParaRPr lang="en-GB"/>
        </a:p>
      </dgm:t>
    </dgm:pt>
    <dgm:pt modelId="{2D5FD898-3B54-47AF-9BC6-3AC3B1C72292}" type="sibTrans" cxnId="{8C9A5C24-BD1D-426B-947B-C6DDF409B1D3}">
      <dgm:prSet/>
      <dgm:spPr/>
      <dgm:t>
        <a:bodyPr/>
        <a:lstStyle/>
        <a:p>
          <a:endParaRPr lang="en-GB"/>
        </a:p>
      </dgm:t>
    </dgm:pt>
    <dgm:pt modelId="{24AFFFBD-D97B-40F7-92E0-E8422D56DF89}">
      <dgm:prSet phldrT="[Text]"/>
      <dgm:spPr/>
      <dgm:t>
        <a:bodyPr/>
        <a:lstStyle/>
        <a:p>
          <a:r>
            <a:rPr lang="en-GB" b="1" dirty="0">
              <a:solidFill>
                <a:schemeClr val="tx1"/>
              </a:solidFill>
            </a:rPr>
            <a:t>Here</a:t>
          </a:r>
          <a:r>
            <a:rPr lang="en-GB" dirty="0">
              <a:solidFill>
                <a:schemeClr val="tx1"/>
              </a:solidFill>
            </a:rPr>
            <a:t> we use 2019 Asian Barometers - India</a:t>
          </a:r>
        </a:p>
        <a:p>
          <a:r>
            <a:rPr lang="en-GB" dirty="0">
              <a:solidFill>
                <a:schemeClr val="tx1"/>
              </a:solidFill>
            </a:rPr>
            <a:t>Sexism was embedded in questions </a:t>
          </a:r>
          <a:r>
            <a:rPr lang="en-GB" dirty="0">
              <a:solidFill>
                <a:schemeClr val="tx1"/>
              </a:solidFill>
              <a:sym typeface="Wingdings" panose="05000000000000000000" pitchFamily="2" charset="2"/>
            </a:rPr>
            <a:t> desirability bias of a patriarchal gender norm</a:t>
          </a:r>
          <a:endParaRPr lang="en-GB" dirty="0">
            <a:solidFill>
              <a:schemeClr val="tx1"/>
            </a:solidFill>
          </a:endParaRPr>
        </a:p>
      </dgm:t>
    </dgm:pt>
    <dgm:pt modelId="{02777B26-A1DD-4905-9D6B-980180985E47}" type="parTrans" cxnId="{9EA592CE-4B09-4030-9DA9-C94FA6E1D0C0}">
      <dgm:prSet/>
      <dgm:spPr/>
      <dgm:t>
        <a:bodyPr/>
        <a:lstStyle/>
        <a:p>
          <a:endParaRPr lang="en-GB"/>
        </a:p>
      </dgm:t>
    </dgm:pt>
    <dgm:pt modelId="{7F1D9B89-EF3C-4F16-A896-CD4F44985A46}" type="sibTrans" cxnId="{9EA592CE-4B09-4030-9DA9-C94FA6E1D0C0}">
      <dgm:prSet/>
      <dgm:spPr/>
      <dgm:t>
        <a:bodyPr/>
        <a:lstStyle/>
        <a:p>
          <a:endParaRPr lang="en-GB"/>
        </a:p>
      </dgm:t>
    </dgm:pt>
    <dgm:pt modelId="{F6E3815E-EC28-45CE-BD5A-7B4B76855B60}" type="pres">
      <dgm:prSet presAssocID="{B11D46C7-6BD7-43FD-96C8-CF9D7B7BB37E}" presName="linear" presStyleCnt="0">
        <dgm:presLayoutVars>
          <dgm:dir/>
          <dgm:animLvl val="lvl"/>
          <dgm:resizeHandles val="exact"/>
        </dgm:presLayoutVars>
      </dgm:prSet>
      <dgm:spPr/>
    </dgm:pt>
    <dgm:pt modelId="{7B4EE999-C3CF-431C-A3F4-DB4FBEA6EA7A}" type="pres">
      <dgm:prSet presAssocID="{E50DA37A-C889-4DF3-81CE-E4BFCFA7254A}" presName="parentLin" presStyleCnt="0"/>
      <dgm:spPr/>
    </dgm:pt>
    <dgm:pt modelId="{FC9D5D78-0FCE-4CF5-96D0-E496BE2FB7EA}" type="pres">
      <dgm:prSet presAssocID="{E50DA37A-C889-4DF3-81CE-E4BFCFA7254A}" presName="parentLeftMargin" presStyleLbl="node1" presStyleIdx="0" presStyleCnt="3"/>
      <dgm:spPr/>
    </dgm:pt>
    <dgm:pt modelId="{48A6AF82-42D4-40F1-96AC-25D2C3703255}" type="pres">
      <dgm:prSet presAssocID="{E50DA37A-C889-4DF3-81CE-E4BFCFA7254A}" presName="parentText" presStyleLbl="node1" presStyleIdx="0" presStyleCnt="3" custScaleY="145114">
        <dgm:presLayoutVars>
          <dgm:chMax val="0"/>
          <dgm:bulletEnabled val="1"/>
        </dgm:presLayoutVars>
      </dgm:prSet>
      <dgm:spPr/>
    </dgm:pt>
    <dgm:pt modelId="{D4E52AB7-B2B5-40BC-AD8A-2DB6E07F8FB0}" type="pres">
      <dgm:prSet presAssocID="{E50DA37A-C889-4DF3-81CE-E4BFCFA7254A}" presName="negativeSpace" presStyleCnt="0"/>
      <dgm:spPr/>
    </dgm:pt>
    <dgm:pt modelId="{F0BD7F6D-8339-4C4E-BFDE-36AFA77353DF}" type="pres">
      <dgm:prSet presAssocID="{E50DA37A-C889-4DF3-81CE-E4BFCFA7254A}" presName="childText" presStyleLbl="conFgAcc1" presStyleIdx="0" presStyleCnt="3">
        <dgm:presLayoutVars>
          <dgm:bulletEnabled val="1"/>
        </dgm:presLayoutVars>
      </dgm:prSet>
      <dgm:spPr/>
    </dgm:pt>
    <dgm:pt modelId="{44614D48-2FC7-4947-A4A2-A9FA46FE8819}" type="pres">
      <dgm:prSet presAssocID="{83FB00FE-D4F0-4888-9308-5FE5C3C10849}" presName="spaceBetweenRectangles" presStyleCnt="0"/>
      <dgm:spPr/>
    </dgm:pt>
    <dgm:pt modelId="{9D2C8FDE-3EA3-4ABE-8482-FF4E746DED51}" type="pres">
      <dgm:prSet presAssocID="{94CEB076-B5FF-4D67-845A-64AFD9BBACB8}" presName="parentLin" presStyleCnt="0"/>
      <dgm:spPr/>
    </dgm:pt>
    <dgm:pt modelId="{1B4D9571-736A-4BB5-80FD-112E05472A67}" type="pres">
      <dgm:prSet presAssocID="{94CEB076-B5FF-4D67-845A-64AFD9BBACB8}" presName="parentLeftMargin" presStyleLbl="node1" presStyleIdx="0" presStyleCnt="3"/>
      <dgm:spPr/>
    </dgm:pt>
    <dgm:pt modelId="{4191C1E8-88B2-4B74-8020-B6DD0A25332C}" type="pres">
      <dgm:prSet presAssocID="{94CEB076-B5FF-4D67-845A-64AFD9BBACB8}" presName="parentText" presStyleLbl="node1" presStyleIdx="1" presStyleCnt="3" custScaleX="142857">
        <dgm:presLayoutVars>
          <dgm:chMax val="0"/>
          <dgm:bulletEnabled val="1"/>
        </dgm:presLayoutVars>
      </dgm:prSet>
      <dgm:spPr/>
    </dgm:pt>
    <dgm:pt modelId="{125C4DBB-0726-4E57-994D-74C600C46422}" type="pres">
      <dgm:prSet presAssocID="{94CEB076-B5FF-4D67-845A-64AFD9BBACB8}" presName="negativeSpace" presStyleCnt="0"/>
      <dgm:spPr/>
    </dgm:pt>
    <dgm:pt modelId="{14598E32-3AFF-4E15-B9E2-7E9379B80769}" type="pres">
      <dgm:prSet presAssocID="{94CEB076-B5FF-4D67-845A-64AFD9BBACB8}" presName="childText" presStyleLbl="conFgAcc1" presStyleIdx="1" presStyleCnt="3">
        <dgm:presLayoutVars>
          <dgm:bulletEnabled val="1"/>
        </dgm:presLayoutVars>
      </dgm:prSet>
      <dgm:spPr/>
    </dgm:pt>
    <dgm:pt modelId="{5CDA492C-263F-4E8F-8B53-7657CB62E792}" type="pres">
      <dgm:prSet presAssocID="{2D5FD898-3B54-47AF-9BC6-3AC3B1C72292}" presName="spaceBetweenRectangles" presStyleCnt="0"/>
      <dgm:spPr/>
    </dgm:pt>
    <dgm:pt modelId="{5806B3BC-FA24-45D0-AE07-E89779E446AC}" type="pres">
      <dgm:prSet presAssocID="{24AFFFBD-D97B-40F7-92E0-E8422D56DF89}" presName="parentLin" presStyleCnt="0"/>
      <dgm:spPr/>
    </dgm:pt>
    <dgm:pt modelId="{84712511-F561-4461-9532-6BF535B0D374}" type="pres">
      <dgm:prSet presAssocID="{24AFFFBD-D97B-40F7-92E0-E8422D56DF89}" presName="parentLeftMargin" presStyleLbl="node1" presStyleIdx="1" presStyleCnt="3"/>
      <dgm:spPr/>
    </dgm:pt>
    <dgm:pt modelId="{8115F4A1-1EBC-493B-9CF3-7476D0210F00}" type="pres">
      <dgm:prSet presAssocID="{24AFFFBD-D97B-40F7-92E0-E8422D56DF89}" presName="parentText" presStyleLbl="node1" presStyleIdx="2" presStyleCnt="3" custScaleX="142857" custScaleY="122783">
        <dgm:presLayoutVars>
          <dgm:chMax val="0"/>
          <dgm:bulletEnabled val="1"/>
        </dgm:presLayoutVars>
      </dgm:prSet>
      <dgm:spPr/>
    </dgm:pt>
    <dgm:pt modelId="{CF3A964E-3F6F-4AC0-94D2-884757500106}" type="pres">
      <dgm:prSet presAssocID="{24AFFFBD-D97B-40F7-92E0-E8422D56DF89}" presName="negativeSpace" presStyleCnt="0"/>
      <dgm:spPr/>
    </dgm:pt>
    <dgm:pt modelId="{CFA5C54F-3B97-4432-A26A-F8AA40EC05B4}" type="pres">
      <dgm:prSet presAssocID="{24AFFFBD-D97B-40F7-92E0-E8422D56DF89}" presName="childText" presStyleLbl="conFgAcc1" presStyleIdx="2" presStyleCnt="3">
        <dgm:presLayoutVars>
          <dgm:bulletEnabled val="1"/>
        </dgm:presLayoutVars>
      </dgm:prSet>
      <dgm:spPr/>
    </dgm:pt>
  </dgm:ptLst>
  <dgm:cxnLst>
    <dgm:cxn modelId="{DF79C202-C384-4DD1-881A-7BB282152346}" type="presOf" srcId="{E50DA37A-C889-4DF3-81CE-E4BFCFA7254A}" destId="{FC9D5D78-0FCE-4CF5-96D0-E496BE2FB7EA}" srcOrd="0" destOrd="0" presId="urn:microsoft.com/office/officeart/2005/8/layout/list1"/>
    <dgm:cxn modelId="{8C9A5C24-BD1D-426B-947B-C6DDF409B1D3}" srcId="{B11D46C7-6BD7-43FD-96C8-CF9D7B7BB37E}" destId="{94CEB076-B5FF-4D67-845A-64AFD9BBACB8}" srcOrd="1" destOrd="0" parTransId="{D7689D96-1A9D-4FE2-95C6-B76EB02D7EF7}" sibTransId="{2D5FD898-3B54-47AF-9BC6-3AC3B1C72292}"/>
    <dgm:cxn modelId="{E62D2064-3F77-4E46-AAF3-1EB2C4972D07}" type="presOf" srcId="{94CEB076-B5FF-4D67-845A-64AFD9BBACB8}" destId="{1B4D9571-736A-4BB5-80FD-112E05472A67}" srcOrd="0" destOrd="0" presId="urn:microsoft.com/office/officeart/2005/8/layout/list1"/>
    <dgm:cxn modelId="{B39F3871-1F21-4114-9EA5-3E5832C0F001}" type="presOf" srcId="{24AFFFBD-D97B-40F7-92E0-E8422D56DF89}" destId="{8115F4A1-1EBC-493B-9CF3-7476D0210F00}" srcOrd="1" destOrd="0" presId="urn:microsoft.com/office/officeart/2005/8/layout/list1"/>
    <dgm:cxn modelId="{0996FD54-A81D-4618-9362-1508F4CF03A7}" srcId="{B11D46C7-6BD7-43FD-96C8-CF9D7B7BB37E}" destId="{E50DA37A-C889-4DF3-81CE-E4BFCFA7254A}" srcOrd="0" destOrd="0" parTransId="{526A8F22-CEF0-41ED-AED1-82D9B451E95A}" sibTransId="{83FB00FE-D4F0-4888-9308-5FE5C3C10849}"/>
    <dgm:cxn modelId="{72B14B9F-4006-4BFC-BD50-BE20D3459609}" type="presOf" srcId="{94CEB076-B5FF-4D67-845A-64AFD9BBACB8}" destId="{4191C1E8-88B2-4B74-8020-B6DD0A25332C}" srcOrd="1" destOrd="0" presId="urn:microsoft.com/office/officeart/2005/8/layout/list1"/>
    <dgm:cxn modelId="{B92B37C0-9BFA-4747-A04B-223EB3DF5B13}" type="presOf" srcId="{B11D46C7-6BD7-43FD-96C8-CF9D7B7BB37E}" destId="{F6E3815E-EC28-45CE-BD5A-7B4B76855B60}" srcOrd="0" destOrd="0" presId="urn:microsoft.com/office/officeart/2005/8/layout/list1"/>
    <dgm:cxn modelId="{9EA592CE-4B09-4030-9DA9-C94FA6E1D0C0}" srcId="{B11D46C7-6BD7-43FD-96C8-CF9D7B7BB37E}" destId="{24AFFFBD-D97B-40F7-92E0-E8422D56DF89}" srcOrd="2" destOrd="0" parTransId="{02777B26-A1DD-4905-9D6B-980180985E47}" sibTransId="{7F1D9B89-EF3C-4F16-A896-CD4F44985A46}"/>
    <dgm:cxn modelId="{F708BED4-5CEA-4DB2-9DDC-DB525CA086A1}" type="presOf" srcId="{E50DA37A-C889-4DF3-81CE-E4BFCFA7254A}" destId="{48A6AF82-42D4-40F1-96AC-25D2C3703255}" srcOrd="1" destOrd="0" presId="urn:microsoft.com/office/officeart/2005/8/layout/list1"/>
    <dgm:cxn modelId="{325170FC-E186-4279-8CF8-BEE56F68CA24}" type="presOf" srcId="{24AFFFBD-D97B-40F7-92E0-E8422D56DF89}" destId="{84712511-F561-4461-9532-6BF535B0D374}" srcOrd="0" destOrd="0" presId="urn:microsoft.com/office/officeart/2005/8/layout/list1"/>
    <dgm:cxn modelId="{11BF9E7C-69CE-492E-8F60-9D0C4B81DD83}" type="presParOf" srcId="{F6E3815E-EC28-45CE-BD5A-7B4B76855B60}" destId="{7B4EE999-C3CF-431C-A3F4-DB4FBEA6EA7A}" srcOrd="0" destOrd="0" presId="urn:microsoft.com/office/officeart/2005/8/layout/list1"/>
    <dgm:cxn modelId="{9DD1254E-C454-4731-B1E3-C7AFEBFFAE6E}" type="presParOf" srcId="{7B4EE999-C3CF-431C-A3F4-DB4FBEA6EA7A}" destId="{FC9D5D78-0FCE-4CF5-96D0-E496BE2FB7EA}" srcOrd="0" destOrd="0" presId="urn:microsoft.com/office/officeart/2005/8/layout/list1"/>
    <dgm:cxn modelId="{075ECF05-742B-4D0C-ADB9-3FF769F08B04}" type="presParOf" srcId="{7B4EE999-C3CF-431C-A3F4-DB4FBEA6EA7A}" destId="{48A6AF82-42D4-40F1-96AC-25D2C3703255}" srcOrd="1" destOrd="0" presId="urn:microsoft.com/office/officeart/2005/8/layout/list1"/>
    <dgm:cxn modelId="{EE0F20B3-36F1-4CBB-A666-E4AB14BF9B00}" type="presParOf" srcId="{F6E3815E-EC28-45CE-BD5A-7B4B76855B60}" destId="{D4E52AB7-B2B5-40BC-AD8A-2DB6E07F8FB0}" srcOrd="1" destOrd="0" presId="urn:microsoft.com/office/officeart/2005/8/layout/list1"/>
    <dgm:cxn modelId="{EBECA2AB-3DA9-4EDE-952A-CAA7F63791AD}" type="presParOf" srcId="{F6E3815E-EC28-45CE-BD5A-7B4B76855B60}" destId="{F0BD7F6D-8339-4C4E-BFDE-36AFA77353DF}" srcOrd="2" destOrd="0" presId="urn:microsoft.com/office/officeart/2005/8/layout/list1"/>
    <dgm:cxn modelId="{8964DC78-3328-4324-9AF5-1D76A576C3B5}" type="presParOf" srcId="{F6E3815E-EC28-45CE-BD5A-7B4B76855B60}" destId="{44614D48-2FC7-4947-A4A2-A9FA46FE8819}" srcOrd="3" destOrd="0" presId="urn:microsoft.com/office/officeart/2005/8/layout/list1"/>
    <dgm:cxn modelId="{199B04A7-F19D-494F-80E6-66ADCCAB6705}" type="presParOf" srcId="{F6E3815E-EC28-45CE-BD5A-7B4B76855B60}" destId="{9D2C8FDE-3EA3-4ABE-8482-FF4E746DED51}" srcOrd="4" destOrd="0" presId="urn:microsoft.com/office/officeart/2005/8/layout/list1"/>
    <dgm:cxn modelId="{66F728C8-39DC-4D5E-93DB-06683A56D60B}" type="presParOf" srcId="{9D2C8FDE-3EA3-4ABE-8482-FF4E746DED51}" destId="{1B4D9571-736A-4BB5-80FD-112E05472A67}" srcOrd="0" destOrd="0" presId="urn:microsoft.com/office/officeart/2005/8/layout/list1"/>
    <dgm:cxn modelId="{5F250673-2701-42E7-8B0A-152775712477}" type="presParOf" srcId="{9D2C8FDE-3EA3-4ABE-8482-FF4E746DED51}" destId="{4191C1E8-88B2-4B74-8020-B6DD0A25332C}" srcOrd="1" destOrd="0" presId="urn:microsoft.com/office/officeart/2005/8/layout/list1"/>
    <dgm:cxn modelId="{C061BEB6-EF7B-49C1-92AF-CF63B0C62174}" type="presParOf" srcId="{F6E3815E-EC28-45CE-BD5A-7B4B76855B60}" destId="{125C4DBB-0726-4E57-994D-74C600C46422}" srcOrd="5" destOrd="0" presId="urn:microsoft.com/office/officeart/2005/8/layout/list1"/>
    <dgm:cxn modelId="{82E643C3-4564-4A87-8C8F-AA666C2857B1}" type="presParOf" srcId="{F6E3815E-EC28-45CE-BD5A-7B4B76855B60}" destId="{14598E32-3AFF-4E15-B9E2-7E9379B80769}" srcOrd="6" destOrd="0" presId="urn:microsoft.com/office/officeart/2005/8/layout/list1"/>
    <dgm:cxn modelId="{3CB328F0-D000-4FA8-B0F1-42E8C3B4ECDC}" type="presParOf" srcId="{F6E3815E-EC28-45CE-BD5A-7B4B76855B60}" destId="{5CDA492C-263F-4E8F-8B53-7657CB62E792}" srcOrd="7" destOrd="0" presId="urn:microsoft.com/office/officeart/2005/8/layout/list1"/>
    <dgm:cxn modelId="{8B758E78-F195-4C9C-8267-AA1FDE485726}" type="presParOf" srcId="{F6E3815E-EC28-45CE-BD5A-7B4B76855B60}" destId="{5806B3BC-FA24-45D0-AE07-E89779E446AC}" srcOrd="8" destOrd="0" presId="urn:microsoft.com/office/officeart/2005/8/layout/list1"/>
    <dgm:cxn modelId="{9AE830C7-2335-4966-9473-A8DBD7C903E1}" type="presParOf" srcId="{5806B3BC-FA24-45D0-AE07-E89779E446AC}" destId="{84712511-F561-4461-9532-6BF535B0D374}" srcOrd="0" destOrd="0" presId="urn:microsoft.com/office/officeart/2005/8/layout/list1"/>
    <dgm:cxn modelId="{16F6615F-8712-496D-B088-8913947C864F}" type="presParOf" srcId="{5806B3BC-FA24-45D0-AE07-E89779E446AC}" destId="{8115F4A1-1EBC-493B-9CF3-7476D0210F00}" srcOrd="1" destOrd="0" presId="urn:microsoft.com/office/officeart/2005/8/layout/list1"/>
    <dgm:cxn modelId="{7914582C-0B45-4C78-BB17-6D25176ED134}" type="presParOf" srcId="{F6E3815E-EC28-45CE-BD5A-7B4B76855B60}" destId="{CF3A964E-3F6F-4AC0-94D2-884757500106}" srcOrd="9" destOrd="0" presId="urn:microsoft.com/office/officeart/2005/8/layout/list1"/>
    <dgm:cxn modelId="{2DFEDAB6-5F34-4A36-A59C-8A6A3D0E3AEB}" type="presParOf" srcId="{F6E3815E-EC28-45CE-BD5A-7B4B76855B60}" destId="{CFA5C54F-3B97-4432-A26A-F8AA40EC05B4}" srcOrd="10" destOrd="0" presId="urn:microsoft.com/office/officeart/2005/8/layout/list1"/>
  </dgm:cxnLst>
  <dgm:bg>
    <a:solidFill>
      <a:schemeClr val="accent1">
        <a:lumMod val="60000"/>
        <a:lumOff val="40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1D46C7-6BD7-43FD-96C8-CF9D7B7BB37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E50DA37A-C889-4DF3-81CE-E4BFCFA7254A}">
      <dgm:prSet phldrT="[Text]" custT="1"/>
      <dgm:spPr/>
      <dgm:t>
        <a:bodyPr/>
        <a:lstStyle/>
        <a:p>
          <a:r>
            <a:rPr lang="en-GB" sz="1800" dirty="0">
              <a:solidFill>
                <a:schemeClr val="tx1"/>
              </a:solidFill>
            </a:rPr>
            <a:t>The word childcare is defined by the International Labour Organisation in its ‘labour-force status’ statements from the International Conference of Labour Statisticians.</a:t>
          </a:r>
        </a:p>
      </dgm:t>
    </dgm:pt>
    <dgm:pt modelId="{526A8F22-CEF0-41ED-AED1-82D9B451E95A}" type="parTrans" cxnId="{0996FD54-A81D-4618-9362-1508F4CF03A7}">
      <dgm:prSet/>
      <dgm:spPr/>
      <dgm:t>
        <a:bodyPr/>
        <a:lstStyle/>
        <a:p>
          <a:endParaRPr lang="en-GB"/>
        </a:p>
      </dgm:t>
    </dgm:pt>
    <dgm:pt modelId="{83FB00FE-D4F0-4888-9308-5FE5C3C10849}" type="sibTrans" cxnId="{0996FD54-A81D-4618-9362-1508F4CF03A7}">
      <dgm:prSet/>
      <dgm:spPr/>
      <dgm:t>
        <a:bodyPr/>
        <a:lstStyle/>
        <a:p>
          <a:endParaRPr lang="en-GB"/>
        </a:p>
      </dgm:t>
    </dgm:pt>
    <dgm:pt modelId="{94CEB076-B5FF-4D67-845A-64AFD9BBACB8}">
      <dgm:prSet phldrT="[Text]"/>
      <dgm:spPr/>
      <dgm:t>
        <a:bodyPr/>
        <a:lstStyle/>
        <a:p>
          <a:r>
            <a:rPr lang="en-GB" dirty="0">
              <a:solidFill>
                <a:schemeClr val="tx1"/>
              </a:solidFill>
            </a:rPr>
            <a:t>When operationalising it, we now use the ICATUS, an international time-use diary category list which has 1-digit, 2-digit, and 3-digit details.</a:t>
          </a:r>
        </a:p>
        <a:p>
          <a:r>
            <a:rPr lang="en-GB" dirty="0">
              <a:solidFill>
                <a:schemeClr val="tx1"/>
              </a:solidFill>
            </a:rPr>
            <a:t>We used “time spent cooking in a household with co-resident children of age 16 or below” + childcare + tutoring child(ren) + </a:t>
          </a:r>
        </a:p>
      </dgm:t>
    </dgm:pt>
    <dgm:pt modelId="{D7689D96-1A9D-4FE2-95C6-B76EB02D7EF7}" type="parTrans" cxnId="{8C9A5C24-BD1D-426B-947B-C6DDF409B1D3}">
      <dgm:prSet/>
      <dgm:spPr/>
      <dgm:t>
        <a:bodyPr/>
        <a:lstStyle/>
        <a:p>
          <a:endParaRPr lang="en-GB"/>
        </a:p>
      </dgm:t>
    </dgm:pt>
    <dgm:pt modelId="{2D5FD898-3B54-47AF-9BC6-3AC3B1C72292}" type="sibTrans" cxnId="{8C9A5C24-BD1D-426B-947B-C6DDF409B1D3}">
      <dgm:prSet/>
      <dgm:spPr/>
      <dgm:t>
        <a:bodyPr/>
        <a:lstStyle/>
        <a:p>
          <a:endParaRPr lang="en-GB"/>
        </a:p>
      </dgm:t>
    </dgm:pt>
    <dgm:pt modelId="{24AFFFBD-D97B-40F7-92E0-E8422D56DF89}">
      <dgm:prSet phldrT="[Text]"/>
      <dgm:spPr/>
      <dgm:t>
        <a:bodyPr/>
        <a:lstStyle/>
        <a:p>
          <a:r>
            <a:rPr lang="en-GB" dirty="0">
              <a:solidFill>
                <a:schemeClr val="tx1"/>
              </a:solidFill>
            </a:rPr>
            <a:t>travelling with children or family members; waiting while accompanying members…</a:t>
          </a:r>
        </a:p>
      </dgm:t>
    </dgm:pt>
    <dgm:pt modelId="{02777B26-A1DD-4905-9D6B-980180985E47}" type="parTrans" cxnId="{9EA592CE-4B09-4030-9DA9-C94FA6E1D0C0}">
      <dgm:prSet/>
      <dgm:spPr/>
      <dgm:t>
        <a:bodyPr/>
        <a:lstStyle/>
        <a:p>
          <a:endParaRPr lang="en-GB"/>
        </a:p>
      </dgm:t>
    </dgm:pt>
    <dgm:pt modelId="{7F1D9B89-EF3C-4F16-A896-CD4F44985A46}" type="sibTrans" cxnId="{9EA592CE-4B09-4030-9DA9-C94FA6E1D0C0}">
      <dgm:prSet/>
      <dgm:spPr/>
      <dgm:t>
        <a:bodyPr/>
        <a:lstStyle/>
        <a:p>
          <a:endParaRPr lang="en-GB"/>
        </a:p>
      </dgm:t>
    </dgm:pt>
    <dgm:pt modelId="{7A650974-DF29-4087-A971-AB3AD21A2FF9}">
      <dgm:prSet/>
      <dgm:spPr/>
      <dgm:t>
        <a:bodyPr/>
        <a:lstStyle/>
        <a:p>
          <a:r>
            <a:rPr lang="en-GB" dirty="0">
              <a:solidFill>
                <a:schemeClr val="tx1"/>
              </a:solidFill>
            </a:rPr>
            <a:t>Aggregated childcare is the total of all these.</a:t>
          </a:r>
          <a:endParaRPr lang="en-GB" dirty="0"/>
        </a:p>
      </dgm:t>
    </dgm:pt>
    <dgm:pt modelId="{8F4E116C-41EF-42B7-B425-0593AB6C7CF1}" type="parTrans" cxnId="{D2A8C44E-AE29-45BF-9BC8-8A357C50A1B5}">
      <dgm:prSet/>
      <dgm:spPr/>
      <dgm:t>
        <a:bodyPr/>
        <a:lstStyle/>
        <a:p>
          <a:endParaRPr lang="en-GB"/>
        </a:p>
      </dgm:t>
    </dgm:pt>
    <dgm:pt modelId="{2A14D8A2-A61C-4F33-B372-B67855133AF5}" type="sibTrans" cxnId="{D2A8C44E-AE29-45BF-9BC8-8A357C50A1B5}">
      <dgm:prSet/>
      <dgm:spPr/>
      <dgm:t>
        <a:bodyPr/>
        <a:lstStyle/>
        <a:p>
          <a:endParaRPr lang="en-GB"/>
        </a:p>
      </dgm:t>
    </dgm:pt>
    <dgm:pt modelId="{F3463999-B8F9-44CB-9F84-CA9F11DF0668}">
      <dgm:prSet/>
      <dgm:spPr/>
      <dgm:t>
        <a:bodyPr/>
        <a:lstStyle/>
        <a:p>
          <a:r>
            <a:rPr lang="en-GB" dirty="0"/>
            <a:t>We merged the ‘NORMS’ to the ‘CHILDCARE’ data.</a:t>
          </a:r>
        </a:p>
      </dgm:t>
    </dgm:pt>
    <dgm:pt modelId="{8F12A143-7EA1-4844-998E-E6C054D065BE}" type="parTrans" cxnId="{3358DDFE-E5A4-4CA1-B06C-2949C9210587}">
      <dgm:prSet/>
      <dgm:spPr/>
      <dgm:t>
        <a:bodyPr/>
        <a:lstStyle/>
        <a:p>
          <a:endParaRPr lang="en-GB"/>
        </a:p>
      </dgm:t>
    </dgm:pt>
    <dgm:pt modelId="{00C08525-1EF5-4070-BECD-AF7D16F18BE6}" type="sibTrans" cxnId="{3358DDFE-E5A4-4CA1-B06C-2949C9210587}">
      <dgm:prSet/>
      <dgm:spPr/>
      <dgm:t>
        <a:bodyPr/>
        <a:lstStyle/>
        <a:p>
          <a:endParaRPr lang="en-GB"/>
        </a:p>
      </dgm:t>
    </dgm:pt>
    <dgm:pt modelId="{D79F1777-B9FE-48DF-AE97-3FAEDE690825}">
      <dgm:prSet/>
      <dgm:spPr/>
      <dgm:t>
        <a:bodyPr/>
        <a:lstStyle/>
        <a:p>
          <a:r>
            <a:rPr lang="en-GB" dirty="0">
              <a:solidFill>
                <a:schemeClr val="bg1"/>
              </a:solidFill>
            </a:rPr>
            <a:t>Sex recorded as female or male; age range from 18 upward, plus spouses in </a:t>
          </a:r>
          <a:r>
            <a:rPr lang="en-GB" dirty="0" err="1">
              <a:solidFill>
                <a:schemeClr val="bg1"/>
              </a:solidFill>
            </a:rPr>
            <a:t>agegroups</a:t>
          </a:r>
          <a:r>
            <a:rPr lang="en-GB" dirty="0">
              <a:solidFill>
                <a:schemeClr val="bg1"/>
              </a:solidFill>
            </a:rPr>
            <a:t> 16, 17 years</a:t>
          </a:r>
        </a:p>
      </dgm:t>
    </dgm:pt>
    <dgm:pt modelId="{5EBA2A7D-E27A-4E84-B2EA-5CEA7357B8B7}" type="parTrans" cxnId="{571FD204-2D5F-4292-86C4-B9563D15B04D}">
      <dgm:prSet/>
      <dgm:spPr/>
      <dgm:t>
        <a:bodyPr/>
        <a:lstStyle/>
        <a:p>
          <a:endParaRPr lang="en-GB"/>
        </a:p>
      </dgm:t>
    </dgm:pt>
    <dgm:pt modelId="{0210458C-D7C2-4885-82E9-6E85EE0CDB26}" type="sibTrans" cxnId="{571FD204-2D5F-4292-86C4-B9563D15B04D}">
      <dgm:prSet/>
      <dgm:spPr/>
      <dgm:t>
        <a:bodyPr/>
        <a:lstStyle/>
        <a:p>
          <a:endParaRPr lang="en-GB"/>
        </a:p>
      </dgm:t>
    </dgm:pt>
    <dgm:pt modelId="{71BB918E-6ADA-4F1A-BBB2-DD4FF74A03C2}">
      <dgm:prSet/>
      <dgm:spPr/>
      <dgm:t>
        <a:bodyPr/>
        <a:lstStyle/>
        <a:p>
          <a:r>
            <a:rPr lang="en-GB"/>
            <a:t>Social Groups = scheduled caste people, people in scheduled tribes, Muslims not SC nor ST, other</a:t>
          </a:r>
        </a:p>
      </dgm:t>
    </dgm:pt>
    <dgm:pt modelId="{4B9B0040-C4C9-4C99-95B2-B55A6D381F2D}" type="parTrans" cxnId="{7D3A5EBA-5D8F-48D9-AD1D-5FED7B78BAD4}">
      <dgm:prSet/>
      <dgm:spPr/>
      <dgm:t>
        <a:bodyPr/>
        <a:lstStyle/>
        <a:p>
          <a:endParaRPr lang="en-GB"/>
        </a:p>
      </dgm:t>
    </dgm:pt>
    <dgm:pt modelId="{9D8AB631-2935-4236-8DC9-4820425ECA29}" type="sibTrans" cxnId="{7D3A5EBA-5D8F-48D9-AD1D-5FED7B78BAD4}">
      <dgm:prSet/>
      <dgm:spPr/>
      <dgm:t>
        <a:bodyPr/>
        <a:lstStyle/>
        <a:p>
          <a:endParaRPr lang="en-GB"/>
        </a:p>
      </dgm:t>
    </dgm:pt>
    <dgm:pt modelId="{F6E3815E-EC28-45CE-BD5A-7B4B76855B60}" type="pres">
      <dgm:prSet presAssocID="{B11D46C7-6BD7-43FD-96C8-CF9D7B7BB37E}" presName="linear" presStyleCnt="0">
        <dgm:presLayoutVars>
          <dgm:dir/>
          <dgm:animLvl val="lvl"/>
          <dgm:resizeHandles val="exact"/>
        </dgm:presLayoutVars>
      </dgm:prSet>
      <dgm:spPr/>
    </dgm:pt>
    <dgm:pt modelId="{7B4EE999-C3CF-431C-A3F4-DB4FBEA6EA7A}" type="pres">
      <dgm:prSet presAssocID="{E50DA37A-C889-4DF3-81CE-E4BFCFA7254A}" presName="parentLin" presStyleCnt="0"/>
      <dgm:spPr/>
    </dgm:pt>
    <dgm:pt modelId="{FC9D5D78-0FCE-4CF5-96D0-E496BE2FB7EA}" type="pres">
      <dgm:prSet presAssocID="{E50DA37A-C889-4DF3-81CE-E4BFCFA7254A}" presName="parentLeftMargin" presStyleLbl="node1" presStyleIdx="0" presStyleCnt="7"/>
      <dgm:spPr/>
    </dgm:pt>
    <dgm:pt modelId="{48A6AF82-42D4-40F1-96AC-25D2C3703255}" type="pres">
      <dgm:prSet presAssocID="{E50DA37A-C889-4DF3-81CE-E4BFCFA7254A}" presName="parentText" presStyleLbl="node1" presStyleIdx="0" presStyleCnt="7" custScaleY="145114">
        <dgm:presLayoutVars>
          <dgm:chMax val="0"/>
          <dgm:bulletEnabled val="1"/>
        </dgm:presLayoutVars>
      </dgm:prSet>
      <dgm:spPr/>
    </dgm:pt>
    <dgm:pt modelId="{D4E52AB7-B2B5-40BC-AD8A-2DB6E07F8FB0}" type="pres">
      <dgm:prSet presAssocID="{E50DA37A-C889-4DF3-81CE-E4BFCFA7254A}" presName="negativeSpace" presStyleCnt="0"/>
      <dgm:spPr/>
    </dgm:pt>
    <dgm:pt modelId="{F0BD7F6D-8339-4C4E-BFDE-36AFA77353DF}" type="pres">
      <dgm:prSet presAssocID="{E50DA37A-C889-4DF3-81CE-E4BFCFA7254A}" presName="childText" presStyleLbl="conFgAcc1" presStyleIdx="0" presStyleCnt="7">
        <dgm:presLayoutVars>
          <dgm:bulletEnabled val="1"/>
        </dgm:presLayoutVars>
      </dgm:prSet>
      <dgm:spPr/>
    </dgm:pt>
    <dgm:pt modelId="{44614D48-2FC7-4947-A4A2-A9FA46FE8819}" type="pres">
      <dgm:prSet presAssocID="{83FB00FE-D4F0-4888-9308-5FE5C3C10849}" presName="spaceBetweenRectangles" presStyleCnt="0"/>
      <dgm:spPr/>
    </dgm:pt>
    <dgm:pt modelId="{9D2C8FDE-3EA3-4ABE-8482-FF4E746DED51}" type="pres">
      <dgm:prSet presAssocID="{94CEB076-B5FF-4D67-845A-64AFD9BBACB8}" presName="parentLin" presStyleCnt="0"/>
      <dgm:spPr/>
    </dgm:pt>
    <dgm:pt modelId="{1B4D9571-736A-4BB5-80FD-112E05472A67}" type="pres">
      <dgm:prSet presAssocID="{94CEB076-B5FF-4D67-845A-64AFD9BBACB8}" presName="parentLeftMargin" presStyleLbl="node1" presStyleIdx="0" presStyleCnt="7"/>
      <dgm:spPr/>
    </dgm:pt>
    <dgm:pt modelId="{4191C1E8-88B2-4B74-8020-B6DD0A25332C}" type="pres">
      <dgm:prSet presAssocID="{94CEB076-B5FF-4D67-845A-64AFD9BBACB8}" presName="parentText" presStyleLbl="node1" presStyleIdx="1" presStyleCnt="7" custScaleX="142857">
        <dgm:presLayoutVars>
          <dgm:chMax val="0"/>
          <dgm:bulletEnabled val="1"/>
        </dgm:presLayoutVars>
      </dgm:prSet>
      <dgm:spPr/>
    </dgm:pt>
    <dgm:pt modelId="{125C4DBB-0726-4E57-994D-74C600C46422}" type="pres">
      <dgm:prSet presAssocID="{94CEB076-B5FF-4D67-845A-64AFD9BBACB8}" presName="negativeSpace" presStyleCnt="0"/>
      <dgm:spPr/>
    </dgm:pt>
    <dgm:pt modelId="{14598E32-3AFF-4E15-B9E2-7E9379B80769}" type="pres">
      <dgm:prSet presAssocID="{94CEB076-B5FF-4D67-845A-64AFD9BBACB8}" presName="childText" presStyleLbl="conFgAcc1" presStyleIdx="1" presStyleCnt="7">
        <dgm:presLayoutVars>
          <dgm:bulletEnabled val="1"/>
        </dgm:presLayoutVars>
      </dgm:prSet>
      <dgm:spPr/>
    </dgm:pt>
    <dgm:pt modelId="{5CDA492C-263F-4E8F-8B53-7657CB62E792}" type="pres">
      <dgm:prSet presAssocID="{2D5FD898-3B54-47AF-9BC6-3AC3B1C72292}" presName="spaceBetweenRectangles" presStyleCnt="0"/>
      <dgm:spPr/>
    </dgm:pt>
    <dgm:pt modelId="{5806B3BC-FA24-45D0-AE07-E89779E446AC}" type="pres">
      <dgm:prSet presAssocID="{24AFFFBD-D97B-40F7-92E0-E8422D56DF89}" presName="parentLin" presStyleCnt="0"/>
      <dgm:spPr/>
    </dgm:pt>
    <dgm:pt modelId="{84712511-F561-4461-9532-6BF535B0D374}" type="pres">
      <dgm:prSet presAssocID="{24AFFFBD-D97B-40F7-92E0-E8422D56DF89}" presName="parentLeftMargin" presStyleLbl="node1" presStyleIdx="1" presStyleCnt="7"/>
      <dgm:spPr/>
    </dgm:pt>
    <dgm:pt modelId="{8115F4A1-1EBC-493B-9CF3-7476D0210F00}" type="pres">
      <dgm:prSet presAssocID="{24AFFFBD-D97B-40F7-92E0-E8422D56DF89}" presName="parentText" presStyleLbl="node1" presStyleIdx="2" presStyleCnt="7" custScaleX="142857" custScaleY="122783">
        <dgm:presLayoutVars>
          <dgm:chMax val="0"/>
          <dgm:bulletEnabled val="1"/>
        </dgm:presLayoutVars>
      </dgm:prSet>
      <dgm:spPr/>
    </dgm:pt>
    <dgm:pt modelId="{CF3A964E-3F6F-4AC0-94D2-884757500106}" type="pres">
      <dgm:prSet presAssocID="{24AFFFBD-D97B-40F7-92E0-E8422D56DF89}" presName="negativeSpace" presStyleCnt="0"/>
      <dgm:spPr/>
    </dgm:pt>
    <dgm:pt modelId="{CFA5C54F-3B97-4432-A26A-F8AA40EC05B4}" type="pres">
      <dgm:prSet presAssocID="{24AFFFBD-D97B-40F7-92E0-E8422D56DF89}" presName="childText" presStyleLbl="conFgAcc1" presStyleIdx="2" presStyleCnt="7">
        <dgm:presLayoutVars>
          <dgm:bulletEnabled val="1"/>
        </dgm:presLayoutVars>
      </dgm:prSet>
      <dgm:spPr/>
    </dgm:pt>
    <dgm:pt modelId="{A1F87075-EE00-4028-B43E-ECB896869E27}" type="pres">
      <dgm:prSet presAssocID="{7F1D9B89-EF3C-4F16-A896-CD4F44985A46}" presName="spaceBetweenRectangles" presStyleCnt="0"/>
      <dgm:spPr/>
    </dgm:pt>
    <dgm:pt modelId="{4D11842F-C858-4338-AF91-0083275FD72B}" type="pres">
      <dgm:prSet presAssocID="{7A650974-DF29-4087-A971-AB3AD21A2FF9}" presName="parentLin" presStyleCnt="0"/>
      <dgm:spPr/>
    </dgm:pt>
    <dgm:pt modelId="{1C17FE94-B45F-476F-A71C-1DED633585DB}" type="pres">
      <dgm:prSet presAssocID="{7A650974-DF29-4087-A971-AB3AD21A2FF9}" presName="parentLeftMargin" presStyleLbl="node1" presStyleIdx="2" presStyleCnt="7"/>
      <dgm:spPr/>
    </dgm:pt>
    <dgm:pt modelId="{D501BD3B-8356-45A1-A4C4-4ACE4061E18A}" type="pres">
      <dgm:prSet presAssocID="{7A650974-DF29-4087-A971-AB3AD21A2FF9}" presName="parentText" presStyleLbl="node1" presStyleIdx="3" presStyleCnt="7">
        <dgm:presLayoutVars>
          <dgm:chMax val="0"/>
          <dgm:bulletEnabled val="1"/>
        </dgm:presLayoutVars>
      </dgm:prSet>
      <dgm:spPr/>
    </dgm:pt>
    <dgm:pt modelId="{713CB1B3-611B-4B71-96A7-CB1FC0213FC9}" type="pres">
      <dgm:prSet presAssocID="{7A650974-DF29-4087-A971-AB3AD21A2FF9}" presName="negativeSpace" presStyleCnt="0"/>
      <dgm:spPr/>
    </dgm:pt>
    <dgm:pt modelId="{477CB1EC-5719-4DE3-802A-90E5CD4A28B4}" type="pres">
      <dgm:prSet presAssocID="{7A650974-DF29-4087-A971-AB3AD21A2FF9}" presName="childText" presStyleLbl="conFgAcc1" presStyleIdx="3" presStyleCnt="7">
        <dgm:presLayoutVars>
          <dgm:bulletEnabled val="1"/>
        </dgm:presLayoutVars>
      </dgm:prSet>
      <dgm:spPr/>
    </dgm:pt>
    <dgm:pt modelId="{B2115A2C-B6F1-4337-8DEF-5CC9543BB49B}" type="pres">
      <dgm:prSet presAssocID="{2A14D8A2-A61C-4F33-B372-B67855133AF5}" presName="spaceBetweenRectangles" presStyleCnt="0"/>
      <dgm:spPr/>
    </dgm:pt>
    <dgm:pt modelId="{F0904D36-B558-4E1B-8426-46702445D02F}" type="pres">
      <dgm:prSet presAssocID="{D79F1777-B9FE-48DF-AE97-3FAEDE690825}" presName="parentLin" presStyleCnt="0"/>
      <dgm:spPr/>
    </dgm:pt>
    <dgm:pt modelId="{3807A7BE-1FE8-4A83-B906-944ED7412461}" type="pres">
      <dgm:prSet presAssocID="{D79F1777-B9FE-48DF-AE97-3FAEDE690825}" presName="parentLeftMargin" presStyleLbl="node1" presStyleIdx="3" presStyleCnt="7"/>
      <dgm:spPr/>
    </dgm:pt>
    <dgm:pt modelId="{39BD00FE-005D-41ED-A283-557DCF5E4F53}" type="pres">
      <dgm:prSet presAssocID="{D79F1777-B9FE-48DF-AE97-3FAEDE690825}" presName="parentText" presStyleLbl="node1" presStyleIdx="4" presStyleCnt="7">
        <dgm:presLayoutVars>
          <dgm:chMax val="0"/>
          <dgm:bulletEnabled val="1"/>
        </dgm:presLayoutVars>
      </dgm:prSet>
      <dgm:spPr/>
    </dgm:pt>
    <dgm:pt modelId="{EDB65F7D-D5D4-48CF-B3D7-279738C8F8A2}" type="pres">
      <dgm:prSet presAssocID="{D79F1777-B9FE-48DF-AE97-3FAEDE690825}" presName="negativeSpace" presStyleCnt="0"/>
      <dgm:spPr/>
    </dgm:pt>
    <dgm:pt modelId="{5312EE0D-9C45-4954-B76C-06DECB7FDEA7}" type="pres">
      <dgm:prSet presAssocID="{D79F1777-B9FE-48DF-AE97-3FAEDE690825}" presName="childText" presStyleLbl="conFgAcc1" presStyleIdx="4" presStyleCnt="7">
        <dgm:presLayoutVars>
          <dgm:bulletEnabled val="1"/>
        </dgm:presLayoutVars>
      </dgm:prSet>
      <dgm:spPr/>
    </dgm:pt>
    <dgm:pt modelId="{BF186337-1CCF-4509-9315-870D3A9446D8}" type="pres">
      <dgm:prSet presAssocID="{0210458C-D7C2-4885-82E9-6E85EE0CDB26}" presName="spaceBetweenRectangles" presStyleCnt="0"/>
      <dgm:spPr/>
    </dgm:pt>
    <dgm:pt modelId="{8CC905AA-D3C4-4817-A283-150AAA550F37}" type="pres">
      <dgm:prSet presAssocID="{71BB918E-6ADA-4F1A-BBB2-DD4FF74A03C2}" presName="parentLin" presStyleCnt="0"/>
      <dgm:spPr/>
    </dgm:pt>
    <dgm:pt modelId="{BCE719E3-4B8F-4DB9-877D-BC1988BF714F}" type="pres">
      <dgm:prSet presAssocID="{71BB918E-6ADA-4F1A-BBB2-DD4FF74A03C2}" presName="parentLeftMargin" presStyleLbl="node1" presStyleIdx="4" presStyleCnt="7"/>
      <dgm:spPr/>
    </dgm:pt>
    <dgm:pt modelId="{51E09976-88E4-49B0-9157-60F6A88D5E65}" type="pres">
      <dgm:prSet presAssocID="{71BB918E-6ADA-4F1A-BBB2-DD4FF74A03C2}" presName="parentText" presStyleLbl="node1" presStyleIdx="5" presStyleCnt="7">
        <dgm:presLayoutVars>
          <dgm:chMax val="0"/>
          <dgm:bulletEnabled val="1"/>
        </dgm:presLayoutVars>
      </dgm:prSet>
      <dgm:spPr/>
    </dgm:pt>
    <dgm:pt modelId="{032BEE27-C279-4705-8EE9-501D0B039AB7}" type="pres">
      <dgm:prSet presAssocID="{71BB918E-6ADA-4F1A-BBB2-DD4FF74A03C2}" presName="negativeSpace" presStyleCnt="0"/>
      <dgm:spPr/>
    </dgm:pt>
    <dgm:pt modelId="{6D2CBBE8-13BC-4B9D-9DE3-DF226D6F4A3E}" type="pres">
      <dgm:prSet presAssocID="{71BB918E-6ADA-4F1A-BBB2-DD4FF74A03C2}" presName="childText" presStyleLbl="conFgAcc1" presStyleIdx="5" presStyleCnt="7">
        <dgm:presLayoutVars>
          <dgm:bulletEnabled val="1"/>
        </dgm:presLayoutVars>
      </dgm:prSet>
      <dgm:spPr/>
    </dgm:pt>
    <dgm:pt modelId="{1FBFCB37-A32C-486E-BF23-CE4AF44509CC}" type="pres">
      <dgm:prSet presAssocID="{9D8AB631-2935-4236-8DC9-4820425ECA29}" presName="spaceBetweenRectangles" presStyleCnt="0"/>
      <dgm:spPr/>
    </dgm:pt>
    <dgm:pt modelId="{96043BD2-4890-4484-B8A2-6B8010FCB6EF}" type="pres">
      <dgm:prSet presAssocID="{F3463999-B8F9-44CB-9F84-CA9F11DF0668}" presName="parentLin" presStyleCnt="0"/>
      <dgm:spPr/>
    </dgm:pt>
    <dgm:pt modelId="{C6A8A712-D939-4CE2-9A11-9C3F62ED1CFB}" type="pres">
      <dgm:prSet presAssocID="{F3463999-B8F9-44CB-9F84-CA9F11DF0668}" presName="parentLeftMargin" presStyleLbl="node1" presStyleIdx="5" presStyleCnt="7"/>
      <dgm:spPr/>
    </dgm:pt>
    <dgm:pt modelId="{EA3ECD84-3C6A-4B16-B8C3-C10BBA307217}" type="pres">
      <dgm:prSet presAssocID="{F3463999-B8F9-44CB-9F84-CA9F11DF0668}" presName="parentText" presStyleLbl="node1" presStyleIdx="6" presStyleCnt="7">
        <dgm:presLayoutVars>
          <dgm:chMax val="0"/>
          <dgm:bulletEnabled val="1"/>
        </dgm:presLayoutVars>
      </dgm:prSet>
      <dgm:spPr/>
    </dgm:pt>
    <dgm:pt modelId="{F071BB34-EBD2-46C9-AFAC-AB376A3FB83E}" type="pres">
      <dgm:prSet presAssocID="{F3463999-B8F9-44CB-9F84-CA9F11DF0668}" presName="negativeSpace" presStyleCnt="0"/>
      <dgm:spPr/>
    </dgm:pt>
    <dgm:pt modelId="{A333BA40-4FB2-463A-AD72-3E337A62C13F}" type="pres">
      <dgm:prSet presAssocID="{F3463999-B8F9-44CB-9F84-CA9F11DF0668}" presName="childText" presStyleLbl="conFgAcc1" presStyleIdx="6" presStyleCnt="7">
        <dgm:presLayoutVars>
          <dgm:bulletEnabled val="1"/>
        </dgm:presLayoutVars>
      </dgm:prSet>
      <dgm:spPr/>
    </dgm:pt>
  </dgm:ptLst>
  <dgm:cxnLst>
    <dgm:cxn modelId="{B00F7303-AA32-41CD-89BF-40EF090F26F6}" type="presOf" srcId="{E50DA37A-C889-4DF3-81CE-E4BFCFA7254A}" destId="{FC9D5D78-0FCE-4CF5-96D0-E496BE2FB7EA}" srcOrd="0" destOrd="0" presId="urn:microsoft.com/office/officeart/2005/8/layout/list1"/>
    <dgm:cxn modelId="{571FD204-2D5F-4292-86C4-B9563D15B04D}" srcId="{B11D46C7-6BD7-43FD-96C8-CF9D7B7BB37E}" destId="{D79F1777-B9FE-48DF-AE97-3FAEDE690825}" srcOrd="4" destOrd="0" parTransId="{5EBA2A7D-E27A-4E84-B2EA-5CEA7357B8B7}" sibTransId="{0210458C-D7C2-4885-82E9-6E85EE0CDB26}"/>
    <dgm:cxn modelId="{64911C09-2193-4A93-B121-0666605000EA}" type="presOf" srcId="{D79F1777-B9FE-48DF-AE97-3FAEDE690825}" destId="{3807A7BE-1FE8-4A83-B906-944ED7412461}" srcOrd="0" destOrd="0" presId="urn:microsoft.com/office/officeart/2005/8/layout/list1"/>
    <dgm:cxn modelId="{6B65150A-7592-4475-84BA-17FD594F83DE}" type="presOf" srcId="{24AFFFBD-D97B-40F7-92E0-E8422D56DF89}" destId="{8115F4A1-1EBC-493B-9CF3-7476D0210F00}" srcOrd="1" destOrd="0" presId="urn:microsoft.com/office/officeart/2005/8/layout/list1"/>
    <dgm:cxn modelId="{F5A0200B-1304-45A3-B0EA-B90784D8AB85}" type="presOf" srcId="{94CEB076-B5FF-4D67-845A-64AFD9BBACB8}" destId="{4191C1E8-88B2-4B74-8020-B6DD0A25332C}" srcOrd="1" destOrd="0" presId="urn:microsoft.com/office/officeart/2005/8/layout/list1"/>
    <dgm:cxn modelId="{337B5313-FC89-464E-B92E-FAA6ABDBFC63}" type="presOf" srcId="{94CEB076-B5FF-4D67-845A-64AFD9BBACB8}" destId="{1B4D9571-736A-4BB5-80FD-112E05472A67}" srcOrd="0" destOrd="0" presId="urn:microsoft.com/office/officeart/2005/8/layout/list1"/>
    <dgm:cxn modelId="{6661991E-8E39-4DC0-B487-3F38A976C305}" type="presOf" srcId="{D79F1777-B9FE-48DF-AE97-3FAEDE690825}" destId="{39BD00FE-005D-41ED-A283-557DCF5E4F53}" srcOrd="1" destOrd="0" presId="urn:microsoft.com/office/officeart/2005/8/layout/list1"/>
    <dgm:cxn modelId="{8C9A5C24-BD1D-426B-947B-C6DDF409B1D3}" srcId="{B11D46C7-6BD7-43FD-96C8-CF9D7B7BB37E}" destId="{94CEB076-B5FF-4D67-845A-64AFD9BBACB8}" srcOrd="1" destOrd="0" parTransId="{D7689D96-1A9D-4FE2-95C6-B76EB02D7EF7}" sibTransId="{2D5FD898-3B54-47AF-9BC6-3AC3B1C72292}"/>
    <dgm:cxn modelId="{D2A8C44E-AE29-45BF-9BC8-8A357C50A1B5}" srcId="{B11D46C7-6BD7-43FD-96C8-CF9D7B7BB37E}" destId="{7A650974-DF29-4087-A971-AB3AD21A2FF9}" srcOrd="3" destOrd="0" parTransId="{8F4E116C-41EF-42B7-B425-0593AB6C7CF1}" sibTransId="{2A14D8A2-A61C-4F33-B372-B67855133AF5}"/>
    <dgm:cxn modelId="{0996FD54-A81D-4618-9362-1508F4CF03A7}" srcId="{B11D46C7-6BD7-43FD-96C8-CF9D7B7BB37E}" destId="{E50DA37A-C889-4DF3-81CE-E4BFCFA7254A}" srcOrd="0" destOrd="0" parTransId="{526A8F22-CEF0-41ED-AED1-82D9B451E95A}" sibTransId="{83FB00FE-D4F0-4888-9308-5FE5C3C10849}"/>
    <dgm:cxn modelId="{CF65BD76-47E8-474D-B6F9-087951C85B5A}" type="presOf" srcId="{71BB918E-6ADA-4F1A-BBB2-DD4FF74A03C2}" destId="{BCE719E3-4B8F-4DB9-877D-BC1988BF714F}" srcOrd="0" destOrd="0" presId="urn:microsoft.com/office/officeart/2005/8/layout/list1"/>
    <dgm:cxn modelId="{4B793D7E-4AFC-4625-8731-8735C3A8445F}" type="presOf" srcId="{F3463999-B8F9-44CB-9F84-CA9F11DF0668}" destId="{EA3ECD84-3C6A-4B16-B8C3-C10BBA307217}" srcOrd="1" destOrd="0" presId="urn:microsoft.com/office/officeart/2005/8/layout/list1"/>
    <dgm:cxn modelId="{AA7CE594-4656-4659-91D8-DE8F2391B0E4}" type="presOf" srcId="{E50DA37A-C889-4DF3-81CE-E4BFCFA7254A}" destId="{48A6AF82-42D4-40F1-96AC-25D2C3703255}" srcOrd="1" destOrd="0" presId="urn:microsoft.com/office/officeart/2005/8/layout/list1"/>
    <dgm:cxn modelId="{364551A2-923F-4384-975E-665563FA7B72}" type="presOf" srcId="{B11D46C7-6BD7-43FD-96C8-CF9D7B7BB37E}" destId="{F6E3815E-EC28-45CE-BD5A-7B4B76855B60}" srcOrd="0" destOrd="0" presId="urn:microsoft.com/office/officeart/2005/8/layout/list1"/>
    <dgm:cxn modelId="{027E4EB5-60C9-4EAA-9CBE-2D8CE38BE105}" type="presOf" srcId="{24AFFFBD-D97B-40F7-92E0-E8422D56DF89}" destId="{84712511-F561-4461-9532-6BF535B0D374}" srcOrd="0" destOrd="0" presId="urn:microsoft.com/office/officeart/2005/8/layout/list1"/>
    <dgm:cxn modelId="{7D3A5EBA-5D8F-48D9-AD1D-5FED7B78BAD4}" srcId="{B11D46C7-6BD7-43FD-96C8-CF9D7B7BB37E}" destId="{71BB918E-6ADA-4F1A-BBB2-DD4FF74A03C2}" srcOrd="5" destOrd="0" parTransId="{4B9B0040-C4C9-4C99-95B2-B55A6D381F2D}" sibTransId="{9D8AB631-2935-4236-8DC9-4820425ECA29}"/>
    <dgm:cxn modelId="{369744C9-0F7C-4DEB-9A4A-128627BC4FEE}" type="presOf" srcId="{71BB918E-6ADA-4F1A-BBB2-DD4FF74A03C2}" destId="{51E09976-88E4-49B0-9157-60F6A88D5E65}" srcOrd="1" destOrd="0" presId="urn:microsoft.com/office/officeart/2005/8/layout/list1"/>
    <dgm:cxn modelId="{668811CC-45FD-4BDC-A737-4DB45D247E78}" type="presOf" srcId="{7A650974-DF29-4087-A971-AB3AD21A2FF9}" destId="{D501BD3B-8356-45A1-A4C4-4ACE4061E18A}" srcOrd="1" destOrd="0" presId="urn:microsoft.com/office/officeart/2005/8/layout/list1"/>
    <dgm:cxn modelId="{9EA592CE-4B09-4030-9DA9-C94FA6E1D0C0}" srcId="{B11D46C7-6BD7-43FD-96C8-CF9D7B7BB37E}" destId="{24AFFFBD-D97B-40F7-92E0-E8422D56DF89}" srcOrd="2" destOrd="0" parTransId="{02777B26-A1DD-4905-9D6B-980180985E47}" sibTransId="{7F1D9B89-EF3C-4F16-A896-CD4F44985A46}"/>
    <dgm:cxn modelId="{258860E6-58CF-4B10-BF27-EFC75069A1C3}" type="presOf" srcId="{7A650974-DF29-4087-A971-AB3AD21A2FF9}" destId="{1C17FE94-B45F-476F-A71C-1DED633585DB}" srcOrd="0" destOrd="0" presId="urn:microsoft.com/office/officeart/2005/8/layout/list1"/>
    <dgm:cxn modelId="{AD67D9F9-4FCF-4DEA-9143-5C69965C1870}" type="presOf" srcId="{F3463999-B8F9-44CB-9F84-CA9F11DF0668}" destId="{C6A8A712-D939-4CE2-9A11-9C3F62ED1CFB}" srcOrd="0" destOrd="0" presId="urn:microsoft.com/office/officeart/2005/8/layout/list1"/>
    <dgm:cxn modelId="{3358DDFE-E5A4-4CA1-B06C-2949C9210587}" srcId="{B11D46C7-6BD7-43FD-96C8-CF9D7B7BB37E}" destId="{F3463999-B8F9-44CB-9F84-CA9F11DF0668}" srcOrd="6" destOrd="0" parTransId="{8F12A143-7EA1-4844-998E-E6C054D065BE}" sibTransId="{00C08525-1EF5-4070-BECD-AF7D16F18BE6}"/>
    <dgm:cxn modelId="{B77D49E1-D6F7-42F7-91D7-B268BD7D1F1C}" type="presParOf" srcId="{F6E3815E-EC28-45CE-BD5A-7B4B76855B60}" destId="{7B4EE999-C3CF-431C-A3F4-DB4FBEA6EA7A}" srcOrd="0" destOrd="0" presId="urn:microsoft.com/office/officeart/2005/8/layout/list1"/>
    <dgm:cxn modelId="{0149E3E4-83EC-445A-8ABA-4C917CF7C0AA}" type="presParOf" srcId="{7B4EE999-C3CF-431C-A3F4-DB4FBEA6EA7A}" destId="{FC9D5D78-0FCE-4CF5-96D0-E496BE2FB7EA}" srcOrd="0" destOrd="0" presId="urn:microsoft.com/office/officeart/2005/8/layout/list1"/>
    <dgm:cxn modelId="{F03CA9CF-07DD-4308-B919-923F6EE576DF}" type="presParOf" srcId="{7B4EE999-C3CF-431C-A3F4-DB4FBEA6EA7A}" destId="{48A6AF82-42D4-40F1-96AC-25D2C3703255}" srcOrd="1" destOrd="0" presId="urn:microsoft.com/office/officeart/2005/8/layout/list1"/>
    <dgm:cxn modelId="{46EDC448-85B1-4B5E-9102-BD3BF1A874F2}" type="presParOf" srcId="{F6E3815E-EC28-45CE-BD5A-7B4B76855B60}" destId="{D4E52AB7-B2B5-40BC-AD8A-2DB6E07F8FB0}" srcOrd="1" destOrd="0" presId="urn:microsoft.com/office/officeart/2005/8/layout/list1"/>
    <dgm:cxn modelId="{60D7C4DE-B851-4645-8621-9BC542D06D40}" type="presParOf" srcId="{F6E3815E-EC28-45CE-BD5A-7B4B76855B60}" destId="{F0BD7F6D-8339-4C4E-BFDE-36AFA77353DF}" srcOrd="2" destOrd="0" presId="urn:microsoft.com/office/officeart/2005/8/layout/list1"/>
    <dgm:cxn modelId="{7CE7370F-FD80-44F3-AB58-8EEB4FE735AB}" type="presParOf" srcId="{F6E3815E-EC28-45CE-BD5A-7B4B76855B60}" destId="{44614D48-2FC7-4947-A4A2-A9FA46FE8819}" srcOrd="3" destOrd="0" presId="urn:microsoft.com/office/officeart/2005/8/layout/list1"/>
    <dgm:cxn modelId="{5E9C90CF-D525-4818-8EE3-D51E6869B75C}" type="presParOf" srcId="{F6E3815E-EC28-45CE-BD5A-7B4B76855B60}" destId="{9D2C8FDE-3EA3-4ABE-8482-FF4E746DED51}" srcOrd="4" destOrd="0" presId="urn:microsoft.com/office/officeart/2005/8/layout/list1"/>
    <dgm:cxn modelId="{89798A61-29E1-426E-8E04-3CAF210952BB}" type="presParOf" srcId="{9D2C8FDE-3EA3-4ABE-8482-FF4E746DED51}" destId="{1B4D9571-736A-4BB5-80FD-112E05472A67}" srcOrd="0" destOrd="0" presId="urn:microsoft.com/office/officeart/2005/8/layout/list1"/>
    <dgm:cxn modelId="{1772ECA9-6E13-4F36-9817-7D598CB95E1F}" type="presParOf" srcId="{9D2C8FDE-3EA3-4ABE-8482-FF4E746DED51}" destId="{4191C1E8-88B2-4B74-8020-B6DD0A25332C}" srcOrd="1" destOrd="0" presId="urn:microsoft.com/office/officeart/2005/8/layout/list1"/>
    <dgm:cxn modelId="{8D4E7235-DDDB-486F-840E-6D763302FB09}" type="presParOf" srcId="{F6E3815E-EC28-45CE-BD5A-7B4B76855B60}" destId="{125C4DBB-0726-4E57-994D-74C600C46422}" srcOrd="5" destOrd="0" presId="urn:microsoft.com/office/officeart/2005/8/layout/list1"/>
    <dgm:cxn modelId="{F830084D-B960-44EA-B123-780F46A3787A}" type="presParOf" srcId="{F6E3815E-EC28-45CE-BD5A-7B4B76855B60}" destId="{14598E32-3AFF-4E15-B9E2-7E9379B80769}" srcOrd="6" destOrd="0" presId="urn:microsoft.com/office/officeart/2005/8/layout/list1"/>
    <dgm:cxn modelId="{DCE3C6E8-D12B-472F-9A3C-508FF55CF50E}" type="presParOf" srcId="{F6E3815E-EC28-45CE-BD5A-7B4B76855B60}" destId="{5CDA492C-263F-4E8F-8B53-7657CB62E792}" srcOrd="7" destOrd="0" presId="urn:microsoft.com/office/officeart/2005/8/layout/list1"/>
    <dgm:cxn modelId="{B9B36E8E-8344-4E22-935B-A11317010E9B}" type="presParOf" srcId="{F6E3815E-EC28-45CE-BD5A-7B4B76855B60}" destId="{5806B3BC-FA24-45D0-AE07-E89779E446AC}" srcOrd="8" destOrd="0" presId="urn:microsoft.com/office/officeart/2005/8/layout/list1"/>
    <dgm:cxn modelId="{6AB46D1D-938B-44CB-A9AC-8181E42E8C66}" type="presParOf" srcId="{5806B3BC-FA24-45D0-AE07-E89779E446AC}" destId="{84712511-F561-4461-9532-6BF535B0D374}" srcOrd="0" destOrd="0" presId="urn:microsoft.com/office/officeart/2005/8/layout/list1"/>
    <dgm:cxn modelId="{DB461803-0782-400E-9C00-6A032A764319}" type="presParOf" srcId="{5806B3BC-FA24-45D0-AE07-E89779E446AC}" destId="{8115F4A1-1EBC-493B-9CF3-7476D0210F00}" srcOrd="1" destOrd="0" presId="urn:microsoft.com/office/officeart/2005/8/layout/list1"/>
    <dgm:cxn modelId="{34CC426B-3D68-4F9C-845F-710F8A70B49C}" type="presParOf" srcId="{F6E3815E-EC28-45CE-BD5A-7B4B76855B60}" destId="{CF3A964E-3F6F-4AC0-94D2-884757500106}" srcOrd="9" destOrd="0" presId="urn:microsoft.com/office/officeart/2005/8/layout/list1"/>
    <dgm:cxn modelId="{E73946C0-3696-4A07-83CC-3C4A19387B63}" type="presParOf" srcId="{F6E3815E-EC28-45CE-BD5A-7B4B76855B60}" destId="{CFA5C54F-3B97-4432-A26A-F8AA40EC05B4}" srcOrd="10" destOrd="0" presId="urn:microsoft.com/office/officeart/2005/8/layout/list1"/>
    <dgm:cxn modelId="{60E396FD-0039-446F-890B-AC130884C147}" type="presParOf" srcId="{F6E3815E-EC28-45CE-BD5A-7B4B76855B60}" destId="{A1F87075-EE00-4028-B43E-ECB896869E27}" srcOrd="11" destOrd="0" presId="urn:microsoft.com/office/officeart/2005/8/layout/list1"/>
    <dgm:cxn modelId="{30906AEE-3E92-4B6D-A47D-182419AEFE2C}" type="presParOf" srcId="{F6E3815E-EC28-45CE-BD5A-7B4B76855B60}" destId="{4D11842F-C858-4338-AF91-0083275FD72B}" srcOrd="12" destOrd="0" presId="urn:microsoft.com/office/officeart/2005/8/layout/list1"/>
    <dgm:cxn modelId="{22E1C90C-81EC-4C74-A96A-E97D301196B2}" type="presParOf" srcId="{4D11842F-C858-4338-AF91-0083275FD72B}" destId="{1C17FE94-B45F-476F-A71C-1DED633585DB}" srcOrd="0" destOrd="0" presId="urn:microsoft.com/office/officeart/2005/8/layout/list1"/>
    <dgm:cxn modelId="{C7A845CE-A27E-4479-81E0-2989B3F8CEB6}" type="presParOf" srcId="{4D11842F-C858-4338-AF91-0083275FD72B}" destId="{D501BD3B-8356-45A1-A4C4-4ACE4061E18A}" srcOrd="1" destOrd="0" presId="urn:microsoft.com/office/officeart/2005/8/layout/list1"/>
    <dgm:cxn modelId="{6FBAE893-A2F2-4C2E-9283-0EDF75365D78}" type="presParOf" srcId="{F6E3815E-EC28-45CE-BD5A-7B4B76855B60}" destId="{713CB1B3-611B-4B71-96A7-CB1FC0213FC9}" srcOrd="13" destOrd="0" presId="urn:microsoft.com/office/officeart/2005/8/layout/list1"/>
    <dgm:cxn modelId="{9416122F-2A11-490A-8257-72C723D2CEB6}" type="presParOf" srcId="{F6E3815E-EC28-45CE-BD5A-7B4B76855B60}" destId="{477CB1EC-5719-4DE3-802A-90E5CD4A28B4}" srcOrd="14" destOrd="0" presId="urn:microsoft.com/office/officeart/2005/8/layout/list1"/>
    <dgm:cxn modelId="{691BE587-ED67-424C-AAF4-A3BA2DE5EFD5}" type="presParOf" srcId="{F6E3815E-EC28-45CE-BD5A-7B4B76855B60}" destId="{B2115A2C-B6F1-4337-8DEF-5CC9543BB49B}" srcOrd="15" destOrd="0" presId="urn:microsoft.com/office/officeart/2005/8/layout/list1"/>
    <dgm:cxn modelId="{7BC221A4-827A-4509-9A0D-72FF5D2BEEF0}" type="presParOf" srcId="{F6E3815E-EC28-45CE-BD5A-7B4B76855B60}" destId="{F0904D36-B558-4E1B-8426-46702445D02F}" srcOrd="16" destOrd="0" presId="urn:microsoft.com/office/officeart/2005/8/layout/list1"/>
    <dgm:cxn modelId="{6706F2B7-7464-41C7-8EDC-124A6CEACCFA}" type="presParOf" srcId="{F0904D36-B558-4E1B-8426-46702445D02F}" destId="{3807A7BE-1FE8-4A83-B906-944ED7412461}" srcOrd="0" destOrd="0" presId="urn:microsoft.com/office/officeart/2005/8/layout/list1"/>
    <dgm:cxn modelId="{99A53329-A2E0-40AB-BC1A-E9C6101DD808}" type="presParOf" srcId="{F0904D36-B558-4E1B-8426-46702445D02F}" destId="{39BD00FE-005D-41ED-A283-557DCF5E4F53}" srcOrd="1" destOrd="0" presId="urn:microsoft.com/office/officeart/2005/8/layout/list1"/>
    <dgm:cxn modelId="{81E01CF4-69AE-4F16-9F0F-B2F37E4B0BEE}" type="presParOf" srcId="{F6E3815E-EC28-45CE-BD5A-7B4B76855B60}" destId="{EDB65F7D-D5D4-48CF-B3D7-279738C8F8A2}" srcOrd="17" destOrd="0" presId="urn:microsoft.com/office/officeart/2005/8/layout/list1"/>
    <dgm:cxn modelId="{DE34ADBD-333C-4B31-9B4C-1D42A2B1548E}" type="presParOf" srcId="{F6E3815E-EC28-45CE-BD5A-7B4B76855B60}" destId="{5312EE0D-9C45-4954-B76C-06DECB7FDEA7}" srcOrd="18" destOrd="0" presId="urn:microsoft.com/office/officeart/2005/8/layout/list1"/>
    <dgm:cxn modelId="{AAA5D786-C3FA-4034-830A-CB5979F7F8C2}" type="presParOf" srcId="{F6E3815E-EC28-45CE-BD5A-7B4B76855B60}" destId="{BF186337-1CCF-4509-9315-870D3A9446D8}" srcOrd="19" destOrd="0" presId="urn:microsoft.com/office/officeart/2005/8/layout/list1"/>
    <dgm:cxn modelId="{9C5FDA13-90B3-4EA2-9AE9-07AE35180006}" type="presParOf" srcId="{F6E3815E-EC28-45CE-BD5A-7B4B76855B60}" destId="{8CC905AA-D3C4-4817-A283-150AAA550F37}" srcOrd="20" destOrd="0" presId="urn:microsoft.com/office/officeart/2005/8/layout/list1"/>
    <dgm:cxn modelId="{46D6BE8F-7E80-4ED0-9C59-63D3249533BA}" type="presParOf" srcId="{8CC905AA-D3C4-4817-A283-150AAA550F37}" destId="{BCE719E3-4B8F-4DB9-877D-BC1988BF714F}" srcOrd="0" destOrd="0" presId="urn:microsoft.com/office/officeart/2005/8/layout/list1"/>
    <dgm:cxn modelId="{98A60184-1DE8-4A8D-AC76-86ADE3B71839}" type="presParOf" srcId="{8CC905AA-D3C4-4817-A283-150AAA550F37}" destId="{51E09976-88E4-49B0-9157-60F6A88D5E65}" srcOrd="1" destOrd="0" presId="urn:microsoft.com/office/officeart/2005/8/layout/list1"/>
    <dgm:cxn modelId="{80CDEFF4-DDD8-4B1E-971E-2557A4293DE1}" type="presParOf" srcId="{F6E3815E-EC28-45CE-BD5A-7B4B76855B60}" destId="{032BEE27-C279-4705-8EE9-501D0B039AB7}" srcOrd="21" destOrd="0" presId="urn:microsoft.com/office/officeart/2005/8/layout/list1"/>
    <dgm:cxn modelId="{725C3D9E-B59A-4846-BCF8-B4E926B1AF3F}" type="presParOf" srcId="{F6E3815E-EC28-45CE-BD5A-7B4B76855B60}" destId="{6D2CBBE8-13BC-4B9D-9DE3-DF226D6F4A3E}" srcOrd="22" destOrd="0" presId="urn:microsoft.com/office/officeart/2005/8/layout/list1"/>
    <dgm:cxn modelId="{64CC1F25-2A52-49FE-B154-DF0266A254A8}" type="presParOf" srcId="{F6E3815E-EC28-45CE-BD5A-7B4B76855B60}" destId="{1FBFCB37-A32C-486E-BF23-CE4AF44509CC}" srcOrd="23" destOrd="0" presId="urn:microsoft.com/office/officeart/2005/8/layout/list1"/>
    <dgm:cxn modelId="{86DAB2B0-60A0-449D-A219-E7666D026FCB}" type="presParOf" srcId="{F6E3815E-EC28-45CE-BD5A-7B4B76855B60}" destId="{96043BD2-4890-4484-B8A2-6B8010FCB6EF}" srcOrd="24" destOrd="0" presId="urn:microsoft.com/office/officeart/2005/8/layout/list1"/>
    <dgm:cxn modelId="{DC48B822-F72E-4B9E-BE5F-0EEE7C59033F}" type="presParOf" srcId="{96043BD2-4890-4484-B8A2-6B8010FCB6EF}" destId="{C6A8A712-D939-4CE2-9A11-9C3F62ED1CFB}" srcOrd="0" destOrd="0" presId="urn:microsoft.com/office/officeart/2005/8/layout/list1"/>
    <dgm:cxn modelId="{C7DEF19A-65DE-4688-847D-2E0464824C7E}" type="presParOf" srcId="{96043BD2-4890-4484-B8A2-6B8010FCB6EF}" destId="{EA3ECD84-3C6A-4B16-B8C3-C10BBA307217}" srcOrd="1" destOrd="0" presId="urn:microsoft.com/office/officeart/2005/8/layout/list1"/>
    <dgm:cxn modelId="{1BC3F984-8A7D-4CD5-864C-1FCFD8A57E81}" type="presParOf" srcId="{F6E3815E-EC28-45CE-BD5A-7B4B76855B60}" destId="{F071BB34-EBD2-46C9-AFAC-AB376A3FB83E}" srcOrd="25" destOrd="0" presId="urn:microsoft.com/office/officeart/2005/8/layout/list1"/>
    <dgm:cxn modelId="{AA64D413-A40F-4CB9-B113-25E6AEB06735}" type="presParOf" srcId="{F6E3815E-EC28-45CE-BD5A-7B4B76855B60}" destId="{A333BA40-4FB2-463A-AD72-3E337A62C13F}" srcOrd="26" destOrd="0" presId="urn:microsoft.com/office/officeart/2005/8/layout/list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BD7F6D-8339-4C4E-BFDE-36AFA77353DF}">
      <dsp:nvSpPr>
        <dsp:cNvPr id="0" name=""/>
        <dsp:cNvSpPr/>
      </dsp:nvSpPr>
      <dsp:spPr>
        <a:xfrm>
          <a:off x="0" y="1520072"/>
          <a:ext cx="11946555" cy="5544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8A6AF82-42D4-40F1-96AC-25D2C3703255}">
      <dsp:nvSpPr>
        <dsp:cNvPr id="0" name=""/>
        <dsp:cNvSpPr/>
      </dsp:nvSpPr>
      <dsp:spPr>
        <a:xfrm>
          <a:off x="597327" y="902364"/>
          <a:ext cx="8362588" cy="94242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6086" tIns="0" rIns="316086" bIns="0" numCol="1" spcCol="1270" anchor="ctr" anchorCtr="0">
          <a:noAutofit/>
        </a:bodyPr>
        <a:lstStyle/>
        <a:p>
          <a:pPr marL="0" lvl="0" indent="0" algn="l" defTabSz="977900">
            <a:lnSpc>
              <a:spcPct val="90000"/>
            </a:lnSpc>
            <a:spcBef>
              <a:spcPct val="0"/>
            </a:spcBef>
            <a:spcAft>
              <a:spcPct val="35000"/>
            </a:spcAft>
            <a:buNone/>
          </a:pPr>
          <a:r>
            <a:rPr lang="en-GB" sz="2200" kern="1200" dirty="0">
              <a:solidFill>
                <a:schemeClr val="tx1"/>
              </a:solidFill>
            </a:rPr>
            <a:t>What is a patriarchal standpoint? It is one which favours the control over social decisions by the elders and particularly male elders.</a:t>
          </a:r>
        </a:p>
      </dsp:txBody>
      <dsp:txXfrm>
        <a:off x="643333" y="948370"/>
        <a:ext cx="8270576" cy="850416"/>
      </dsp:txXfrm>
    </dsp:sp>
    <dsp:sp modelId="{14598E32-3AFF-4E15-B9E2-7E9379B80769}">
      <dsp:nvSpPr>
        <dsp:cNvPr id="0" name=""/>
        <dsp:cNvSpPr/>
      </dsp:nvSpPr>
      <dsp:spPr>
        <a:xfrm>
          <a:off x="0" y="2517992"/>
          <a:ext cx="11946555" cy="5544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91C1E8-88B2-4B74-8020-B6DD0A25332C}">
      <dsp:nvSpPr>
        <dsp:cNvPr id="0" name=""/>
        <dsp:cNvSpPr/>
      </dsp:nvSpPr>
      <dsp:spPr>
        <a:xfrm>
          <a:off x="568744" y="2193272"/>
          <a:ext cx="11374882" cy="6494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6086" tIns="0" rIns="316086" bIns="0" numCol="1" spcCol="1270" anchor="ctr" anchorCtr="0">
          <a:noAutofit/>
        </a:bodyPr>
        <a:lstStyle/>
        <a:p>
          <a:pPr marL="0" lvl="0" indent="0" algn="l" defTabSz="977900">
            <a:lnSpc>
              <a:spcPct val="90000"/>
            </a:lnSpc>
            <a:spcBef>
              <a:spcPct val="0"/>
            </a:spcBef>
            <a:spcAft>
              <a:spcPct val="35000"/>
            </a:spcAft>
            <a:buNone/>
          </a:pPr>
          <a:r>
            <a:rPr lang="en-GB" sz="2200" b="1" kern="1200" dirty="0">
              <a:solidFill>
                <a:schemeClr val="tx1"/>
              </a:solidFill>
            </a:rPr>
            <a:t>How we measure gender norms – use attitude and opinion questions – make a factor to smooth out the variations and gain the central tendency (Kim, et al., 2022)-</a:t>
          </a:r>
          <a:r>
            <a:rPr lang="en-GB" sz="2200" b="1" i="1" kern="1200" dirty="0">
              <a:solidFill>
                <a:schemeClr val="tx1"/>
              </a:solidFill>
            </a:rPr>
            <a:t>WES journal</a:t>
          </a:r>
          <a:endParaRPr lang="en-GB" sz="2200" i="1" kern="1200" dirty="0">
            <a:solidFill>
              <a:schemeClr val="tx1"/>
            </a:solidFill>
          </a:endParaRPr>
        </a:p>
      </dsp:txBody>
      <dsp:txXfrm>
        <a:off x="600447" y="2224975"/>
        <a:ext cx="11311476" cy="586034"/>
      </dsp:txXfrm>
    </dsp:sp>
    <dsp:sp modelId="{CFA5C54F-3B97-4432-A26A-F8AA40EC05B4}">
      <dsp:nvSpPr>
        <dsp:cNvPr id="0" name=""/>
        <dsp:cNvSpPr/>
      </dsp:nvSpPr>
      <dsp:spPr>
        <a:xfrm>
          <a:off x="0" y="3663874"/>
          <a:ext cx="11946555" cy="5544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115F4A1-1EBC-493B-9CF3-7476D0210F00}">
      <dsp:nvSpPr>
        <dsp:cNvPr id="0" name=""/>
        <dsp:cNvSpPr/>
      </dsp:nvSpPr>
      <dsp:spPr>
        <a:xfrm>
          <a:off x="568744" y="3191192"/>
          <a:ext cx="11374882" cy="797401"/>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6086" tIns="0" rIns="316086" bIns="0" numCol="1" spcCol="1270" anchor="ctr" anchorCtr="0">
          <a:noAutofit/>
        </a:bodyPr>
        <a:lstStyle/>
        <a:p>
          <a:pPr marL="0" lvl="0" indent="0" algn="l" defTabSz="977900">
            <a:lnSpc>
              <a:spcPct val="90000"/>
            </a:lnSpc>
            <a:spcBef>
              <a:spcPct val="0"/>
            </a:spcBef>
            <a:spcAft>
              <a:spcPct val="35000"/>
            </a:spcAft>
            <a:buNone/>
          </a:pPr>
          <a:r>
            <a:rPr lang="en-GB" sz="2200" b="1" kern="1200" dirty="0">
              <a:solidFill>
                <a:schemeClr val="tx1"/>
              </a:solidFill>
            </a:rPr>
            <a:t>Here</a:t>
          </a:r>
          <a:r>
            <a:rPr lang="en-GB" sz="2200" kern="1200" dirty="0">
              <a:solidFill>
                <a:schemeClr val="tx1"/>
              </a:solidFill>
            </a:rPr>
            <a:t> we use 2019 Asian Barometers - India</a:t>
          </a:r>
        </a:p>
        <a:p>
          <a:pPr marL="0" lvl="0" indent="0" algn="l" defTabSz="977900">
            <a:lnSpc>
              <a:spcPct val="90000"/>
            </a:lnSpc>
            <a:spcBef>
              <a:spcPct val="0"/>
            </a:spcBef>
            <a:spcAft>
              <a:spcPct val="35000"/>
            </a:spcAft>
            <a:buNone/>
          </a:pPr>
          <a:r>
            <a:rPr lang="en-GB" sz="2200" kern="1200" dirty="0">
              <a:solidFill>
                <a:schemeClr val="tx1"/>
              </a:solidFill>
            </a:rPr>
            <a:t>Sexism was embedded in questions </a:t>
          </a:r>
          <a:r>
            <a:rPr lang="en-GB" sz="2200" kern="1200" dirty="0">
              <a:solidFill>
                <a:schemeClr val="tx1"/>
              </a:solidFill>
              <a:sym typeface="Wingdings" panose="05000000000000000000" pitchFamily="2" charset="2"/>
            </a:rPr>
            <a:t> desirability bias of a patriarchal gender norm</a:t>
          </a:r>
          <a:endParaRPr lang="en-GB" sz="2200" kern="1200" dirty="0">
            <a:solidFill>
              <a:schemeClr val="tx1"/>
            </a:solidFill>
          </a:endParaRPr>
        </a:p>
      </dsp:txBody>
      <dsp:txXfrm>
        <a:off x="607670" y="3230118"/>
        <a:ext cx="11297030" cy="7195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BD7F6D-8339-4C4E-BFDE-36AFA77353DF}">
      <dsp:nvSpPr>
        <dsp:cNvPr id="0" name=""/>
        <dsp:cNvSpPr/>
      </dsp:nvSpPr>
      <dsp:spPr>
        <a:xfrm>
          <a:off x="0" y="612982"/>
          <a:ext cx="12192000" cy="378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8A6AF82-42D4-40F1-96AC-25D2C3703255}">
      <dsp:nvSpPr>
        <dsp:cNvPr id="0" name=""/>
        <dsp:cNvSpPr/>
      </dsp:nvSpPr>
      <dsp:spPr>
        <a:xfrm>
          <a:off x="609600" y="191818"/>
          <a:ext cx="8534400" cy="64256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800100">
            <a:lnSpc>
              <a:spcPct val="90000"/>
            </a:lnSpc>
            <a:spcBef>
              <a:spcPct val="0"/>
            </a:spcBef>
            <a:spcAft>
              <a:spcPct val="35000"/>
            </a:spcAft>
            <a:buNone/>
          </a:pPr>
          <a:r>
            <a:rPr lang="en-GB" sz="1800" kern="1200" dirty="0">
              <a:solidFill>
                <a:schemeClr val="tx1"/>
              </a:solidFill>
            </a:rPr>
            <a:t>The word childcare is defined by the International Labour Organisation in its ‘labour-force status’ statements from the International Conference of Labour Statisticians.</a:t>
          </a:r>
        </a:p>
      </dsp:txBody>
      <dsp:txXfrm>
        <a:off x="640967" y="223185"/>
        <a:ext cx="8471666" cy="579830"/>
      </dsp:txXfrm>
    </dsp:sp>
    <dsp:sp modelId="{14598E32-3AFF-4E15-B9E2-7E9379B80769}">
      <dsp:nvSpPr>
        <dsp:cNvPr id="0" name=""/>
        <dsp:cNvSpPr/>
      </dsp:nvSpPr>
      <dsp:spPr>
        <a:xfrm>
          <a:off x="0" y="1293382"/>
          <a:ext cx="12192000" cy="378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91C1E8-88B2-4B74-8020-B6DD0A25332C}">
      <dsp:nvSpPr>
        <dsp:cNvPr id="0" name=""/>
        <dsp:cNvSpPr/>
      </dsp:nvSpPr>
      <dsp:spPr>
        <a:xfrm>
          <a:off x="580429" y="1071982"/>
          <a:ext cx="11608582" cy="442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666750">
            <a:lnSpc>
              <a:spcPct val="90000"/>
            </a:lnSpc>
            <a:spcBef>
              <a:spcPct val="0"/>
            </a:spcBef>
            <a:spcAft>
              <a:spcPct val="35000"/>
            </a:spcAft>
            <a:buNone/>
          </a:pPr>
          <a:r>
            <a:rPr lang="en-GB" sz="1500" kern="1200" dirty="0">
              <a:solidFill>
                <a:schemeClr val="tx1"/>
              </a:solidFill>
            </a:rPr>
            <a:t>When operationalising it, we now use the ICATUS, an international time-use diary category list which has 1-digit, 2-digit, and 3-digit details.</a:t>
          </a:r>
        </a:p>
        <a:p>
          <a:pPr marL="0" lvl="0" indent="0" algn="l" defTabSz="666750">
            <a:lnSpc>
              <a:spcPct val="90000"/>
            </a:lnSpc>
            <a:spcBef>
              <a:spcPct val="0"/>
            </a:spcBef>
            <a:spcAft>
              <a:spcPct val="35000"/>
            </a:spcAft>
            <a:buNone/>
          </a:pPr>
          <a:r>
            <a:rPr lang="en-GB" sz="1500" kern="1200" dirty="0">
              <a:solidFill>
                <a:schemeClr val="tx1"/>
              </a:solidFill>
            </a:rPr>
            <a:t>We used “time spent cooking in a household with co-resident children of age 16 or below” + childcare + tutoring child(ren) + </a:t>
          </a:r>
        </a:p>
      </dsp:txBody>
      <dsp:txXfrm>
        <a:off x="602045" y="1093598"/>
        <a:ext cx="11565350" cy="399568"/>
      </dsp:txXfrm>
    </dsp:sp>
    <dsp:sp modelId="{CFA5C54F-3B97-4432-A26A-F8AA40EC05B4}">
      <dsp:nvSpPr>
        <dsp:cNvPr id="0" name=""/>
        <dsp:cNvSpPr/>
      </dsp:nvSpPr>
      <dsp:spPr>
        <a:xfrm>
          <a:off x="0" y="2074665"/>
          <a:ext cx="12192000" cy="378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115F4A1-1EBC-493B-9CF3-7476D0210F00}">
      <dsp:nvSpPr>
        <dsp:cNvPr id="0" name=""/>
        <dsp:cNvSpPr/>
      </dsp:nvSpPr>
      <dsp:spPr>
        <a:xfrm>
          <a:off x="580429" y="1752382"/>
          <a:ext cx="11608582" cy="54368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666750">
            <a:lnSpc>
              <a:spcPct val="90000"/>
            </a:lnSpc>
            <a:spcBef>
              <a:spcPct val="0"/>
            </a:spcBef>
            <a:spcAft>
              <a:spcPct val="35000"/>
            </a:spcAft>
            <a:buNone/>
          </a:pPr>
          <a:r>
            <a:rPr lang="en-GB" sz="1500" kern="1200" dirty="0">
              <a:solidFill>
                <a:schemeClr val="tx1"/>
              </a:solidFill>
            </a:rPr>
            <a:t>travelling with children or family members; waiting while accompanying members…</a:t>
          </a:r>
        </a:p>
      </dsp:txBody>
      <dsp:txXfrm>
        <a:off x="606969" y="1778922"/>
        <a:ext cx="11555502" cy="490603"/>
      </dsp:txXfrm>
    </dsp:sp>
    <dsp:sp modelId="{477CB1EC-5719-4DE3-802A-90E5CD4A28B4}">
      <dsp:nvSpPr>
        <dsp:cNvPr id="0" name=""/>
        <dsp:cNvSpPr/>
      </dsp:nvSpPr>
      <dsp:spPr>
        <a:xfrm>
          <a:off x="0" y="2755065"/>
          <a:ext cx="12192000" cy="378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01BD3B-8356-45A1-A4C4-4ACE4061E18A}">
      <dsp:nvSpPr>
        <dsp:cNvPr id="0" name=""/>
        <dsp:cNvSpPr/>
      </dsp:nvSpPr>
      <dsp:spPr>
        <a:xfrm>
          <a:off x="609600" y="2533665"/>
          <a:ext cx="8534400" cy="442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666750">
            <a:lnSpc>
              <a:spcPct val="90000"/>
            </a:lnSpc>
            <a:spcBef>
              <a:spcPct val="0"/>
            </a:spcBef>
            <a:spcAft>
              <a:spcPct val="35000"/>
            </a:spcAft>
            <a:buNone/>
          </a:pPr>
          <a:r>
            <a:rPr lang="en-GB" sz="1500" kern="1200" dirty="0">
              <a:solidFill>
                <a:schemeClr val="tx1"/>
              </a:solidFill>
            </a:rPr>
            <a:t>Aggregated childcare is the total of all these.</a:t>
          </a:r>
          <a:endParaRPr lang="en-GB" sz="1500" kern="1200" dirty="0"/>
        </a:p>
      </dsp:txBody>
      <dsp:txXfrm>
        <a:off x="631216" y="2555281"/>
        <a:ext cx="8491168" cy="399568"/>
      </dsp:txXfrm>
    </dsp:sp>
    <dsp:sp modelId="{5312EE0D-9C45-4954-B76C-06DECB7FDEA7}">
      <dsp:nvSpPr>
        <dsp:cNvPr id="0" name=""/>
        <dsp:cNvSpPr/>
      </dsp:nvSpPr>
      <dsp:spPr>
        <a:xfrm>
          <a:off x="0" y="3435465"/>
          <a:ext cx="12192000" cy="378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9BD00FE-005D-41ED-A283-557DCF5E4F53}">
      <dsp:nvSpPr>
        <dsp:cNvPr id="0" name=""/>
        <dsp:cNvSpPr/>
      </dsp:nvSpPr>
      <dsp:spPr>
        <a:xfrm>
          <a:off x="609600" y="3214065"/>
          <a:ext cx="8534400" cy="442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666750">
            <a:lnSpc>
              <a:spcPct val="90000"/>
            </a:lnSpc>
            <a:spcBef>
              <a:spcPct val="0"/>
            </a:spcBef>
            <a:spcAft>
              <a:spcPct val="35000"/>
            </a:spcAft>
            <a:buNone/>
          </a:pPr>
          <a:r>
            <a:rPr lang="en-GB" sz="1500" kern="1200" dirty="0">
              <a:solidFill>
                <a:schemeClr val="bg1"/>
              </a:solidFill>
            </a:rPr>
            <a:t>Sex recorded as female or male; age range from 18 upward, plus spouses in </a:t>
          </a:r>
          <a:r>
            <a:rPr lang="en-GB" sz="1500" kern="1200" dirty="0" err="1">
              <a:solidFill>
                <a:schemeClr val="bg1"/>
              </a:solidFill>
            </a:rPr>
            <a:t>agegroups</a:t>
          </a:r>
          <a:r>
            <a:rPr lang="en-GB" sz="1500" kern="1200" dirty="0">
              <a:solidFill>
                <a:schemeClr val="bg1"/>
              </a:solidFill>
            </a:rPr>
            <a:t> 16, 17 years</a:t>
          </a:r>
        </a:p>
      </dsp:txBody>
      <dsp:txXfrm>
        <a:off x="631216" y="3235681"/>
        <a:ext cx="8491168" cy="399568"/>
      </dsp:txXfrm>
    </dsp:sp>
    <dsp:sp modelId="{6D2CBBE8-13BC-4B9D-9DE3-DF226D6F4A3E}">
      <dsp:nvSpPr>
        <dsp:cNvPr id="0" name=""/>
        <dsp:cNvSpPr/>
      </dsp:nvSpPr>
      <dsp:spPr>
        <a:xfrm>
          <a:off x="0" y="4115865"/>
          <a:ext cx="12192000" cy="378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1E09976-88E4-49B0-9157-60F6A88D5E65}">
      <dsp:nvSpPr>
        <dsp:cNvPr id="0" name=""/>
        <dsp:cNvSpPr/>
      </dsp:nvSpPr>
      <dsp:spPr>
        <a:xfrm>
          <a:off x="609600" y="3894465"/>
          <a:ext cx="8534400" cy="442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666750">
            <a:lnSpc>
              <a:spcPct val="90000"/>
            </a:lnSpc>
            <a:spcBef>
              <a:spcPct val="0"/>
            </a:spcBef>
            <a:spcAft>
              <a:spcPct val="35000"/>
            </a:spcAft>
            <a:buNone/>
          </a:pPr>
          <a:r>
            <a:rPr lang="en-GB" sz="1500" kern="1200"/>
            <a:t>Social Groups = scheduled caste people, people in scheduled tribes, Muslims not SC nor ST, other</a:t>
          </a:r>
        </a:p>
      </dsp:txBody>
      <dsp:txXfrm>
        <a:off x="631216" y="3916081"/>
        <a:ext cx="8491168" cy="399568"/>
      </dsp:txXfrm>
    </dsp:sp>
    <dsp:sp modelId="{A333BA40-4FB2-463A-AD72-3E337A62C13F}">
      <dsp:nvSpPr>
        <dsp:cNvPr id="0" name=""/>
        <dsp:cNvSpPr/>
      </dsp:nvSpPr>
      <dsp:spPr>
        <a:xfrm>
          <a:off x="0" y="4796265"/>
          <a:ext cx="12192000" cy="378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3ECD84-3C6A-4B16-B8C3-C10BBA307217}">
      <dsp:nvSpPr>
        <dsp:cNvPr id="0" name=""/>
        <dsp:cNvSpPr/>
      </dsp:nvSpPr>
      <dsp:spPr>
        <a:xfrm>
          <a:off x="609600" y="4574865"/>
          <a:ext cx="8534400" cy="442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666750">
            <a:lnSpc>
              <a:spcPct val="90000"/>
            </a:lnSpc>
            <a:spcBef>
              <a:spcPct val="0"/>
            </a:spcBef>
            <a:spcAft>
              <a:spcPct val="35000"/>
            </a:spcAft>
            <a:buNone/>
          </a:pPr>
          <a:r>
            <a:rPr lang="en-GB" sz="1500" kern="1200" dirty="0"/>
            <a:t>We merged the ‘NORMS’ to the ‘CHILDCARE’ data.</a:t>
          </a:r>
        </a:p>
      </dsp:txBody>
      <dsp:txXfrm>
        <a:off x="631216" y="4596481"/>
        <a:ext cx="8491168"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330D5F-7EA6-4C35-86C9-E37A561BC37E}" type="datetimeFigureOut">
              <a:rPr lang="en-GB" smtClean="0"/>
              <a:t>20/02/2024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EC7AC6-5804-4B45-9998-DB01F38495F7}" type="slidenum">
              <a:rPr lang="en-GB" smtClean="0"/>
              <a:t>‹#›</a:t>
            </a:fld>
            <a:endParaRPr lang="en-GB"/>
          </a:p>
        </p:txBody>
      </p:sp>
    </p:spTree>
    <p:extLst>
      <p:ext uri="{BB962C8B-B14F-4D97-AF65-F5344CB8AC3E}">
        <p14:creationId xmlns:p14="http://schemas.microsoft.com/office/powerpoint/2010/main" val="2906298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9F7ED192-331C-4C47-BF29-1529E0F80408}" type="datetime1">
              <a:rPr lang="en-GB" smtClean="0"/>
              <a:t>20/02/2024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1D72F41D-2C04-46BD-AD58-EC9976117EFB}" type="slidenum">
              <a:rPr lang="en-GB" smtClean="0"/>
              <a:t>‹#›</a:t>
            </a:fld>
            <a:endParaRPr lang="en-GB" dirty="0"/>
          </a:p>
        </p:txBody>
      </p:sp>
      <p:pic>
        <p:nvPicPr>
          <p:cNvPr id="11" name="Picture 10" descr="A purple and yellow logo&#10;&#10;Description automatically generated">
            <a:extLst>
              <a:ext uri="{FF2B5EF4-FFF2-40B4-BE49-F238E27FC236}">
                <a16:creationId xmlns:a16="http://schemas.microsoft.com/office/drawing/2014/main" id="{9C842637-C296-815E-880E-0FC6296B9EF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350" y="4772024"/>
            <a:ext cx="1257300" cy="542925"/>
          </a:xfrm>
          <a:prstGeom prst="rect">
            <a:avLst/>
          </a:prstGeom>
        </p:spPr>
      </p:pic>
      <p:pic>
        <p:nvPicPr>
          <p:cNvPr id="15" name="Picture 14" descr="A purple and yellow logo&#10;&#10;Description automatically generated">
            <a:extLst>
              <a:ext uri="{FF2B5EF4-FFF2-40B4-BE49-F238E27FC236}">
                <a16:creationId xmlns:a16="http://schemas.microsoft.com/office/drawing/2014/main" id="{3932171C-1BF2-AB13-2DFE-0B82377A2F8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6850" y="4784724"/>
            <a:ext cx="1257300" cy="542925"/>
          </a:xfrm>
          <a:prstGeom prst="rect">
            <a:avLst/>
          </a:prstGeom>
        </p:spPr>
      </p:pic>
    </p:spTree>
    <p:extLst>
      <p:ext uri="{BB962C8B-B14F-4D97-AF65-F5344CB8AC3E}">
        <p14:creationId xmlns:p14="http://schemas.microsoft.com/office/powerpoint/2010/main" val="2586813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2CD1F9-C77F-47D6-AEEA-2413DED1EE4A}" type="datetime1">
              <a:rPr lang="en-GB" smtClean="0"/>
              <a:t>20/02/2024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368576725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CBFFCB-182F-4ED6-9068-E27291D14389}" type="datetime1">
              <a:rPr lang="en-GB" smtClean="0"/>
              <a:t>20/02/2024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3729078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2CD1F9-C77F-47D6-AEEA-2413DED1EE4A}" type="datetime1">
              <a:rPr lang="en-GB" smtClean="0"/>
              <a:t>20/02/2024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206273691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2CD1F9-C77F-47D6-AEEA-2413DED1EE4A}" type="datetime1">
              <a:rPr lang="en-GB" smtClean="0"/>
              <a:t>20/02/2024</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93934199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C5BC16-0595-46DD-B7C5-C61849D3BB99}" type="datetime1">
              <a:rPr lang="en-GB" smtClean="0"/>
              <a:t>20/02/2024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1097861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2556CEC8-B054-4061-9CF9-17D672C6B43C}" type="datetime1">
              <a:rPr lang="en-GB" smtClean="0"/>
              <a:t>20/02/2024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129700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2CD1F9-C77F-47D6-AEEA-2413DED1EE4A}" type="datetime1">
              <a:rPr lang="en-GB" smtClean="0"/>
              <a:t>20/02/2024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28779356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11D607-F0EE-4119-B5BF-07A7290EAD3B}" type="datetime1">
              <a:rPr lang="en-GB" smtClean="0"/>
              <a:t>20/02/2024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182789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2CD1F9-C77F-47D6-AEEA-2413DED1EE4A}" type="datetime1">
              <a:rPr lang="en-GB" smtClean="0"/>
              <a:t>20/02/2024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156817456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2CD1F9-C77F-47D6-AEEA-2413DED1EE4A}" type="datetime1">
              <a:rPr lang="en-GB" smtClean="0"/>
              <a:t>20/02/2024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405306179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2CD1F9-C77F-47D6-AEEA-2413DED1EE4A}" type="datetime1">
              <a:rPr lang="en-GB" smtClean="0"/>
              <a:t>20/02/2024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1D72F41D-2C04-46BD-AD58-EC9976117EFB}" type="slidenum">
              <a:rPr lang="en-GB" smtClean="0"/>
              <a:t>‹#›</a:t>
            </a:fld>
            <a:endParaRPr lang="en-GB"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798840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2CD1F9-C77F-47D6-AEEA-2413DED1EE4A}" type="datetime1">
              <a:rPr lang="en-GB" smtClean="0"/>
              <a:t>20/02/2024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674030422"/>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62CD1F9-C77F-47D6-AEEA-2413DED1EE4A}" type="datetime1">
              <a:rPr lang="en-GB" smtClean="0"/>
              <a:t>20/02/2024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263521165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62CD1F9-C77F-47D6-AEEA-2413DED1EE4A}" type="datetime1">
              <a:rPr lang="en-GB" smtClean="0"/>
              <a:t>20/02/2024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3147671379"/>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2CD1F9-C77F-47D6-AEEA-2413DED1EE4A}" type="datetime1">
              <a:rPr lang="en-GB" smtClean="0"/>
              <a:t>20/02/2024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7258840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2CD1F9-C77F-47D6-AEEA-2413DED1EE4A}" type="datetime1">
              <a:rPr lang="en-GB" smtClean="0"/>
              <a:t>20/02/2024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32463340"/>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55448"/>
            <a:ext cx="10972800" cy="1252728"/>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374F0B0-8347-463A-A04E-4BFB735F3AC8}" type="datetime1">
              <a:rPr lang="en-GB" smtClean="0"/>
              <a:t>20/02/2024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161602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1698988"/>
            <a:ext cx="5386917"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609600" y="2449512"/>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6193368" y="1698988"/>
            <a:ext cx="5389033"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6193368" y="2449512"/>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BD0F21CD-07F5-499F-A857-709E8A617205}" type="datetime1">
              <a:rPr lang="en-GB" smtClean="0"/>
              <a:t>20/02/2024</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1D72F41D-2C04-46BD-AD58-EC9976117EFB}" type="slidenum">
              <a:rPr lang="en-GB" smtClean="0"/>
              <a:t>‹#›</a:t>
            </a:fld>
            <a:endParaRPr lang="en-GB" dirty="0"/>
          </a:p>
        </p:txBody>
      </p:sp>
    </p:spTree>
    <p:extLst>
      <p:ext uri="{BB962C8B-B14F-4D97-AF65-F5344CB8AC3E}">
        <p14:creationId xmlns:p14="http://schemas.microsoft.com/office/powerpoint/2010/main" val="1177039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4.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gi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1">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062CD1F9-C77F-47D6-AEEA-2413DED1EE4A}" type="datetime1">
              <a:rPr lang="en-GB" smtClean="0"/>
              <a:t>20/02/2024</a:t>
            </a:fld>
            <a:endParaRPr lang="en-GB"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GB"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1D72F41D-2C04-46BD-AD58-EC9976117EFB}" type="slidenum">
              <a:rPr lang="en-GB" smtClean="0"/>
              <a:t>‹#›</a:t>
            </a:fld>
            <a:endParaRPr lang="en-GB" dirty="0"/>
          </a:p>
        </p:txBody>
      </p:sp>
      <p:pic>
        <p:nvPicPr>
          <p:cNvPr id="7" name="Picture 6">
            <a:extLst>
              <a:ext uri="{FF2B5EF4-FFF2-40B4-BE49-F238E27FC236}">
                <a16:creationId xmlns:a16="http://schemas.microsoft.com/office/drawing/2014/main" id="{7165689F-F08F-C1CC-3E07-56304CF1A197}"/>
              </a:ext>
            </a:extLst>
          </p:cNvPr>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11179175" y="2036762"/>
            <a:ext cx="838200" cy="295275"/>
          </a:xfrm>
          <a:prstGeom prst="rect">
            <a:avLst/>
          </a:prstGeom>
        </p:spPr>
      </p:pic>
      <p:pic>
        <p:nvPicPr>
          <p:cNvPr id="8" name="Picture 7" descr="A purple and yellow logo&#10;&#10;Description automatically generated">
            <a:extLst>
              <a:ext uri="{FF2B5EF4-FFF2-40B4-BE49-F238E27FC236}">
                <a16:creationId xmlns:a16="http://schemas.microsoft.com/office/drawing/2014/main" id="{38CD3754-9543-F983-044D-22A29260A5EE}"/>
              </a:ext>
            </a:extLst>
          </p:cNvPr>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196850" y="4784724"/>
            <a:ext cx="1257300" cy="542925"/>
          </a:xfrm>
          <a:prstGeom prst="rect">
            <a:avLst/>
          </a:prstGeom>
        </p:spPr>
      </p:pic>
      <p:pic>
        <p:nvPicPr>
          <p:cNvPr id="9" name="Picture 8" descr="Woman raising hand, wearing Punjabi dress with scarf and sandals">
            <a:extLst>
              <a:ext uri="{FF2B5EF4-FFF2-40B4-BE49-F238E27FC236}">
                <a16:creationId xmlns:a16="http://schemas.microsoft.com/office/drawing/2014/main" id="{CD8EABD5-7CA1-34D3-2713-34CF896E5B82}"/>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177800" y="1081086"/>
            <a:ext cx="1133475" cy="3084439"/>
          </a:xfrm>
          <a:prstGeom prst="rect">
            <a:avLst/>
          </a:prstGeom>
        </p:spPr>
      </p:pic>
    </p:spTree>
    <p:extLst>
      <p:ext uri="{BB962C8B-B14F-4D97-AF65-F5344CB8AC3E}">
        <p14:creationId xmlns:p14="http://schemas.microsoft.com/office/powerpoint/2010/main" val="295550721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1017/CBO9780511522000" TargetMode="External"/><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package" Target="../embeddings/Microsoft_Excel_Worksheet.xlsx"/><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894202"/>
            <a:ext cx="10769600" cy="2134998"/>
          </a:xfrm>
        </p:spPr>
        <p:txBody>
          <a:bodyPr>
            <a:normAutofit/>
          </a:bodyPr>
          <a:lstStyle/>
          <a:p>
            <a:pPr>
              <a:lnSpc>
                <a:spcPct val="107000"/>
              </a:lnSpc>
              <a:spcAft>
                <a:spcPts val="800"/>
              </a:spcAft>
            </a:pPr>
            <a:r>
              <a:rPr lang="en-GB" sz="3200" dirty="0">
                <a:effectLst/>
                <a:latin typeface="Merriweather" panose="00000500000000000000" pitchFamily="2" charset="0"/>
                <a:ea typeface="Calibri" panose="020F0502020204030204" pitchFamily="34" charset="0"/>
                <a:cs typeface="Times New Roman" panose="02020603050405020304" pitchFamily="18" charset="0"/>
              </a:rPr>
              <a:t>Women’s </a:t>
            </a:r>
            <a:r>
              <a:rPr lang="en-GB" sz="3200" dirty="0" err="1">
                <a:effectLst/>
                <a:latin typeface="Merriweather" panose="00000500000000000000" pitchFamily="2" charset="0"/>
                <a:ea typeface="Calibri" panose="020F0502020204030204" pitchFamily="34" charset="0"/>
                <a:cs typeface="Times New Roman" panose="02020603050405020304" pitchFamily="18" charset="0"/>
              </a:rPr>
              <a:t>Invisibilised</a:t>
            </a:r>
            <a:r>
              <a:rPr lang="en-GB" sz="3200" dirty="0">
                <a:effectLst/>
                <a:latin typeface="Merriweather" panose="00000500000000000000" pitchFamily="2" charset="0"/>
                <a:ea typeface="Calibri" panose="020F0502020204030204" pitchFamily="34" charset="0"/>
                <a:cs typeface="Times New Roman" panose="02020603050405020304" pitchFamily="18" charset="0"/>
              </a:rPr>
              <a:t> Childcare Work: </a:t>
            </a:r>
            <a:br>
              <a:rPr lang="en-GB" sz="3200" dirty="0">
                <a:effectLst/>
                <a:latin typeface="Merriweather" panose="00000500000000000000" pitchFamily="2" charset="0"/>
                <a:ea typeface="Calibri" panose="020F0502020204030204" pitchFamily="34" charset="0"/>
                <a:cs typeface="Times New Roman" panose="02020603050405020304" pitchFamily="18" charset="0"/>
              </a:rPr>
            </a:br>
            <a:r>
              <a:rPr lang="en-GB" sz="3200" dirty="0">
                <a:effectLst/>
                <a:latin typeface="Merriweather" panose="00000500000000000000" pitchFamily="2" charset="0"/>
                <a:ea typeface="Calibri" panose="020F0502020204030204" pitchFamily="34" charset="0"/>
                <a:cs typeface="Times New Roman" panose="02020603050405020304" pitchFamily="18" charset="0"/>
              </a:rPr>
              <a:t>Indian PATTERNs in 2019</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ubtitle 2"/>
          <p:cNvSpPr>
            <a:spLocks noGrp="1"/>
          </p:cNvSpPr>
          <p:nvPr>
            <p:ph type="subTitle" idx="1"/>
          </p:nvPr>
        </p:nvSpPr>
        <p:spPr>
          <a:xfrm>
            <a:off x="914400" y="1258582"/>
            <a:ext cx="10769600" cy="1499616"/>
          </a:xfrm>
        </p:spPr>
        <p:txBody>
          <a:bodyPr>
            <a:normAutofit lnSpcReduction="10000"/>
          </a:bodyPr>
          <a:lstStyle/>
          <a:p>
            <a:r>
              <a:rPr lang="en-GB" dirty="0"/>
              <a:t>	February 24, 2024 -- radical statistics -- London</a:t>
            </a:r>
          </a:p>
          <a:p>
            <a:r>
              <a:rPr lang="en-GB" dirty="0"/>
              <a:t>https:\\Radstats.org.uk  </a:t>
            </a:r>
          </a:p>
          <a:p>
            <a:r>
              <a:rPr lang="en-GB" b="1" i="0" dirty="0">
                <a:solidFill>
                  <a:srgbClr val="DD3333"/>
                </a:solidFill>
                <a:effectLst/>
                <a:latin typeface="Helvetica Neue"/>
              </a:rPr>
              <a:t>Using statistics to support progressive social change</a:t>
            </a:r>
          </a:p>
          <a:p>
            <a:endParaRPr lang="en-GB" dirty="0"/>
          </a:p>
        </p:txBody>
      </p:sp>
      <p:sp>
        <p:nvSpPr>
          <p:cNvPr id="4" name="Slide Number Placeholder 3"/>
          <p:cNvSpPr>
            <a:spLocks noGrp="1"/>
          </p:cNvSpPr>
          <p:nvPr>
            <p:ph type="sldNum" sz="quarter" idx="12"/>
          </p:nvPr>
        </p:nvSpPr>
        <p:spPr/>
        <p:txBody>
          <a:bodyPr/>
          <a:lstStyle/>
          <a:p>
            <a:fld id="{1D72F41D-2C04-46BD-AD58-EC9976117EFB}" type="slidenum">
              <a:rPr lang="en-GB" smtClean="0"/>
              <a:t>1</a:t>
            </a:fld>
            <a:endParaRPr lang="en-GB" dirty="0"/>
          </a:p>
        </p:txBody>
      </p:sp>
      <p:sp>
        <p:nvSpPr>
          <p:cNvPr id="5" name="TextBox 4"/>
          <p:cNvSpPr txBox="1"/>
          <p:nvPr/>
        </p:nvSpPr>
        <p:spPr>
          <a:xfrm>
            <a:off x="3103662" y="5098445"/>
            <a:ext cx="5525988" cy="1785104"/>
          </a:xfrm>
          <a:prstGeom prst="rect">
            <a:avLst/>
          </a:prstGeom>
          <a:noFill/>
        </p:spPr>
        <p:txBody>
          <a:bodyPr wrap="square" rtlCol="0">
            <a:spAutoFit/>
          </a:bodyPr>
          <a:lstStyle/>
          <a:p>
            <a:pPr algn="ctr"/>
            <a:r>
              <a:rPr lang="en-GB" dirty="0"/>
              <a:t>By Wendy Olsen and Jihye Kim</a:t>
            </a:r>
          </a:p>
          <a:p>
            <a:pPr algn="ctr"/>
            <a:r>
              <a:rPr lang="en-GB" dirty="0"/>
              <a:t>Social Statistics Department </a:t>
            </a:r>
          </a:p>
          <a:p>
            <a:pPr algn="ctr"/>
            <a:r>
              <a:rPr lang="en-GB" dirty="0"/>
              <a:t>2024</a:t>
            </a:r>
          </a:p>
          <a:p>
            <a:r>
              <a:rPr lang="en-GB" sz="1400" dirty="0"/>
              <a:t>We acknowledge very helpful inputs in the past on data processing and analysis from: Sonny McCann, </a:t>
            </a:r>
            <a:r>
              <a:rPr lang="en-GB" sz="1400" dirty="0" err="1"/>
              <a:t>Yizang</a:t>
            </a:r>
            <a:r>
              <a:rPr lang="en-GB" sz="1400" dirty="0"/>
              <a:t> Zhou</a:t>
            </a:r>
            <a:r>
              <a:rPr lang="en-GB" sz="1400" dirty="0">
                <a:effectLst/>
                <a:latin typeface="Calibri" panose="020F0502020204030204" pitchFamily="34" charset="0"/>
                <a:ea typeface="Calibri" panose="020F0502020204030204" pitchFamily="34" charset="0"/>
                <a:cs typeface="Times New Roman" panose="02020603050405020304" pitchFamily="18" charset="0"/>
              </a:rPr>
              <a:t>, Prof Arkadiusz Wisniowski, Prof Amaresh Dubey, </a:t>
            </a:r>
            <a:r>
              <a:rPr lang="en-GB" sz="1400" dirty="0" err="1">
                <a:effectLst/>
                <a:latin typeface="Calibri" panose="020F0502020204030204" pitchFamily="34" charset="0"/>
                <a:ea typeface="Calibri" panose="020F0502020204030204" pitchFamily="34" charset="0"/>
                <a:cs typeface="Times New Roman" panose="02020603050405020304" pitchFamily="18" charset="0"/>
              </a:rPr>
              <a:t>Dr.</a:t>
            </a:r>
            <a:r>
              <a:rPr lang="en-GB" sz="1400" dirty="0">
                <a:effectLst/>
                <a:latin typeface="Calibri" panose="020F0502020204030204" pitchFamily="34" charset="0"/>
                <a:ea typeface="Calibri" panose="020F0502020204030204" pitchFamily="34" charset="0"/>
                <a:cs typeface="Times New Roman" panose="02020603050405020304" pitchFamily="18" charset="0"/>
              </a:rPr>
              <a:t> Ioana Macoveciuc, Dr Manasi Bera, and Dr Diego Perez Ruiz, among others. </a:t>
            </a:r>
          </a:p>
        </p:txBody>
      </p:sp>
      <p:pic>
        <p:nvPicPr>
          <p:cNvPr id="7" name="Picture 6" descr="A person smiling for a selfie&#10;&#10;Description automatically generated">
            <a:extLst>
              <a:ext uri="{FF2B5EF4-FFF2-40B4-BE49-F238E27FC236}">
                <a16:creationId xmlns:a16="http://schemas.microsoft.com/office/drawing/2014/main" id="{D121B587-4052-D521-0881-B181520FD5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5402" y="4429869"/>
            <a:ext cx="2339098" cy="2339098"/>
          </a:xfrm>
          <a:prstGeom prst="rect">
            <a:avLst/>
          </a:prstGeom>
        </p:spPr>
      </p:pic>
    </p:spTree>
    <p:extLst>
      <p:ext uri="{BB962C8B-B14F-4D97-AF65-F5344CB8AC3E}">
        <p14:creationId xmlns:p14="http://schemas.microsoft.com/office/powerpoint/2010/main" val="1073811817"/>
      </p:ext>
    </p:extLst>
  </p:cSld>
  <p:clrMapOvr>
    <a:masterClrMapping/>
  </p:clrMapOvr>
  <p:transition spd="slow" advTm="3000">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Overview:</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42197645"/>
              </p:ext>
            </p:extLst>
          </p:nvPr>
        </p:nvGraphicFramePr>
        <p:xfrm>
          <a:off x="1678628" y="1259973"/>
          <a:ext cx="9406467" cy="5375020"/>
        </p:xfrm>
        <a:graphic>
          <a:graphicData uri="http://schemas.openxmlformats.org/drawingml/2006/table">
            <a:tbl>
              <a:tblPr firstRow="1" bandRow="1">
                <a:tableStyleId>{5C22544A-7EE6-4342-B048-85BDC9FD1C3A}</a:tableStyleId>
              </a:tblPr>
              <a:tblGrid>
                <a:gridCol w="1657932">
                  <a:extLst>
                    <a:ext uri="{9D8B030D-6E8A-4147-A177-3AD203B41FA5}">
                      <a16:colId xmlns:a16="http://schemas.microsoft.com/office/drawing/2014/main" val="20000"/>
                    </a:ext>
                  </a:extLst>
                </a:gridCol>
                <a:gridCol w="7748535">
                  <a:extLst>
                    <a:ext uri="{9D8B030D-6E8A-4147-A177-3AD203B41FA5}">
                      <a16:colId xmlns:a16="http://schemas.microsoft.com/office/drawing/2014/main" val="20001"/>
                    </a:ext>
                  </a:extLst>
                </a:gridCol>
              </a:tblGrid>
              <a:tr h="492950">
                <a:tc>
                  <a:txBody>
                    <a:bodyPr/>
                    <a:lstStyle/>
                    <a:p>
                      <a:r>
                        <a:rPr lang="en-GB" dirty="0"/>
                        <a:t>Section</a:t>
                      </a:r>
                    </a:p>
                  </a:txBody>
                  <a:tcPr/>
                </a:tc>
                <a:tc>
                  <a:txBody>
                    <a:bodyPr/>
                    <a:lstStyle/>
                    <a:p>
                      <a:r>
                        <a:rPr lang="en-GB" dirty="0"/>
                        <a:t>Topics</a:t>
                      </a:r>
                    </a:p>
                  </a:txBody>
                  <a:tcPr/>
                </a:tc>
                <a:extLst>
                  <a:ext uri="{0D108BD9-81ED-4DB2-BD59-A6C34878D82A}">
                    <a16:rowId xmlns:a16="http://schemas.microsoft.com/office/drawing/2014/main" val="10000"/>
                  </a:ext>
                </a:extLst>
              </a:tr>
              <a:tr h="492950">
                <a:tc>
                  <a:txBody>
                    <a:bodyPr/>
                    <a:lstStyle/>
                    <a:p>
                      <a:r>
                        <a:rPr lang="en-GB" sz="2400" dirty="0"/>
                        <a:t>Start</a:t>
                      </a:r>
                    </a:p>
                  </a:txBody>
                  <a:tcPr/>
                </a:tc>
                <a:tc>
                  <a:txBody>
                    <a:bodyPr/>
                    <a:lstStyle/>
                    <a:p>
                      <a:r>
                        <a:rPr lang="en-GB" sz="2400" b="0" dirty="0"/>
                        <a:t>Introduction, definitions,</a:t>
                      </a:r>
                      <a:r>
                        <a:rPr lang="en-GB" sz="2400" b="0" baseline="0" dirty="0"/>
                        <a:t> and the context of challenging patriarchy whilst accepting the local norms of each area.</a:t>
                      </a:r>
                      <a:endParaRPr lang="en-GB" sz="2400" b="0" dirty="0"/>
                    </a:p>
                  </a:txBody>
                  <a:tcPr/>
                </a:tc>
                <a:extLst>
                  <a:ext uri="{0D108BD9-81ED-4DB2-BD59-A6C34878D82A}">
                    <a16:rowId xmlns:a16="http://schemas.microsoft.com/office/drawing/2014/main" val="10001"/>
                  </a:ext>
                </a:extLst>
              </a:tr>
              <a:tr h="769813">
                <a:tc>
                  <a:txBody>
                    <a:bodyPr/>
                    <a:lstStyle/>
                    <a:p>
                      <a:r>
                        <a:rPr lang="en-GB" sz="2400" dirty="0"/>
                        <a:t>Middle</a:t>
                      </a:r>
                    </a:p>
                  </a:txBody>
                  <a:tcPr/>
                </a:tc>
                <a:tc>
                  <a:txBody>
                    <a:bodyPr/>
                    <a:lstStyle/>
                    <a:p>
                      <a:r>
                        <a:rPr lang="en-GB" sz="2400" b="0" dirty="0"/>
                        <a:t>Description of the childcare work, the gender norms, the social groups in India 2019</a:t>
                      </a:r>
                    </a:p>
                  </a:txBody>
                  <a:tcPr/>
                </a:tc>
                <a:extLst>
                  <a:ext uri="{0D108BD9-81ED-4DB2-BD59-A6C34878D82A}">
                    <a16:rowId xmlns:a16="http://schemas.microsoft.com/office/drawing/2014/main" val="10002"/>
                  </a:ext>
                </a:extLst>
              </a:tr>
              <a:tr h="769813">
                <a:tc>
                  <a:txBody>
                    <a:bodyPr/>
                    <a:lstStyle/>
                    <a:p>
                      <a:r>
                        <a:rPr lang="en-GB" sz="2400" dirty="0"/>
                        <a:t>Concluding</a:t>
                      </a:r>
                      <a:r>
                        <a:rPr lang="en-GB" sz="2400" baseline="0" dirty="0"/>
                        <a:t> part</a:t>
                      </a:r>
                      <a:endParaRPr lang="en-GB" sz="2400" dirty="0"/>
                    </a:p>
                  </a:txBody>
                  <a:tcPr/>
                </a:tc>
                <a:tc>
                  <a:txBody>
                    <a:bodyPr/>
                    <a:lstStyle/>
                    <a:p>
                      <a:r>
                        <a:rPr lang="en-GB" sz="2400" dirty="0"/>
                        <a:t>Discussion</a:t>
                      </a:r>
                    </a:p>
                  </a:txBody>
                  <a:tcPr/>
                </a:tc>
                <a:extLst>
                  <a:ext uri="{0D108BD9-81ED-4DB2-BD59-A6C34878D82A}">
                    <a16:rowId xmlns:a16="http://schemas.microsoft.com/office/drawing/2014/main" val="10003"/>
                  </a:ext>
                </a:extLst>
              </a:tr>
              <a:tr h="445681">
                <a:tc>
                  <a:txBody>
                    <a:bodyPr/>
                    <a:lstStyle/>
                    <a:p>
                      <a:r>
                        <a:rPr lang="en-GB" sz="2400" dirty="0"/>
                        <a:t>References</a:t>
                      </a:r>
                    </a:p>
                  </a:txBody>
                  <a:tcPr/>
                </a:tc>
                <a:tc>
                  <a:txBody>
                    <a:bodyPr/>
                    <a:lstStyle/>
                    <a:p>
                      <a:endParaRPr lang="en-GB" sz="2400" b="0" dirty="0"/>
                    </a:p>
                  </a:txBody>
                  <a:tcPr/>
                </a:tc>
                <a:extLst>
                  <a:ext uri="{0D108BD9-81ED-4DB2-BD59-A6C34878D82A}">
                    <a16:rowId xmlns:a16="http://schemas.microsoft.com/office/drawing/2014/main" val="10004"/>
                  </a:ext>
                </a:extLst>
              </a:tr>
              <a:tr h="492950">
                <a:tc>
                  <a:txBody>
                    <a:bodyPr/>
                    <a:lstStyle/>
                    <a:p>
                      <a:r>
                        <a:rPr lang="en-GB" dirty="0"/>
                        <a:t>Data Sources</a:t>
                      </a:r>
                    </a:p>
                  </a:txBody>
                  <a:tcPr/>
                </a:tc>
                <a:tc>
                  <a:txBody>
                    <a:bodyPr/>
                    <a:lstStyle/>
                    <a:p>
                      <a:endParaRPr lang="en-GB"/>
                    </a:p>
                  </a:txBody>
                  <a:tcPr/>
                </a:tc>
                <a:extLst>
                  <a:ext uri="{0D108BD9-81ED-4DB2-BD59-A6C34878D82A}">
                    <a16:rowId xmlns:a16="http://schemas.microsoft.com/office/drawing/2014/main" val="10005"/>
                  </a:ext>
                </a:extLst>
              </a:tr>
              <a:tr h="492950">
                <a:tc>
                  <a:txBody>
                    <a:bodyPr/>
                    <a:lstStyle/>
                    <a:p>
                      <a:endParaRPr lang="en-GB" dirty="0"/>
                    </a:p>
                  </a:txBody>
                  <a:tcPr/>
                </a:tc>
                <a:tc>
                  <a:txBody>
                    <a:bodyPr/>
                    <a:lstStyle/>
                    <a:p>
                      <a:r>
                        <a:rPr lang="en-GB" dirty="0"/>
                        <a:t>Note: we put code chunks on open access at: </a:t>
                      </a:r>
                    </a:p>
                    <a:p>
                      <a:r>
                        <a:rPr lang="en-GB" dirty="0"/>
                        <a:t>https://github.com/WendyOlsen/excessworkhoursindia , A Report on India's Time-Use Survey 2019 at https://mospi.gov.in/sites/default/files/publication_reports/Report_TUS_2019_0.pdf , accessed Feb 2024. </a:t>
                      </a:r>
                    </a:p>
                  </a:txBody>
                  <a:tcPr/>
                </a:tc>
                <a:extLst>
                  <a:ext uri="{0D108BD9-81ED-4DB2-BD59-A6C34878D82A}">
                    <a16:rowId xmlns:a16="http://schemas.microsoft.com/office/drawing/2014/main" val="1663798628"/>
                  </a:ext>
                </a:extLst>
              </a:tr>
            </a:tbl>
          </a:graphicData>
        </a:graphic>
      </p:graphicFrame>
      <p:sp>
        <p:nvSpPr>
          <p:cNvPr id="3" name="Slide Number Placeholder 2"/>
          <p:cNvSpPr>
            <a:spLocks noGrp="1"/>
          </p:cNvSpPr>
          <p:nvPr>
            <p:ph type="sldNum" sz="quarter" idx="12"/>
          </p:nvPr>
        </p:nvSpPr>
        <p:spPr/>
        <p:txBody>
          <a:bodyPr/>
          <a:lstStyle/>
          <a:p>
            <a:fld id="{1D72F41D-2C04-46BD-AD58-EC9976117EFB}" type="slidenum">
              <a:rPr lang="en-GB">
                <a:solidFill>
                  <a:prstClr val="black">
                    <a:tint val="95000"/>
                  </a:prstClr>
                </a:solidFill>
                <a:latin typeface="Corbel"/>
              </a:rPr>
              <a:pPr/>
              <a:t>2</a:t>
            </a:fld>
            <a:endParaRPr lang="en-GB" dirty="0">
              <a:solidFill>
                <a:prstClr val="black">
                  <a:tint val="95000"/>
                </a:prstClr>
              </a:solidFill>
              <a:latin typeface="Corbel"/>
            </a:endParaRPr>
          </a:p>
        </p:txBody>
      </p:sp>
    </p:spTree>
    <p:extLst>
      <p:ext uri="{BB962C8B-B14F-4D97-AF65-F5344CB8AC3E}">
        <p14:creationId xmlns:p14="http://schemas.microsoft.com/office/powerpoint/2010/main" val="3547006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D5355-2DF3-93DC-6FB1-0264D05CEDC5}"/>
              </a:ext>
            </a:extLst>
          </p:cNvPr>
          <p:cNvSpPr>
            <a:spLocks noGrp="1"/>
          </p:cNvSpPr>
          <p:nvPr>
            <p:ph type="title"/>
          </p:nvPr>
        </p:nvSpPr>
        <p:spPr>
          <a:xfrm>
            <a:off x="1572126" y="441159"/>
            <a:ext cx="9504948" cy="4467726"/>
          </a:xfrm>
        </p:spPr>
        <p:txBody>
          <a:bodyPr>
            <a:normAutofit fontScale="90000"/>
          </a:bodyPr>
          <a:lstStyle/>
          <a:p>
            <a:r>
              <a:rPr lang="en-GB" dirty="0"/>
              <a:t>Research question</a:t>
            </a:r>
            <a:br>
              <a:rPr lang="en-GB" dirty="0"/>
            </a:br>
            <a:br>
              <a:rPr lang="en-GB" dirty="0"/>
            </a:br>
            <a:r>
              <a:rPr lang="en-GB" dirty="0"/>
              <a:t>what new factors explain childcare hours per day, across India? </a:t>
            </a:r>
            <a:br>
              <a:rPr lang="en-GB" dirty="0"/>
            </a:br>
            <a:r>
              <a:rPr lang="en-GB" sz="2000" dirty="0"/>
              <a:t>(beyond number-of-children, marital status, </a:t>
            </a:r>
            <a:r>
              <a:rPr lang="en-GB" sz="2000" dirty="0" err="1"/>
              <a:t>hhsize</a:t>
            </a:r>
            <a:r>
              <a:rPr lang="en-GB" sz="2000" dirty="0"/>
              <a:t>)</a:t>
            </a:r>
            <a:br>
              <a:rPr lang="en-GB" dirty="0"/>
            </a:br>
            <a:r>
              <a:rPr lang="en-GB" dirty="0"/>
              <a:t>hypotheses</a:t>
            </a:r>
            <a:br>
              <a:rPr lang="en-GB" sz="2400" dirty="0"/>
            </a:br>
            <a:r>
              <a:rPr lang="en-GB" sz="2400" dirty="0"/>
              <a:t>1 social group matters, but we are not clear about why that is so</a:t>
            </a:r>
            <a:br>
              <a:rPr lang="en-GB" sz="2400" dirty="0"/>
            </a:br>
            <a:r>
              <a:rPr lang="en-GB" sz="2400" dirty="0"/>
              <a:t>(therefore control for demographics);</a:t>
            </a:r>
            <a:br>
              <a:rPr lang="en-GB" sz="2400" dirty="0"/>
            </a:br>
            <a:br>
              <a:rPr lang="en-GB" sz="2400" dirty="0"/>
            </a:br>
            <a:r>
              <a:rPr lang="en-GB" sz="2400" dirty="0"/>
              <a:t>2 state matters because of varying gender norms</a:t>
            </a:r>
            <a:br>
              <a:rPr lang="en-GB" sz="2400" dirty="0"/>
            </a:br>
            <a:br>
              <a:rPr lang="en-GB" sz="2400" dirty="0">
                <a:solidFill>
                  <a:srgbClr val="FF0000"/>
                </a:solidFill>
              </a:rPr>
            </a:br>
            <a:r>
              <a:rPr lang="en-GB" sz="2400" dirty="0">
                <a:solidFill>
                  <a:srgbClr val="FF0000"/>
                </a:solidFill>
              </a:rPr>
              <a:t>Both hypotheses were falsified, and instead, </a:t>
            </a:r>
            <a:br>
              <a:rPr lang="en-GB" sz="2400" dirty="0">
                <a:solidFill>
                  <a:srgbClr val="FF0000"/>
                </a:solidFill>
              </a:rPr>
            </a:br>
            <a:r>
              <a:rPr lang="en-GB" sz="2400" dirty="0">
                <a:solidFill>
                  <a:srgbClr val="FF0000"/>
                </a:solidFill>
              </a:rPr>
              <a:t>education and gender norms were very important! </a:t>
            </a:r>
            <a:endParaRPr lang="en-GB" dirty="0">
              <a:solidFill>
                <a:srgbClr val="FF0000"/>
              </a:solidFill>
            </a:endParaRPr>
          </a:p>
        </p:txBody>
      </p:sp>
      <p:sp>
        <p:nvSpPr>
          <p:cNvPr id="3" name="Text Placeholder 2">
            <a:extLst>
              <a:ext uri="{FF2B5EF4-FFF2-40B4-BE49-F238E27FC236}">
                <a16:creationId xmlns:a16="http://schemas.microsoft.com/office/drawing/2014/main" id="{CC5C6B24-04AF-3D40-B46B-80829637B344}"/>
              </a:ext>
            </a:extLst>
          </p:cNvPr>
          <p:cNvSpPr>
            <a:spLocks noGrp="1"/>
          </p:cNvSpPr>
          <p:nvPr>
            <p:ph type="body" sz="half" idx="2"/>
          </p:nvPr>
        </p:nvSpPr>
        <p:spPr/>
        <p:txBody>
          <a:bodyPr/>
          <a:lstStyle/>
          <a:p>
            <a:r>
              <a:rPr lang="en-GB" sz="1600" b="0" baseline="0" dirty="0"/>
              <a:t>The context is, challenging patriarchy whilst accepting the local norms of each area.</a:t>
            </a:r>
            <a:endParaRPr lang="en-GB" dirty="0"/>
          </a:p>
        </p:txBody>
      </p:sp>
      <p:sp>
        <p:nvSpPr>
          <p:cNvPr id="4" name="Slide Number Placeholder 3">
            <a:extLst>
              <a:ext uri="{FF2B5EF4-FFF2-40B4-BE49-F238E27FC236}">
                <a16:creationId xmlns:a16="http://schemas.microsoft.com/office/drawing/2014/main" id="{BFA755EB-FA1B-8D2E-4551-97156F9F6920}"/>
              </a:ext>
            </a:extLst>
          </p:cNvPr>
          <p:cNvSpPr>
            <a:spLocks noGrp="1"/>
          </p:cNvSpPr>
          <p:nvPr>
            <p:ph type="sldNum" sz="quarter" idx="12"/>
          </p:nvPr>
        </p:nvSpPr>
        <p:spPr/>
        <p:txBody>
          <a:bodyPr/>
          <a:lstStyle/>
          <a:p>
            <a:fld id="{1D72F41D-2C04-46BD-AD58-EC9976117EFB}" type="slidenum">
              <a:rPr lang="en-GB" smtClean="0"/>
              <a:t>3</a:t>
            </a:fld>
            <a:endParaRPr lang="en-GB" dirty="0"/>
          </a:p>
        </p:txBody>
      </p:sp>
      <p:sp>
        <p:nvSpPr>
          <p:cNvPr id="5" name="Wave 4">
            <a:extLst>
              <a:ext uri="{FF2B5EF4-FFF2-40B4-BE49-F238E27FC236}">
                <a16:creationId xmlns:a16="http://schemas.microsoft.com/office/drawing/2014/main" id="{26649AF9-4EC0-1C06-7A0C-044A16B5EC31}"/>
              </a:ext>
            </a:extLst>
          </p:cNvPr>
          <p:cNvSpPr/>
          <p:nvPr/>
        </p:nvSpPr>
        <p:spPr>
          <a:xfrm>
            <a:off x="5270500" y="5232400"/>
            <a:ext cx="6324600" cy="1435100"/>
          </a:xfrm>
          <a:prstGeom prst="wave">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accent4">
                    <a:lumMod val="75000"/>
                  </a:schemeClr>
                </a:solidFill>
              </a:rPr>
              <a:t>Going beyond demography</a:t>
            </a:r>
          </a:p>
        </p:txBody>
      </p:sp>
    </p:spTree>
    <p:extLst>
      <p:ext uri="{BB962C8B-B14F-4D97-AF65-F5344CB8AC3E}">
        <p14:creationId xmlns:p14="http://schemas.microsoft.com/office/powerpoint/2010/main" val="1243284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ONE Key book was Agarwal, </a:t>
            </a:r>
            <a:r>
              <a:rPr lang="en-GB" u="sng" dirty="0"/>
              <a:t>a field of one’s own</a:t>
            </a:r>
            <a:r>
              <a:rPr lang="en-GB" dirty="0"/>
              <a:t>, 1995</a:t>
            </a:r>
          </a:p>
        </p:txBody>
      </p:sp>
      <p:sp>
        <p:nvSpPr>
          <p:cNvPr id="3" name="Slide Number Placeholder 2"/>
          <p:cNvSpPr>
            <a:spLocks noGrp="1"/>
          </p:cNvSpPr>
          <p:nvPr>
            <p:ph type="sldNum" sz="quarter" idx="12"/>
          </p:nvPr>
        </p:nvSpPr>
        <p:spPr/>
        <p:txBody>
          <a:bodyPr/>
          <a:lstStyle/>
          <a:p>
            <a:fld id="{1D72F41D-2C04-46BD-AD58-EC9976117EFB}" type="slidenum">
              <a:rPr lang="en-GB">
                <a:solidFill>
                  <a:prstClr val="black">
                    <a:tint val="95000"/>
                  </a:prstClr>
                </a:solidFill>
                <a:latin typeface="Corbel"/>
              </a:rPr>
              <a:pPr/>
              <a:t>4</a:t>
            </a:fld>
            <a:endParaRPr lang="en-GB" dirty="0">
              <a:solidFill>
                <a:prstClr val="black">
                  <a:tint val="95000"/>
                </a:prstClr>
              </a:solidFill>
              <a:latin typeface="Corbel"/>
            </a:endParaRPr>
          </a:p>
        </p:txBody>
      </p:sp>
      <p:sp>
        <p:nvSpPr>
          <p:cNvPr id="5" name="Content Placeholder 4">
            <a:extLst>
              <a:ext uri="{FF2B5EF4-FFF2-40B4-BE49-F238E27FC236}">
                <a16:creationId xmlns:a16="http://schemas.microsoft.com/office/drawing/2014/main" id="{DE4936ED-5F07-4EDB-E831-9E84DFCEC261}"/>
              </a:ext>
            </a:extLst>
          </p:cNvPr>
          <p:cNvSpPr>
            <a:spLocks noGrp="1"/>
          </p:cNvSpPr>
          <p:nvPr>
            <p:ph idx="1"/>
          </p:nvPr>
        </p:nvSpPr>
        <p:spPr>
          <a:xfrm>
            <a:off x="0" y="5145946"/>
            <a:ext cx="10364452" cy="3424107"/>
          </a:xfrm>
        </p:spPr>
        <p:txBody>
          <a:bodyPr>
            <a:normAutofit/>
          </a:bodyPr>
          <a:lstStyle/>
          <a:p>
            <a:r>
              <a:rPr lang="en-GB" sz="1100" b="0" i="0" dirty="0">
                <a:solidFill>
                  <a:srgbClr val="595959"/>
                </a:solidFill>
                <a:effectLst/>
                <a:latin typeface="noto sans" panose="020B0502040504020204" pitchFamily="34" charset="0"/>
              </a:rPr>
              <a:t>This is the first major study of gender and property in South Asia. In a pioneering and comprehensive analysis Bina Agarwal argues that the single most important economic factor affecting women's situation is the gender gap in command over property. In rural South Asia, the most significant form of property is arable land, a critical determinant of economic well-being, social status, and empowerment. But few women own land; fewer control it. Drawing on a vast range of interdisciplinary sources and her own field research, and tracing regional variations across five countries, the author investigates the complex barriers to women's land ownership and control, and how they might be overcome. The book makes significant and original contributions to theory and policy concerning land reforms, 'bargaining' and gender relations, women's status, and the nature of resistance.</a:t>
            </a:r>
            <a:endParaRPr lang="en-GB" sz="1100" dirty="0"/>
          </a:p>
        </p:txBody>
      </p:sp>
      <p:pic>
        <p:nvPicPr>
          <p:cNvPr id="8" name="Picture 7" descr="A person carrying a stack of hay&#10;&#10;Description automatically generated">
            <a:extLst>
              <a:ext uri="{FF2B5EF4-FFF2-40B4-BE49-F238E27FC236}">
                <a16:creationId xmlns:a16="http://schemas.microsoft.com/office/drawing/2014/main" id="{0D23D6BC-017F-46FC-374B-A9E82BA52A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750" y="1408176"/>
            <a:ext cx="2286000" cy="3429000"/>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2887784059"/>
              </p:ext>
            </p:extLst>
          </p:nvPr>
        </p:nvGraphicFramePr>
        <p:xfrm>
          <a:off x="4025900" y="1457866"/>
          <a:ext cx="6779096" cy="3688080"/>
        </p:xfrm>
        <a:graphic>
          <a:graphicData uri="http://schemas.openxmlformats.org/drawingml/2006/table">
            <a:tbl>
              <a:tblPr firstRow="1" bandRow="1">
                <a:tableStyleId>{5C22544A-7EE6-4342-B048-85BDC9FD1C3A}</a:tableStyleId>
              </a:tblPr>
              <a:tblGrid>
                <a:gridCol w="6779096">
                  <a:extLst>
                    <a:ext uri="{9D8B030D-6E8A-4147-A177-3AD203B41FA5}">
                      <a16:colId xmlns:a16="http://schemas.microsoft.com/office/drawing/2014/main" val="20000"/>
                    </a:ext>
                  </a:extLst>
                </a:gridCol>
              </a:tblGrid>
              <a:tr h="370840">
                <a:tc>
                  <a:txBody>
                    <a:bodyPr/>
                    <a:lstStyle/>
                    <a:p>
                      <a:r>
                        <a:rPr lang="en-GB" sz="2800" b="1" dirty="0"/>
                        <a:t>How to get this book today: </a:t>
                      </a:r>
                    </a:p>
                  </a:txBody>
                  <a:tcPr/>
                </a:tc>
                <a:extLst>
                  <a:ext uri="{0D108BD9-81ED-4DB2-BD59-A6C34878D82A}">
                    <a16:rowId xmlns:a16="http://schemas.microsoft.com/office/drawing/2014/main" val="10000"/>
                  </a:ext>
                </a:extLst>
              </a:tr>
              <a:tr h="370840">
                <a:tc>
                  <a:txBody>
                    <a:bodyPr/>
                    <a:lstStyle/>
                    <a:p>
                      <a:pPr fontAlgn="base"/>
                      <a:r>
                        <a:rPr lang="en-GB" sz="1800" b="0" i="0" kern="1200" dirty="0">
                          <a:solidFill>
                            <a:schemeClr val="dk1"/>
                          </a:solidFill>
                          <a:effectLst/>
                          <a:latin typeface="+mn-lt"/>
                          <a:ea typeface="+mn-ea"/>
                          <a:cs typeface="+mn-cs"/>
                        </a:rPr>
                        <a:t>Cambridge University Press</a:t>
                      </a:r>
                    </a:p>
                    <a:p>
                      <a:pPr fontAlgn="base"/>
                      <a:r>
                        <a:rPr lang="en-GB" sz="1800" b="0" i="0" kern="1200" dirty="0">
                          <a:solidFill>
                            <a:schemeClr val="dk1"/>
                          </a:solidFill>
                          <a:effectLst/>
                          <a:latin typeface="+mn-lt"/>
                          <a:ea typeface="+mn-ea"/>
                          <a:cs typeface="+mn-cs"/>
                        </a:rPr>
                        <a:t>Online publication date: January 2010</a:t>
                      </a:r>
                    </a:p>
                    <a:p>
                      <a:pPr fontAlgn="base"/>
                      <a:r>
                        <a:rPr lang="en-GB" sz="1800" b="0" i="0" kern="1200" dirty="0">
                          <a:solidFill>
                            <a:schemeClr val="dk1"/>
                          </a:solidFill>
                          <a:effectLst/>
                          <a:latin typeface="+mn-lt"/>
                          <a:ea typeface="+mn-ea"/>
                          <a:cs typeface="+mn-cs"/>
                        </a:rPr>
                        <a:t>Print publication year:1995</a:t>
                      </a:r>
                    </a:p>
                    <a:p>
                      <a:pPr fontAlgn="base"/>
                      <a:r>
                        <a:rPr lang="en-GB" sz="1800" b="0" i="0" kern="1200" dirty="0">
                          <a:solidFill>
                            <a:schemeClr val="dk1"/>
                          </a:solidFill>
                          <a:effectLst/>
                          <a:latin typeface="+mn-lt"/>
                          <a:ea typeface="+mn-ea"/>
                          <a:cs typeface="+mn-cs"/>
                        </a:rPr>
                        <a:t>Online ISBN:9780511522000</a:t>
                      </a:r>
                    </a:p>
                    <a:p>
                      <a:pPr fontAlgn="base"/>
                      <a:r>
                        <a:rPr lang="en-GB" sz="1800" b="0" i="0" kern="1200" dirty="0">
                          <a:solidFill>
                            <a:schemeClr val="dk1"/>
                          </a:solidFill>
                          <a:effectLst/>
                          <a:latin typeface="+mn-lt"/>
                          <a:ea typeface="+mn-ea"/>
                          <a:cs typeface="+mn-cs"/>
                        </a:rPr>
                        <a:t>DOI: </a:t>
                      </a:r>
                      <a:r>
                        <a:rPr lang="en-GB" sz="1800" b="0" i="0" u="none" strike="noStrike" kern="1200" dirty="0">
                          <a:solidFill>
                            <a:schemeClr val="dk1"/>
                          </a:solidFill>
                          <a:effectLst/>
                          <a:latin typeface="+mn-lt"/>
                          <a:ea typeface="+mn-ea"/>
                          <a:cs typeface="+mn-cs"/>
                          <a:hlinkClick r:id="rId3"/>
                        </a:rPr>
                        <a:t>https://doi.org/10.1017/CBO9780511522000</a:t>
                      </a:r>
                      <a:endParaRPr lang="en-GB" sz="1800" b="0" i="0" kern="1200" dirty="0">
                        <a:solidFill>
                          <a:schemeClr val="dk1"/>
                        </a:solidFill>
                        <a:effectLst/>
                        <a:latin typeface="+mn-lt"/>
                        <a:ea typeface="+mn-ea"/>
                        <a:cs typeface="+mn-cs"/>
                      </a:endParaRPr>
                    </a:p>
                    <a:p>
                      <a:r>
                        <a:rPr lang="en-GB" sz="2800" b="1" dirty="0"/>
                        <a:t>This book had an immense influence. Bina Agarwal found that localities and local cultures vary within each South Asian country including India.</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25234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Definitions First</a:t>
            </a:r>
          </a:p>
        </p:txBody>
      </p:sp>
      <p:sp>
        <p:nvSpPr>
          <p:cNvPr id="3" name="Slide Number Placeholder 2"/>
          <p:cNvSpPr>
            <a:spLocks noGrp="1"/>
          </p:cNvSpPr>
          <p:nvPr>
            <p:ph type="sldNum" sz="quarter" idx="12"/>
          </p:nvPr>
        </p:nvSpPr>
        <p:spPr/>
        <p:txBody>
          <a:bodyPr/>
          <a:lstStyle/>
          <a:p>
            <a:fld id="{1D72F41D-2C04-46BD-AD58-EC9976117EFB}" type="slidenum">
              <a:rPr lang="en-GB">
                <a:solidFill>
                  <a:prstClr val="black">
                    <a:tint val="95000"/>
                  </a:prstClr>
                </a:solidFill>
                <a:latin typeface="Corbel"/>
              </a:rPr>
              <a:pPr/>
              <a:t>5</a:t>
            </a:fld>
            <a:endParaRPr lang="en-GB" dirty="0">
              <a:solidFill>
                <a:prstClr val="black">
                  <a:tint val="95000"/>
                </a:prstClr>
              </a:solidFill>
              <a:latin typeface="Corbe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97462292"/>
              </p:ext>
            </p:extLst>
          </p:nvPr>
        </p:nvGraphicFramePr>
        <p:xfrm>
          <a:off x="104273" y="1626669"/>
          <a:ext cx="11946555" cy="51206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0850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Operationalised measures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39518009"/>
              </p:ext>
            </p:extLst>
          </p:nvPr>
        </p:nvGraphicFramePr>
        <p:xfrm>
          <a:off x="0" y="1491916"/>
          <a:ext cx="12192000" cy="53660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p:cNvSpPr>
            <a:spLocks noGrp="1"/>
          </p:cNvSpPr>
          <p:nvPr>
            <p:ph type="sldNum" sz="quarter" idx="12"/>
          </p:nvPr>
        </p:nvSpPr>
        <p:spPr/>
        <p:txBody>
          <a:bodyPr/>
          <a:lstStyle/>
          <a:p>
            <a:fld id="{1D72F41D-2C04-46BD-AD58-EC9976117EFB}" type="slidenum">
              <a:rPr lang="en-GB">
                <a:solidFill>
                  <a:prstClr val="black">
                    <a:tint val="95000"/>
                  </a:prstClr>
                </a:solidFill>
                <a:latin typeface="Corbel"/>
              </a:rPr>
              <a:pPr/>
              <a:t>6</a:t>
            </a:fld>
            <a:endParaRPr lang="en-GB" dirty="0">
              <a:solidFill>
                <a:prstClr val="black">
                  <a:tint val="95000"/>
                </a:prstClr>
              </a:solidFill>
              <a:latin typeface="Corbel"/>
            </a:endParaRPr>
          </a:p>
        </p:txBody>
      </p:sp>
    </p:spTree>
    <p:extLst>
      <p:ext uri="{BB962C8B-B14F-4D97-AF65-F5344CB8AC3E}">
        <p14:creationId xmlns:p14="http://schemas.microsoft.com/office/powerpoint/2010/main" val="2138145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2D9D9-2CB1-4A70-8282-483FE254A74B}"/>
              </a:ext>
            </a:extLst>
          </p:cNvPr>
          <p:cNvSpPr>
            <a:spLocks noGrp="1"/>
          </p:cNvSpPr>
          <p:nvPr>
            <p:ph type="title"/>
          </p:nvPr>
        </p:nvSpPr>
        <p:spPr>
          <a:xfrm>
            <a:off x="137962" y="0"/>
            <a:ext cx="10972800" cy="1252728"/>
          </a:xfrm>
        </p:spPr>
        <p:txBody>
          <a:bodyPr>
            <a:normAutofit fontScale="90000"/>
          </a:bodyPr>
          <a:lstStyle/>
          <a:p>
            <a:pPr lvl="0"/>
            <a:r>
              <a:rPr lang="en-GB" dirty="0"/>
              <a:t>We merged the Asian Barometers data on gender norms onto the Indian Time-Use Diary survey 2019</a:t>
            </a:r>
          </a:p>
        </p:txBody>
      </p:sp>
      <p:sp>
        <p:nvSpPr>
          <p:cNvPr id="3" name="Content Placeholder 2">
            <a:extLst>
              <a:ext uri="{FF2B5EF4-FFF2-40B4-BE49-F238E27FC236}">
                <a16:creationId xmlns:a16="http://schemas.microsoft.com/office/drawing/2014/main" id="{A574D0AB-BD58-422E-BED8-A306B9FE96D8}"/>
              </a:ext>
            </a:extLst>
          </p:cNvPr>
          <p:cNvSpPr>
            <a:spLocks noGrp="1"/>
          </p:cNvSpPr>
          <p:nvPr>
            <p:ph idx="1"/>
          </p:nvPr>
        </p:nvSpPr>
        <p:spPr>
          <a:xfrm>
            <a:off x="0" y="2623279"/>
            <a:ext cx="11278226" cy="3919407"/>
          </a:xfrm>
          <a:solidFill>
            <a:schemeClr val="accent5">
              <a:lumMod val="20000"/>
              <a:lumOff val="80000"/>
            </a:schemeClr>
          </a:solidFill>
        </p:spPr>
        <p:txBody>
          <a:bodyPr>
            <a:normAutofit fontScale="62500" lnSpcReduction="20000"/>
          </a:bodyPr>
          <a:lstStyle/>
          <a:p>
            <a:r>
              <a:rPr lang="en-GB" dirty="0"/>
              <a:t>First we create sub-groups, similar to when doing </a:t>
            </a:r>
            <a:r>
              <a:rPr lang="en-GB" dirty="0" err="1"/>
              <a:t>poisson</a:t>
            </a:r>
            <a:r>
              <a:rPr lang="en-GB" dirty="0"/>
              <a:t> modelling.</a:t>
            </a:r>
          </a:p>
          <a:p>
            <a:r>
              <a:rPr lang="en-GB" dirty="0"/>
              <a:t>We optimise the matching of sub-groups between the two surveys.</a:t>
            </a:r>
          </a:p>
          <a:p>
            <a:r>
              <a:rPr lang="en-GB" dirty="0"/>
              <a:t>We avoid using sex here, because gender norms here did not vary by sex.</a:t>
            </a:r>
          </a:p>
          <a:p>
            <a:r>
              <a:rPr lang="en-GB" dirty="0"/>
              <a:t>We also may avoid using state but this is more empirically questionable.</a:t>
            </a:r>
          </a:p>
          <a:p>
            <a:r>
              <a:rPr lang="en-GB" dirty="0"/>
              <a:t>So, match on </a:t>
            </a:r>
            <a:endParaRPr lang="en-GB" sz="4100" dirty="0"/>
          </a:p>
          <a:p>
            <a:r>
              <a:rPr lang="en-GB" sz="4100" dirty="0"/>
              <a:t>Rural &gt; age-group 16-35, 36-65, 65+ &gt; Education</a:t>
            </a:r>
          </a:p>
          <a:p>
            <a:r>
              <a:rPr lang="en-GB" sz="4100" dirty="0"/>
              <a:t>Ordinal in five groups </a:t>
            </a:r>
          </a:p>
          <a:p>
            <a:pPr lvl="1"/>
            <a:r>
              <a:rPr lang="en-GB" sz="3900" dirty="0"/>
              <a:t>below primary, primary, incomplete secondary, complete secondary, and higher levels of formal education</a:t>
            </a:r>
          </a:p>
          <a:p>
            <a:r>
              <a:rPr lang="en-GB" dirty="0"/>
              <a:t>These match exactly the available measures in the Asian barometers survey 2019 </a:t>
            </a:r>
            <a:r>
              <a:rPr lang="en-GB" dirty="0">
                <a:sym typeface="Wingdings" panose="05000000000000000000" pitchFamily="2" charset="2"/>
              </a:rPr>
              <a:t> merging at level 2.</a:t>
            </a:r>
            <a:endParaRPr lang="en-GB" dirty="0"/>
          </a:p>
        </p:txBody>
      </p:sp>
      <p:sp>
        <p:nvSpPr>
          <p:cNvPr id="4" name="Slide Number Placeholder 3">
            <a:extLst>
              <a:ext uri="{FF2B5EF4-FFF2-40B4-BE49-F238E27FC236}">
                <a16:creationId xmlns:a16="http://schemas.microsoft.com/office/drawing/2014/main" id="{A09AF69A-619E-440B-867F-418F44E50F41}"/>
              </a:ext>
            </a:extLst>
          </p:cNvPr>
          <p:cNvSpPr>
            <a:spLocks noGrp="1"/>
          </p:cNvSpPr>
          <p:nvPr>
            <p:ph type="sldNum" sz="quarter" idx="12"/>
          </p:nvPr>
        </p:nvSpPr>
        <p:spPr/>
        <p:txBody>
          <a:bodyPr/>
          <a:lstStyle/>
          <a:p>
            <a:fld id="{1D72F41D-2C04-46BD-AD58-EC9976117EFB}" type="slidenum">
              <a:rPr lang="en-GB" smtClean="0"/>
              <a:t>7</a:t>
            </a:fld>
            <a:endParaRPr lang="en-GB" dirty="0"/>
          </a:p>
        </p:txBody>
      </p:sp>
      <p:sp>
        <p:nvSpPr>
          <p:cNvPr id="5" name="Wave 4">
            <a:extLst>
              <a:ext uri="{FF2B5EF4-FFF2-40B4-BE49-F238E27FC236}">
                <a16:creationId xmlns:a16="http://schemas.microsoft.com/office/drawing/2014/main" id="{851209E3-F5FB-5D41-BE56-27855CB3FFAE}"/>
              </a:ext>
            </a:extLst>
          </p:cNvPr>
          <p:cNvSpPr/>
          <p:nvPr/>
        </p:nvSpPr>
        <p:spPr>
          <a:xfrm>
            <a:off x="4457700" y="1143000"/>
            <a:ext cx="5575300" cy="1132018"/>
          </a:xfrm>
          <a:prstGeom prst="wav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3">
                    <a:lumMod val="50000"/>
                  </a:schemeClr>
                </a:solidFill>
                <a:latin typeface="Tempus Sans ITC" panose="04020404030D07020202" pitchFamily="82" charset="0"/>
              </a:rPr>
              <a:t>Data combining! </a:t>
            </a:r>
          </a:p>
        </p:txBody>
      </p:sp>
    </p:spTree>
    <p:extLst>
      <p:ext uri="{BB962C8B-B14F-4D97-AF65-F5344CB8AC3E}">
        <p14:creationId xmlns:p14="http://schemas.microsoft.com/office/powerpoint/2010/main" val="605056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Dataset 1 – Asian barometers – Table 1</a:t>
            </a:r>
          </a:p>
        </p:txBody>
      </p:sp>
      <p:sp>
        <p:nvSpPr>
          <p:cNvPr id="3" name="Content Placeholder 2"/>
          <p:cNvSpPr>
            <a:spLocks noGrp="1"/>
          </p:cNvSpPr>
          <p:nvPr>
            <p:ph idx="1"/>
          </p:nvPr>
        </p:nvSpPr>
        <p:spPr>
          <a:xfrm>
            <a:off x="1447800" y="2064618"/>
            <a:ext cx="11582400" cy="4793382"/>
          </a:xfrm>
        </p:spPr>
        <p:txBody>
          <a:bodyPr>
            <a:normAutofit/>
          </a:bodyPr>
          <a:lstStyle/>
          <a:p>
            <a:pPr marL="0" indent="0">
              <a:buNone/>
            </a:pPr>
            <a:r>
              <a:rPr lang="en-GB" dirty="0"/>
              <a:t>	Confirmatory factor,</a:t>
            </a:r>
          </a:p>
          <a:p>
            <a:pPr marL="0" indent="0">
              <a:buNone/>
            </a:pPr>
            <a:r>
              <a:rPr lang="en-GB" dirty="0"/>
              <a:t>Based on 3 questions</a:t>
            </a:r>
          </a:p>
          <a:p>
            <a:pPr marL="0" indent="0">
              <a:buNone/>
            </a:pPr>
            <a:endParaRPr lang="en-GB" dirty="0"/>
          </a:p>
          <a:p>
            <a:pPr marL="0" indent="0">
              <a:buNone/>
            </a:pPr>
            <a:r>
              <a:rPr lang="en-GB" dirty="0"/>
              <a:t>- prefer boy or girl, if 1 child</a:t>
            </a:r>
          </a:p>
          <a:p>
            <a:pPr marL="0" indent="0">
              <a:buNone/>
            </a:pPr>
            <a:r>
              <a:rPr lang="en-GB" dirty="0"/>
              <a:t>-should man only do politics</a:t>
            </a:r>
          </a:p>
          <a:p>
            <a:pPr marL="0" indent="0">
              <a:buNone/>
            </a:pPr>
            <a:r>
              <a:rPr lang="en-GB" dirty="0"/>
              <a:t>-and a third </a:t>
            </a:r>
            <a:r>
              <a:rPr lang="en-GB" dirty="0" err="1"/>
              <a:t>likert</a:t>
            </a:r>
            <a:r>
              <a:rPr lang="en-GB" dirty="0"/>
              <a:t> scale about </a:t>
            </a:r>
          </a:p>
          <a:p>
            <a:pPr marL="0" indent="0">
              <a:buNone/>
            </a:pPr>
            <a:r>
              <a:rPr lang="en-GB" dirty="0"/>
              <a:t>The man’s mother dominating</a:t>
            </a:r>
          </a:p>
        </p:txBody>
      </p:sp>
      <p:sp>
        <p:nvSpPr>
          <p:cNvPr id="4" name="Slide Number Placeholder 3"/>
          <p:cNvSpPr>
            <a:spLocks noGrp="1"/>
          </p:cNvSpPr>
          <p:nvPr>
            <p:ph type="sldNum" sz="quarter" idx="12"/>
          </p:nvPr>
        </p:nvSpPr>
        <p:spPr/>
        <p:txBody>
          <a:bodyPr/>
          <a:lstStyle/>
          <a:p>
            <a:fld id="{1D72F41D-2C04-46BD-AD58-EC9976117EFB}" type="slidenum">
              <a:rPr lang="en-GB">
                <a:solidFill>
                  <a:prstClr val="black">
                    <a:tint val="95000"/>
                  </a:prstClr>
                </a:solidFill>
                <a:latin typeface="Corbel"/>
              </a:rPr>
              <a:pPr/>
              <a:t>8</a:t>
            </a:fld>
            <a:endParaRPr lang="en-GB" dirty="0">
              <a:solidFill>
                <a:prstClr val="black">
                  <a:tint val="95000"/>
                </a:prstClr>
              </a:solidFill>
              <a:latin typeface="Corbel"/>
            </a:endParaRPr>
          </a:p>
        </p:txBody>
      </p:sp>
      <p:graphicFrame>
        <p:nvGraphicFramePr>
          <p:cNvPr id="7" name="Object 6">
            <a:extLst>
              <a:ext uri="{FF2B5EF4-FFF2-40B4-BE49-F238E27FC236}">
                <a16:creationId xmlns:a16="http://schemas.microsoft.com/office/drawing/2014/main" id="{C3B11690-B618-D844-0213-9D707729A9D3}"/>
              </a:ext>
            </a:extLst>
          </p:cNvPr>
          <p:cNvGraphicFramePr>
            <a:graphicFrameLocks noChangeAspect="1"/>
          </p:cNvGraphicFramePr>
          <p:nvPr>
            <p:extLst>
              <p:ext uri="{D42A27DB-BD31-4B8C-83A1-F6EECF244321}">
                <p14:modId xmlns:p14="http://schemas.microsoft.com/office/powerpoint/2010/main" val="1195134860"/>
              </p:ext>
            </p:extLst>
          </p:nvPr>
        </p:nvGraphicFramePr>
        <p:xfrm>
          <a:off x="5702300" y="945146"/>
          <a:ext cx="4937125" cy="5806556"/>
        </p:xfrm>
        <a:graphic>
          <a:graphicData uri="http://schemas.openxmlformats.org/presentationml/2006/ole">
            <mc:AlternateContent xmlns:mc="http://schemas.openxmlformats.org/markup-compatibility/2006">
              <mc:Choice xmlns:v="urn:schemas-microsoft-com:vml" Requires="v">
                <p:oleObj name="Worksheet" r:id="rId2" imgW="4543257" imgH="5343485" progId="Excel.Sheet.12">
                  <p:embed/>
                </p:oleObj>
              </mc:Choice>
              <mc:Fallback>
                <p:oleObj name="Worksheet" r:id="rId2" imgW="4543257" imgH="5343485" progId="Excel.Sheet.12">
                  <p:embed/>
                  <p:pic>
                    <p:nvPicPr>
                      <p:cNvPr id="0" name=""/>
                      <p:cNvPicPr/>
                      <p:nvPr/>
                    </p:nvPicPr>
                    <p:blipFill>
                      <a:blip r:embed="rId3"/>
                      <a:stretch>
                        <a:fillRect/>
                      </a:stretch>
                    </p:blipFill>
                    <p:spPr>
                      <a:xfrm>
                        <a:off x="5702300" y="945146"/>
                        <a:ext cx="4937125" cy="5806556"/>
                      </a:xfrm>
                      <a:prstGeom prst="rect">
                        <a:avLst/>
                      </a:prstGeom>
                    </p:spPr>
                  </p:pic>
                </p:oleObj>
              </mc:Fallback>
            </mc:AlternateContent>
          </a:graphicData>
        </a:graphic>
      </p:graphicFrame>
      <p:sp>
        <p:nvSpPr>
          <p:cNvPr id="5" name="Cloud 4">
            <a:extLst>
              <a:ext uri="{FF2B5EF4-FFF2-40B4-BE49-F238E27FC236}">
                <a16:creationId xmlns:a16="http://schemas.microsoft.com/office/drawing/2014/main" id="{2B0EB4DE-BDAE-CC94-9624-06708AC4D2D5}"/>
              </a:ext>
            </a:extLst>
          </p:cNvPr>
          <p:cNvSpPr/>
          <p:nvPr/>
        </p:nvSpPr>
        <p:spPr>
          <a:xfrm>
            <a:off x="10641465" y="2645230"/>
            <a:ext cx="1621291" cy="1436914"/>
          </a:xfrm>
          <a:prstGeom prst="cloud">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Boy-</a:t>
            </a:r>
            <a:r>
              <a:rPr lang="en-GB" sz="1200" dirty="0"/>
              <a:t>preferring; </a:t>
            </a:r>
          </a:p>
          <a:p>
            <a:pPr algn="ctr"/>
            <a:r>
              <a:rPr lang="en-GB" sz="1200" dirty="0"/>
              <a:t>man only in politics etc.</a:t>
            </a:r>
            <a:endParaRPr lang="en-GB" dirty="0"/>
          </a:p>
        </p:txBody>
      </p:sp>
      <p:sp>
        <p:nvSpPr>
          <p:cNvPr id="6" name="Cloud 5">
            <a:extLst>
              <a:ext uri="{FF2B5EF4-FFF2-40B4-BE49-F238E27FC236}">
                <a16:creationId xmlns:a16="http://schemas.microsoft.com/office/drawing/2014/main" id="{7D828119-7053-9BA7-4465-899BF5559FFD}"/>
              </a:ext>
            </a:extLst>
          </p:cNvPr>
          <p:cNvSpPr/>
          <p:nvPr/>
        </p:nvSpPr>
        <p:spPr>
          <a:xfrm>
            <a:off x="10687955" y="5309182"/>
            <a:ext cx="1621291" cy="1436914"/>
          </a:xfrm>
          <a:prstGeom prst="cloud">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Not Boy-</a:t>
            </a:r>
            <a:r>
              <a:rPr lang="en-GB" sz="1200" dirty="0"/>
              <a:t>preferring; </a:t>
            </a:r>
          </a:p>
          <a:p>
            <a:pPr algn="ctr"/>
            <a:r>
              <a:rPr lang="en-GB" sz="1200" dirty="0"/>
              <a:t>NOT man only in politics etc.</a:t>
            </a:r>
            <a:endParaRPr lang="en-GB" dirty="0"/>
          </a:p>
        </p:txBody>
      </p:sp>
    </p:spTree>
    <p:extLst>
      <p:ext uri="{BB962C8B-B14F-4D97-AF65-F5344CB8AC3E}">
        <p14:creationId xmlns:p14="http://schemas.microsoft.com/office/powerpoint/2010/main" val="2920629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Findings – Asian barometers – Table 2</a:t>
            </a:r>
          </a:p>
        </p:txBody>
      </p:sp>
      <p:sp>
        <p:nvSpPr>
          <p:cNvPr id="4" name="Slide Number Placeholder 3"/>
          <p:cNvSpPr>
            <a:spLocks noGrp="1"/>
          </p:cNvSpPr>
          <p:nvPr>
            <p:ph type="sldNum" sz="quarter" idx="12"/>
          </p:nvPr>
        </p:nvSpPr>
        <p:spPr/>
        <p:txBody>
          <a:bodyPr/>
          <a:lstStyle/>
          <a:p>
            <a:fld id="{1D72F41D-2C04-46BD-AD58-EC9976117EFB}" type="slidenum">
              <a:rPr lang="en-GB">
                <a:solidFill>
                  <a:prstClr val="black">
                    <a:tint val="95000"/>
                  </a:prstClr>
                </a:solidFill>
                <a:latin typeface="Corbel"/>
              </a:rPr>
              <a:pPr/>
              <a:t>9</a:t>
            </a:fld>
            <a:endParaRPr lang="en-GB" dirty="0">
              <a:solidFill>
                <a:prstClr val="black">
                  <a:tint val="95000"/>
                </a:prstClr>
              </a:solidFill>
              <a:latin typeface="Corbel"/>
            </a:endParaRPr>
          </a:p>
        </p:txBody>
      </p:sp>
      <p:pic>
        <p:nvPicPr>
          <p:cNvPr id="8" name="Picture 7">
            <a:extLst>
              <a:ext uri="{FF2B5EF4-FFF2-40B4-BE49-F238E27FC236}">
                <a16:creationId xmlns:a16="http://schemas.microsoft.com/office/drawing/2014/main" id="{64AA4526-5341-DB43-23CE-B2F1F327482A}"/>
              </a:ext>
            </a:extLst>
          </p:cNvPr>
          <p:cNvPicPr>
            <a:picLocks noChangeAspect="1"/>
          </p:cNvPicPr>
          <p:nvPr/>
        </p:nvPicPr>
        <p:blipFill>
          <a:blip r:embed="rId2"/>
          <a:stretch>
            <a:fillRect/>
          </a:stretch>
        </p:blipFill>
        <p:spPr>
          <a:xfrm>
            <a:off x="1945141" y="1413619"/>
            <a:ext cx="10269423" cy="4649724"/>
          </a:xfrm>
          <a:prstGeom prst="rect">
            <a:avLst/>
          </a:prstGeom>
        </p:spPr>
      </p:pic>
    </p:spTree>
    <p:extLst>
      <p:ext uri="{BB962C8B-B14F-4D97-AF65-F5344CB8AC3E}">
        <p14:creationId xmlns:p14="http://schemas.microsoft.com/office/powerpoint/2010/main" val="1543122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Dataset 2 – Indian time-use survey 2019</a:t>
            </a:r>
          </a:p>
        </p:txBody>
      </p:sp>
      <p:sp>
        <p:nvSpPr>
          <p:cNvPr id="4" name="Slide Number Placeholder 3"/>
          <p:cNvSpPr>
            <a:spLocks noGrp="1"/>
          </p:cNvSpPr>
          <p:nvPr>
            <p:ph type="sldNum" sz="quarter" idx="12"/>
          </p:nvPr>
        </p:nvSpPr>
        <p:spPr/>
        <p:txBody>
          <a:bodyPr/>
          <a:lstStyle/>
          <a:p>
            <a:fld id="{1D72F41D-2C04-46BD-AD58-EC9976117EFB}" type="slidenum">
              <a:rPr lang="en-GB" smtClean="0"/>
              <a:t>10</a:t>
            </a:fld>
            <a:endParaRPr lang="en-GB" dirty="0"/>
          </a:p>
        </p:txBody>
      </p:sp>
      <p:sp>
        <p:nvSpPr>
          <p:cNvPr id="5" name="Wave 4">
            <a:extLst>
              <a:ext uri="{FF2B5EF4-FFF2-40B4-BE49-F238E27FC236}">
                <a16:creationId xmlns:a16="http://schemas.microsoft.com/office/drawing/2014/main" id="{5BAE10B3-A288-7D66-05C1-7A4A855C64DB}"/>
              </a:ext>
            </a:extLst>
          </p:cNvPr>
          <p:cNvSpPr/>
          <p:nvPr/>
        </p:nvSpPr>
        <p:spPr>
          <a:xfrm>
            <a:off x="3835400" y="1022290"/>
            <a:ext cx="7835900" cy="1252728"/>
          </a:xfrm>
          <a:prstGeom prst="wav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3">
                    <a:lumMod val="50000"/>
                  </a:schemeClr>
                </a:solidFill>
                <a:latin typeface="Tempus Sans ITC" panose="04020404030D07020202" pitchFamily="82" charset="0"/>
              </a:rPr>
              <a:t>See also our paper in </a:t>
            </a:r>
            <a:r>
              <a:rPr lang="en-GB" sz="2400" i="1" dirty="0">
                <a:solidFill>
                  <a:schemeClr val="accent3">
                    <a:lumMod val="50000"/>
                  </a:schemeClr>
                </a:solidFill>
                <a:latin typeface="Tempus Sans ITC" panose="04020404030D07020202" pitchFamily="82" charset="0"/>
              </a:rPr>
              <a:t>Development &amp; Practice </a:t>
            </a:r>
            <a:r>
              <a:rPr lang="en-GB" sz="2400" dirty="0">
                <a:solidFill>
                  <a:schemeClr val="accent3">
                    <a:lumMod val="50000"/>
                  </a:schemeClr>
                </a:solidFill>
                <a:latin typeface="Tempus Sans ITC" panose="04020404030D07020202" pitchFamily="82" charset="0"/>
              </a:rPr>
              <a:t>2023 (extreme working hours of child labourers)</a:t>
            </a:r>
          </a:p>
        </p:txBody>
      </p:sp>
      <p:sp>
        <p:nvSpPr>
          <p:cNvPr id="6" name="Content Placeholder 2">
            <a:extLst>
              <a:ext uri="{FF2B5EF4-FFF2-40B4-BE49-F238E27FC236}">
                <a16:creationId xmlns:a16="http://schemas.microsoft.com/office/drawing/2014/main" id="{C0C3F93D-3A6D-5E47-E582-39AF6C066C0F}"/>
              </a:ext>
            </a:extLst>
          </p:cNvPr>
          <p:cNvSpPr txBox="1">
            <a:spLocks/>
          </p:cNvSpPr>
          <p:nvPr/>
        </p:nvSpPr>
        <p:spPr>
          <a:xfrm>
            <a:off x="609600" y="1607420"/>
            <a:ext cx="11582400" cy="479338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buFont typeface="Arial" panose="020B0604020202020204" pitchFamily="34" charset="0"/>
              <a:buNone/>
            </a:pPr>
            <a:r>
              <a:rPr lang="en-GB" dirty="0"/>
              <a:t>		Table 2</a:t>
            </a:r>
          </a:p>
        </p:txBody>
      </p:sp>
      <p:graphicFrame>
        <p:nvGraphicFramePr>
          <p:cNvPr id="7" name="Table 6">
            <a:extLst>
              <a:ext uri="{FF2B5EF4-FFF2-40B4-BE49-F238E27FC236}">
                <a16:creationId xmlns:a16="http://schemas.microsoft.com/office/drawing/2014/main" id="{BA2628EC-D52A-1564-343D-6F3EF2D11EA6}"/>
              </a:ext>
            </a:extLst>
          </p:cNvPr>
          <p:cNvGraphicFramePr>
            <a:graphicFrameLocks noGrp="1"/>
          </p:cNvGraphicFramePr>
          <p:nvPr>
            <p:extLst>
              <p:ext uri="{D42A27DB-BD31-4B8C-83A1-F6EECF244321}">
                <p14:modId xmlns:p14="http://schemas.microsoft.com/office/powerpoint/2010/main" val="3825714801"/>
              </p:ext>
            </p:extLst>
          </p:nvPr>
        </p:nvGraphicFramePr>
        <p:xfrm>
          <a:off x="1803400" y="2115207"/>
          <a:ext cx="8940800" cy="4445407"/>
        </p:xfrm>
        <a:graphic>
          <a:graphicData uri="http://schemas.openxmlformats.org/drawingml/2006/table">
            <a:tbl>
              <a:tblPr>
                <a:tableStyleId>{5C22544A-7EE6-4342-B048-85BDC9FD1C3A}</a:tableStyleId>
              </a:tblPr>
              <a:tblGrid>
                <a:gridCol w="1788160">
                  <a:extLst>
                    <a:ext uri="{9D8B030D-6E8A-4147-A177-3AD203B41FA5}">
                      <a16:colId xmlns:a16="http://schemas.microsoft.com/office/drawing/2014/main" val="1111790555"/>
                    </a:ext>
                  </a:extLst>
                </a:gridCol>
                <a:gridCol w="1788160">
                  <a:extLst>
                    <a:ext uri="{9D8B030D-6E8A-4147-A177-3AD203B41FA5}">
                      <a16:colId xmlns:a16="http://schemas.microsoft.com/office/drawing/2014/main" val="1833886747"/>
                    </a:ext>
                  </a:extLst>
                </a:gridCol>
                <a:gridCol w="1554480">
                  <a:extLst>
                    <a:ext uri="{9D8B030D-6E8A-4147-A177-3AD203B41FA5}">
                      <a16:colId xmlns:a16="http://schemas.microsoft.com/office/drawing/2014/main" val="3221516519"/>
                    </a:ext>
                  </a:extLst>
                </a:gridCol>
                <a:gridCol w="233680">
                  <a:extLst>
                    <a:ext uri="{9D8B030D-6E8A-4147-A177-3AD203B41FA5}">
                      <a16:colId xmlns:a16="http://schemas.microsoft.com/office/drawing/2014/main" val="3199517380"/>
                    </a:ext>
                  </a:extLst>
                </a:gridCol>
                <a:gridCol w="1061720">
                  <a:extLst>
                    <a:ext uri="{9D8B030D-6E8A-4147-A177-3AD203B41FA5}">
                      <a16:colId xmlns:a16="http://schemas.microsoft.com/office/drawing/2014/main" val="2879649429"/>
                    </a:ext>
                  </a:extLst>
                </a:gridCol>
                <a:gridCol w="726440">
                  <a:extLst>
                    <a:ext uri="{9D8B030D-6E8A-4147-A177-3AD203B41FA5}">
                      <a16:colId xmlns:a16="http://schemas.microsoft.com/office/drawing/2014/main" val="3973993606"/>
                    </a:ext>
                  </a:extLst>
                </a:gridCol>
                <a:gridCol w="1788160">
                  <a:extLst>
                    <a:ext uri="{9D8B030D-6E8A-4147-A177-3AD203B41FA5}">
                      <a16:colId xmlns:a16="http://schemas.microsoft.com/office/drawing/2014/main" val="525856772"/>
                    </a:ext>
                  </a:extLst>
                </a:gridCol>
              </a:tblGrid>
              <a:tr h="497967">
                <a:tc gridSpan="7">
                  <a:txBody>
                    <a:bodyPr/>
                    <a:lstStyle/>
                    <a:p>
                      <a:pPr algn="l" fontAlgn="b"/>
                      <a:r>
                        <a:rPr lang="en-GB" sz="2400" u="none" strike="noStrike" dirty="0">
                          <a:effectLst/>
                        </a:rPr>
                        <a:t>Mean of the Cooking Variable and the Overall Total Childcare Time</a:t>
                      </a:r>
                      <a:endParaRPr lang="en-GB" sz="2400" b="0" i="0" u="none" strike="noStrike" dirty="0">
                        <a:effectLst/>
                        <a:latin typeface="Calibri" panose="020F0502020204030204" pitchFamily="34" charset="0"/>
                      </a:endParaRPr>
                    </a:p>
                  </a:txBody>
                  <a:tcPr marL="9525" marR="9525" marT="9525"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268561076"/>
                  </a:ext>
                </a:extLst>
              </a:tr>
              <a:tr h="289700">
                <a:tc gridSpan="4">
                  <a:txBody>
                    <a:bodyPr/>
                    <a:lstStyle/>
                    <a:p>
                      <a:pPr algn="l" fontAlgn="b"/>
                      <a:r>
                        <a:rPr lang="en-GB" sz="2400" b="1" u="none" strike="noStrike" dirty="0">
                          <a:effectLst/>
                        </a:rPr>
                        <a:t>India Time-Use 2019</a:t>
                      </a:r>
                      <a:endParaRPr lang="en-GB" sz="2400" b="1" i="0" u="none" strike="noStrike" dirty="0">
                        <a:effectLst/>
                        <a:latin typeface="Calibri" panose="020F0502020204030204" pitchFamily="34" charset="0"/>
                      </a:endParaRPr>
                    </a:p>
                  </a:txBody>
                  <a:tcPr marL="9525" marR="9525" marT="9525" marB="0" anchor="b"/>
                </a:tc>
                <a:tc hMerge="1">
                  <a:txBody>
                    <a:bodyPr/>
                    <a:lstStyle/>
                    <a:p>
                      <a:endParaRPr lang="en-GB"/>
                    </a:p>
                  </a:txBody>
                  <a:tcPr/>
                </a:tc>
                <a:tc hMerge="1">
                  <a:txBody>
                    <a:bodyPr/>
                    <a:lstStyle/>
                    <a:p>
                      <a:endParaRPr lang="en-GB"/>
                    </a:p>
                  </a:txBody>
                  <a:tcPr/>
                </a:tc>
                <a:tc hMerge="1">
                  <a:txBody>
                    <a:bodyPr/>
                    <a:lstStyle/>
                    <a:p>
                      <a:pPr algn="l" fontAlgn="b"/>
                      <a:endParaRPr lang="en-GB" sz="2400" b="0" i="0" u="none" strike="noStrike">
                        <a:effectLst/>
                        <a:latin typeface="Calibri" panose="020F0502020204030204" pitchFamily="34" charset="0"/>
                      </a:endParaRPr>
                    </a:p>
                  </a:txBody>
                  <a:tcPr marL="9525" marR="9525" marT="9525" marB="0" anchor="b"/>
                </a:tc>
                <a:tc gridSpan="2">
                  <a:txBody>
                    <a:bodyPr/>
                    <a:lstStyle/>
                    <a:p>
                      <a:pPr algn="l" fontAlgn="b"/>
                      <a:r>
                        <a:rPr lang="en-GB" sz="2400" b="1" i="0" u="none" strike="noStrike" dirty="0">
                          <a:effectLst/>
                          <a:latin typeface="Calibri" panose="020F0502020204030204" pitchFamily="34" charset="0"/>
                        </a:rPr>
                        <a:t>TABLE 3</a:t>
                      </a:r>
                    </a:p>
                  </a:txBody>
                  <a:tcPr marL="9525" marR="9525" marT="9525" marB="0" anchor="b"/>
                </a:tc>
                <a:tc hMerge="1">
                  <a:txBody>
                    <a:bodyPr/>
                    <a:lstStyle/>
                    <a:p>
                      <a:pPr algn="l" fontAlgn="b"/>
                      <a:endParaRPr lang="en-GB" sz="2400" b="0" i="0" u="none" strike="noStrike">
                        <a:effectLst/>
                        <a:latin typeface="Calibri" panose="020F0502020204030204" pitchFamily="34" charset="0"/>
                      </a:endParaRPr>
                    </a:p>
                  </a:txBody>
                  <a:tcPr marL="9525" marR="9525" marT="9525" marB="0" anchor="b"/>
                </a:tc>
                <a:tc>
                  <a:txBody>
                    <a:bodyPr/>
                    <a:lstStyle/>
                    <a:p>
                      <a:pPr algn="l" fontAlgn="b"/>
                      <a:endParaRPr lang="en-GB" sz="2400" b="0" i="0" u="none" strike="noStrike" dirty="0">
                        <a:effectLst/>
                        <a:latin typeface="Calibri" panose="020F0502020204030204" pitchFamily="34" charset="0"/>
                      </a:endParaRPr>
                    </a:p>
                  </a:txBody>
                  <a:tcPr marL="9525" marR="9525" marT="9525" marB="0" anchor="b"/>
                </a:tc>
                <a:extLst>
                  <a:ext uri="{0D108BD9-81ED-4DB2-BD59-A6C34878D82A}">
                    <a16:rowId xmlns:a16="http://schemas.microsoft.com/office/drawing/2014/main" val="704486744"/>
                  </a:ext>
                </a:extLst>
              </a:tr>
              <a:tr h="289700">
                <a:tc gridSpan="4">
                  <a:txBody>
                    <a:bodyPr/>
                    <a:lstStyle/>
                    <a:p>
                      <a:pPr algn="l" fontAlgn="b"/>
                      <a:r>
                        <a:rPr lang="en-GB" sz="2400" u="none" strike="noStrike" dirty="0">
                          <a:effectLst/>
                        </a:rPr>
                        <a:t>All adult respondents</a:t>
                      </a:r>
                      <a:endParaRPr lang="en-GB" sz="2400" b="0" i="0" u="none" strike="noStrike" dirty="0">
                        <a:effectLst/>
                        <a:latin typeface="Calibri" panose="020F0502020204030204" pitchFamily="34" charset="0"/>
                      </a:endParaRPr>
                    </a:p>
                  </a:txBody>
                  <a:tcPr marL="9525" marR="9525" marT="9525" marB="0" anchor="b"/>
                </a:tc>
                <a:tc hMerge="1">
                  <a:txBody>
                    <a:bodyPr/>
                    <a:lstStyle/>
                    <a:p>
                      <a:endParaRPr lang="en-GB"/>
                    </a:p>
                  </a:txBody>
                  <a:tcPr/>
                </a:tc>
                <a:tc hMerge="1">
                  <a:txBody>
                    <a:bodyPr/>
                    <a:lstStyle/>
                    <a:p>
                      <a:endParaRPr lang="en-GB"/>
                    </a:p>
                  </a:txBody>
                  <a:tcPr/>
                </a:tc>
                <a:tc hMerge="1">
                  <a:txBody>
                    <a:bodyPr/>
                    <a:lstStyle/>
                    <a:p>
                      <a:pPr algn="l" fontAlgn="b"/>
                      <a:endParaRPr lang="en-GB" sz="2400" b="0" i="0" u="none" strike="noStrike">
                        <a:effectLst/>
                        <a:latin typeface="Calibri" panose="020F0502020204030204" pitchFamily="34" charset="0"/>
                      </a:endParaRPr>
                    </a:p>
                  </a:txBody>
                  <a:tcPr marL="9525" marR="9525" marT="9525" marB="0" anchor="b"/>
                </a:tc>
                <a:tc gridSpan="2">
                  <a:txBody>
                    <a:bodyPr/>
                    <a:lstStyle/>
                    <a:p>
                      <a:pPr algn="l" fontAlgn="b"/>
                      <a:endParaRPr lang="en-GB" sz="2400" b="0" i="0" u="none" strike="noStrike">
                        <a:effectLst/>
                        <a:latin typeface="Calibri" panose="020F0502020204030204" pitchFamily="34" charset="0"/>
                      </a:endParaRPr>
                    </a:p>
                  </a:txBody>
                  <a:tcPr marL="9525" marR="9525" marT="9525" marB="0" anchor="b"/>
                </a:tc>
                <a:tc hMerge="1">
                  <a:txBody>
                    <a:bodyPr/>
                    <a:lstStyle/>
                    <a:p>
                      <a:pPr algn="l" fontAlgn="b"/>
                      <a:endParaRPr lang="en-GB" sz="2400" b="0" i="0" u="none" strike="noStrike">
                        <a:effectLst/>
                        <a:latin typeface="Calibri" panose="020F0502020204030204" pitchFamily="34" charset="0"/>
                      </a:endParaRPr>
                    </a:p>
                  </a:txBody>
                  <a:tcPr marL="9525" marR="9525" marT="9525" marB="0" anchor="b"/>
                </a:tc>
                <a:tc>
                  <a:txBody>
                    <a:bodyPr/>
                    <a:lstStyle/>
                    <a:p>
                      <a:pPr algn="l" fontAlgn="b"/>
                      <a:endParaRPr lang="en-GB" sz="2400" b="0" i="0" u="none" strike="noStrike">
                        <a:effectLst/>
                        <a:latin typeface="Calibri" panose="020F0502020204030204" pitchFamily="34" charset="0"/>
                      </a:endParaRPr>
                    </a:p>
                  </a:txBody>
                  <a:tcPr marL="9525" marR="9525" marT="9525" marB="0" anchor="b"/>
                </a:tc>
                <a:extLst>
                  <a:ext uri="{0D108BD9-81ED-4DB2-BD59-A6C34878D82A}">
                    <a16:rowId xmlns:a16="http://schemas.microsoft.com/office/drawing/2014/main" val="1971970374"/>
                  </a:ext>
                </a:extLst>
              </a:tr>
              <a:tr h="524357">
                <a:tc gridSpan="7">
                  <a:txBody>
                    <a:bodyPr/>
                    <a:lstStyle/>
                    <a:p>
                      <a:pPr algn="l" fontAlgn="b"/>
                      <a:r>
                        <a:rPr lang="en-GB" sz="2400" u="none" strike="noStrike" dirty="0">
                          <a:effectLst/>
                        </a:rPr>
                        <a:t>Please note the adults were aged 18+, or were married age 16 or 17 years.</a:t>
                      </a:r>
                      <a:endParaRPr lang="en-GB" sz="2400" b="0" i="0" u="none" strike="noStrike" dirty="0">
                        <a:effectLst/>
                        <a:latin typeface="Calibri" panose="020F0502020204030204" pitchFamily="34" charset="0"/>
                      </a:endParaRPr>
                    </a:p>
                  </a:txBody>
                  <a:tcPr marL="9525" marR="9525" marT="9525"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59962754"/>
                  </a:ext>
                </a:extLst>
              </a:tr>
              <a:tr h="289700">
                <a:tc>
                  <a:txBody>
                    <a:bodyPr/>
                    <a:lstStyle/>
                    <a:p>
                      <a:pPr algn="l" fontAlgn="b"/>
                      <a:endParaRPr lang="en-GB" sz="2400" b="0" i="0" u="none" strike="noStrike">
                        <a:effectLst/>
                        <a:latin typeface="Calibri" panose="020F0502020204030204" pitchFamily="34" charset="0"/>
                      </a:endParaRPr>
                    </a:p>
                  </a:txBody>
                  <a:tcPr marL="9525" marR="9525" marT="9525" marB="0" anchor="b"/>
                </a:tc>
                <a:tc>
                  <a:txBody>
                    <a:bodyPr/>
                    <a:lstStyle/>
                    <a:p>
                      <a:pPr algn="l" fontAlgn="b"/>
                      <a:endParaRPr lang="en-GB" sz="2400" b="0" i="0" u="none" strike="noStrike">
                        <a:effectLst/>
                        <a:latin typeface="Calibri" panose="020F0502020204030204" pitchFamily="34" charset="0"/>
                      </a:endParaRPr>
                    </a:p>
                  </a:txBody>
                  <a:tcPr marL="9525" marR="9525" marT="9525" marB="0" anchor="b"/>
                </a:tc>
                <a:tc>
                  <a:txBody>
                    <a:bodyPr/>
                    <a:lstStyle/>
                    <a:p>
                      <a:pPr algn="l" fontAlgn="b"/>
                      <a:r>
                        <a:rPr lang="en-GB" sz="2400" u="none" strike="noStrike" dirty="0">
                          <a:effectLst/>
                        </a:rPr>
                        <a:t> </a:t>
                      </a:r>
                      <a:endParaRPr lang="en-GB" sz="2400" b="0" i="0" u="none" strike="noStrike" dirty="0">
                        <a:effectLst/>
                        <a:latin typeface="Calibri" panose="020F0502020204030204" pitchFamily="34" charset="0"/>
                      </a:endParaRPr>
                    </a:p>
                  </a:txBody>
                  <a:tcPr marL="9525" marR="9525" marT="9525" marB="0" anchor="b"/>
                </a:tc>
                <a:tc gridSpan="4">
                  <a:txBody>
                    <a:bodyPr/>
                    <a:lstStyle/>
                    <a:p>
                      <a:pPr algn="l" fontAlgn="b"/>
                      <a:r>
                        <a:rPr lang="en-GB" sz="2400" u="none" strike="noStrike" dirty="0">
                          <a:effectLst/>
                        </a:rPr>
                        <a:t>Mean (Minutes On Recall Day)</a:t>
                      </a:r>
                      <a:endParaRPr lang="en-GB" sz="2400" b="0" i="0" u="none" strike="noStrike" dirty="0">
                        <a:effectLst/>
                        <a:latin typeface="Calibri" panose="020F0502020204030204" pitchFamily="34" charset="0"/>
                      </a:endParaRPr>
                    </a:p>
                  </a:txBody>
                  <a:tcPr marL="9525" marR="9525" marT="9525" marB="0" anchor="b"/>
                </a:tc>
                <a:tc hMerge="1">
                  <a:txBody>
                    <a:bodyPr/>
                    <a:lstStyle/>
                    <a:p>
                      <a:pPr algn="ctr" fontAlgn="b"/>
                      <a:r>
                        <a:rPr lang="en-GB" sz="2400" u="none" strike="noStrike">
                          <a:effectLst/>
                        </a:rPr>
                        <a:t>Mean</a:t>
                      </a:r>
                      <a:endParaRPr lang="en-GB" sz="2400" b="0" i="0" u="none" strike="noStrike">
                        <a:effectLst/>
                        <a:latin typeface="Calibri" panose="020F0502020204030204" pitchFamily="34" charset="0"/>
                      </a:endParaRPr>
                    </a:p>
                  </a:txBody>
                  <a:tcPr marL="9525" marR="9525" marT="9525" marB="0" anchor="b"/>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24913752"/>
                  </a:ext>
                </a:extLst>
              </a:tr>
              <a:tr h="579400">
                <a:tc>
                  <a:txBody>
                    <a:bodyPr/>
                    <a:lstStyle/>
                    <a:p>
                      <a:pPr algn="l" fontAlgn="b"/>
                      <a:endParaRPr lang="en-GB" sz="2400" b="0" i="0" u="none" strike="noStrike" dirty="0">
                        <a:effectLst/>
                        <a:latin typeface="Calibri" panose="020F0502020204030204" pitchFamily="34" charset="0"/>
                      </a:endParaRPr>
                    </a:p>
                  </a:txBody>
                  <a:tcPr marL="9525" marR="9525" marT="9525" marB="0" anchor="b"/>
                </a:tc>
                <a:tc>
                  <a:txBody>
                    <a:bodyPr/>
                    <a:lstStyle/>
                    <a:p>
                      <a:pPr algn="l" fontAlgn="b"/>
                      <a:endParaRPr lang="en-GB" sz="2400" b="0" i="0" u="none" strike="noStrike">
                        <a:effectLst/>
                        <a:latin typeface="Calibri" panose="020F0502020204030204" pitchFamily="34" charset="0"/>
                      </a:endParaRPr>
                    </a:p>
                  </a:txBody>
                  <a:tcPr marL="9525" marR="9525" marT="9525" marB="0" anchor="b"/>
                </a:tc>
                <a:tc>
                  <a:txBody>
                    <a:bodyPr/>
                    <a:lstStyle/>
                    <a:p>
                      <a:pPr algn="l" fontAlgn="b"/>
                      <a:r>
                        <a:rPr lang="en-GB" sz="2400" u="none" strike="noStrike" dirty="0">
                          <a:effectLst/>
                        </a:rPr>
                        <a:t> </a:t>
                      </a:r>
                      <a:endParaRPr lang="en-GB" sz="2400" b="0" i="0" u="none" strike="noStrike" dirty="0">
                        <a:effectLst/>
                        <a:latin typeface="Calibri" panose="020F0502020204030204" pitchFamily="34" charset="0"/>
                      </a:endParaRPr>
                    </a:p>
                  </a:txBody>
                  <a:tcPr marL="9525" marR="9525" marT="9525" marB="0" anchor="b"/>
                </a:tc>
                <a:tc rowSpan="2" gridSpan="2">
                  <a:txBody>
                    <a:bodyPr/>
                    <a:lstStyle/>
                    <a:p>
                      <a:pPr algn="ctr" fontAlgn="b"/>
                      <a:r>
                        <a:rPr lang="en-GB" sz="2400" u="none" strike="noStrike" dirty="0">
                          <a:effectLst/>
                        </a:rPr>
                        <a:t>Cooking time</a:t>
                      </a:r>
                    </a:p>
                  </a:txBody>
                  <a:tcPr marL="9525" marR="9525" marT="9525" marB="0" anchor="b"/>
                </a:tc>
                <a:tc rowSpan="2" hMerge="1">
                  <a:txBody>
                    <a:bodyPr/>
                    <a:lstStyle/>
                    <a:p>
                      <a:pPr algn="r" fontAlgn="b"/>
                      <a:r>
                        <a:rPr lang="en-GB" sz="2400" u="none" strike="noStrike">
                          <a:effectLst/>
                        </a:rPr>
                        <a:t>cooktime</a:t>
                      </a:r>
                      <a:endParaRPr lang="en-GB" sz="2400" b="0" i="0" u="none" strike="noStrike">
                        <a:effectLst/>
                        <a:latin typeface="Calibri" panose="020F0502020204030204" pitchFamily="34" charset="0"/>
                      </a:endParaRPr>
                    </a:p>
                  </a:txBody>
                  <a:tcPr marL="9525" marR="9525" marT="9525" marB="0" anchor="b"/>
                </a:tc>
                <a:tc gridSpan="2">
                  <a:txBody>
                    <a:bodyPr/>
                    <a:lstStyle/>
                    <a:p>
                      <a:pPr algn="ctr" fontAlgn="b"/>
                      <a:r>
                        <a:rPr lang="en-GB" sz="2400" u="none" strike="noStrike" dirty="0">
                          <a:effectLst/>
                        </a:rPr>
                        <a:t>All child care time</a:t>
                      </a:r>
                      <a:endParaRPr lang="en-GB" sz="2400" b="0" i="0" u="none" strike="noStrike" dirty="0">
                        <a:effectLst/>
                        <a:latin typeface="Calibri" panose="020F0502020204030204" pitchFamily="34" charset="0"/>
                      </a:endParaRPr>
                    </a:p>
                  </a:txBody>
                  <a:tcPr marL="9525" marR="9525" marT="9525" marB="0" anchor="b"/>
                </a:tc>
                <a:tc hMerge="1">
                  <a:txBody>
                    <a:bodyPr/>
                    <a:lstStyle/>
                    <a:p>
                      <a:pPr algn="r" fontAlgn="b"/>
                      <a:r>
                        <a:rPr lang="en-GB" sz="2400" u="none" strike="noStrike">
                          <a:effectLst/>
                        </a:rPr>
                        <a:t>allchildcaretime</a:t>
                      </a:r>
                      <a:endParaRPr lang="en-GB" sz="2400" b="0" i="0" u="none" strike="noStrike">
                        <a:effectLst/>
                        <a:latin typeface="Calibri" panose="020F0502020204030204" pitchFamily="34" charset="0"/>
                      </a:endParaRPr>
                    </a:p>
                  </a:txBody>
                  <a:tcPr marL="9525" marR="9525" marT="9525" marB="0" anchor="b"/>
                </a:tc>
                <a:extLst>
                  <a:ext uri="{0D108BD9-81ED-4DB2-BD59-A6C34878D82A}">
                    <a16:rowId xmlns:a16="http://schemas.microsoft.com/office/drawing/2014/main" val="648038277"/>
                  </a:ext>
                </a:extLst>
              </a:tr>
              <a:tr h="289700">
                <a:tc>
                  <a:txBody>
                    <a:bodyPr/>
                    <a:lstStyle/>
                    <a:p>
                      <a:pPr algn="l" fontAlgn="b"/>
                      <a:endParaRPr lang="en-GB" sz="2400" b="0" i="0" u="none" strike="noStrike">
                        <a:effectLst/>
                        <a:latin typeface="Calibri" panose="020F0502020204030204" pitchFamily="34" charset="0"/>
                      </a:endParaRPr>
                    </a:p>
                  </a:txBody>
                  <a:tcPr marL="9525" marR="9525" marT="9525" marB="0" anchor="b"/>
                </a:tc>
                <a:tc>
                  <a:txBody>
                    <a:bodyPr/>
                    <a:lstStyle/>
                    <a:p>
                      <a:pPr algn="l" fontAlgn="b"/>
                      <a:endParaRPr lang="en-GB" sz="2400" b="0" i="0" u="none" strike="noStrike" dirty="0">
                        <a:effectLst/>
                        <a:latin typeface="Calibri" panose="020F0502020204030204" pitchFamily="34" charset="0"/>
                      </a:endParaRPr>
                    </a:p>
                  </a:txBody>
                  <a:tcPr marL="9525" marR="9525" marT="9525" marB="0" anchor="b"/>
                </a:tc>
                <a:tc>
                  <a:txBody>
                    <a:bodyPr/>
                    <a:lstStyle/>
                    <a:p>
                      <a:pPr algn="l" fontAlgn="b"/>
                      <a:endParaRPr lang="en-GB" sz="2400" b="0" i="0" u="none" strike="noStrike" dirty="0">
                        <a:effectLst/>
                        <a:latin typeface="Calibri" panose="020F0502020204030204" pitchFamily="34" charset="0"/>
                      </a:endParaRPr>
                    </a:p>
                  </a:txBody>
                  <a:tcPr marL="9525" marR="9525" marT="9525" marB="0" anchor="b"/>
                </a:tc>
                <a:tc gridSpan="2" vMerge="1">
                  <a:txBody>
                    <a:bodyPr/>
                    <a:lstStyle/>
                    <a:p>
                      <a:pPr algn="l" fontAlgn="b"/>
                      <a:r>
                        <a:rPr lang="en-GB" sz="2400" u="none" strike="noStrike" dirty="0">
                          <a:effectLst/>
                        </a:rPr>
                        <a:t> </a:t>
                      </a:r>
                      <a:endParaRPr lang="en-GB" sz="2400" b="0" i="0" u="none" strike="noStrike" dirty="0">
                        <a:effectLst/>
                        <a:latin typeface="Calibri" panose="020F0502020204030204" pitchFamily="34" charset="0"/>
                      </a:endParaRPr>
                    </a:p>
                  </a:txBody>
                  <a:tcPr marL="9525" marR="9525" marT="9525" marB="0" anchor="b"/>
                </a:tc>
                <a:tc hMerge="1" vMerge="1">
                  <a:txBody>
                    <a:bodyPr/>
                    <a:lstStyle/>
                    <a:p>
                      <a:pPr algn="l" fontAlgn="b"/>
                      <a:r>
                        <a:rPr lang="en-GB" sz="2400" u="none" strike="noStrike">
                          <a:effectLst/>
                        </a:rPr>
                        <a:t> </a:t>
                      </a:r>
                      <a:endParaRPr lang="en-GB" sz="2400" b="0" i="0" u="none" strike="noStrike">
                        <a:effectLst/>
                        <a:latin typeface="Calibri" panose="020F0502020204030204" pitchFamily="34" charset="0"/>
                      </a:endParaRPr>
                    </a:p>
                  </a:txBody>
                  <a:tcPr marL="9525" marR="9525" marT="9525" marB="0" anchor="b"/>
                </a:tc>
                <a:tc gridSpan="2">
                  <a:txBody>
                    <a:bodyPr/>
                    <a:lstStyle/>
                    <a:p>
                      <a:pPr algn="l" fontAlgn="b"/>
                      <a:r>
                        <a:rPr lang="en-GB" sz="2400" u="none" strike="noStrike">
                          <a:effectLst/>
                        </a:rPr>
                        <a:t> </a:t>
                      </a:r>
                      <a:endParaRPr lang="en-GB" sz="2400" b="0" i="0" u="none" strike="noStrike">
                        <a:effectLst/>
                        <a:latin typeface="Calibri" panose="020F0502020204030204" pitchFamily="34" charset="0"/>
                      </a:endParaRPr>
                    </a:p>
                  </a:txBody>
                  <a:tcPr marL="9525" marR="9525" marT="9525" marB="0" anchor="b"/>
                </a:tc>
                <a:tc hMerge="1">
                  <a:txBody>
                    <a:bodyPr/>
                    <a:lstStyle/>
                    <a:p>
                      <a:pPr algn="l" fontAlgn="b"/>
                      <a:r>
                        <a:rPr lang="en-GB" sz="2400" u="none" strike="noStrike">
                          <a:effectLst/>
                        </a:rPr>
                        <a:t> </a:t>
                      </a:r>
                      <a:endParaRPr lang="en-GB" sz="2400" b="0" i="0" u="none" strike="noStrike">
                        <a:effectLst/>
                        <a:latin typeface="Calibri" panose="020F0502020204030204" pitchFamily="34" charset="0"/>
                      </a:endParaRPr>
                    </a:p>
                  </a:txBody>
                  <a:tcPr marL="9525" marR="9525" marT="9525" marB="0" anchor="b"/>
                </a:tc>
                <a:extLst>
                  <a:ext uri="{0D108BD9-81ED-4DB2-BD59-A6C34878D82A}">
                    <a16:rowId xmlns:a16="http://schemas.microsoft.com/office/drawing/2014/main" val="622723177"/>
                  </a:ext>
                </a:extLst>
              </a:tr>
              <a:tr h="289700">
                <a:tc>
                  <a:txBody>
                    <a:bodyPr/>
                    <a:lstStyle/>
                    <a:p>
                      <a:pPr algn="l" fontAlgn="b"/>
                      <a:endParaRPr lang="en-GB" sz="2400" b="0" i="0" u="none" strike="noStrike">
                        <a:effectLst/>
                        <a:latin typeface="Calibri" panose="020F0502020204030204" pitchFamily="34" charset="0"/>
                      </a:endParaRPr>
                    </a:p>
                  </a:txBody>
                  <a:tcPr marL="9525" marR="9525" marT="9525" marB="0" anchor="b"/>
                </a:tc>
                <a:tc>
                  <a:txBody>
                    <a:bodyPr/>
                    <a:lstStyle/>
                    <a:p>
                      <a:pPr algn="l" fontAlgn="b"/>
                      <a:endParaRPr lang="en-GB" sz="2400" b="0" i="0" u="none" strike="noStrike">
                        <a:effectLst/>
                        <a:latin typeface="Calibri" panose="020F0502020204030204" pitchFamily="34" charset="0"/>
                      </a:endParaRPr>
                    </a:p>
                  </a:txBody>
                  <a:tcPr marL="9525" marR="9525" marT="9525" marB="0" anchor="b"/>
                </a:tc>
                <a:tc>
                  <a:txBody>
                    <a:bodyPr/>
                    <a:lstStyle/>
                    <a:p>
                      <a:pPr algn="l" fontAlgn="b"/>
                      <a:r>
                        <a:rPr lang="en-GB" sz="2400" u="none" strike="noStrike" dirty="0">
                          <a:effectLst/>
                        </a:rPr>
                        <a:t>  Male</a:t>
                      </a:r>
                      <a:endParaRPr lang="en-GB" sz="2400" b="0" i="0" u="none" strike="noStrike" dirty="0">
                        <a:effectLst/>
                        <a:latin typeface="Calibri" panose="020F0502020204030204" pitchFamily="34" charset="0"/>
                      </a:endParaRPr>
                    </a:p>
                  </a:txBody>
                  <a:tcPr marL="9525" marR="9525" marT="9525" marB="0" anchor="b"/>
                </a:tc>
                <a:tc gridSpan="2">
                  <a:txBody>
                    <a:bodyPr/>
                    <a:lstStyle/>
                    <a:p>
                      <a:pPr algn="ctr" fontAlgn="b"/>
                      <a:r>
                        <a:rPr lang="en-GB" sz="2400" u="none" strike="noStrike" dirty="0">
                          <a:effectLst/>
                        </a:rPr>
                        <a:t>2.0</a:t>
                      </a:r>
                      <a:endParaRPr lang="en-GB" sz="2400" b="0" i="0" u="none" strike="noStrike" dirty="0">
                        <a:effectLst/>
                        <a:latin typeface="Calibri" panose="020F0502020204030204" pitchFamily="34" charset="0"/>
                      </a:endParaRPr>
                    </a:p>
                  </a:txBody>
                  <a:tcPr marL="9525" marR="9525" marT="9525" marB="0" anchor="b"/>
                </a:tc>
                <a:tc hMerge="1">
                  <a:txBody>
                    <a:bodyPr/>
                    <a:lstStyle/>
                    <a:p>
                      <a:pPr algn="r" fontAlgn="b"/>
                      <a:r>
                        <a:rPr lang="en-GB" sz="2400" u="none" strike="noStrike">
                          <a:effectLst/>
                        </a:rPr>
                        <a:t>2.0</a:t>
                      </a:r>
                      <a:endParaRPr lang="en-GB" sz="2400" b="0" i="0" u="none" strike="noStrike">
                        <a:effectLst/>
                        <a:latin typeface="Calibri" panose="020F0502020204030204" pitchFamily="34" charset="0"/>
                      </a:endParaRPr>
                    </a:p>
                  </a:txBody>
                  <a:tcPr marL="9525" marR="9525" marT="9525" marB="0" anchor="b"/>
                </a:tc>
                <a:tc gridSpan="2">
                  <a:txBody>
                    <a:bodyPr/>
                    <a:lstStyle/>
                    <a:p>
                      <a:pPr algn="ctr" fontAlgn="b"/>
                      <a:r>
                        <a:rPr lang="en-GB" sz="2400" u="none" strike="noStrike" dirty="0">
                          <a:effectLst/>
                        </a:rPr>
                        <a:t>20.1</a:t>
                      </a:r>
                      <a:endParaRPr lang="en-GB" sz="2400" b="0" i="0" u="none" strike="noStrike" dirty="0">
                        <a:effectLst/>
                        <a:latin typeface="Calibri" panose="020F0502020204030204" pitchFamily="34" charset="0"/>
                      </a:endParaRPr>
                    </a:p>
                  </a:txBody>
                  <a:tcPr marL="9525" marR="9525" marT="9525" marB="0" anchor="b"/>
                </a:tc>
                <a:tc hMerge="1">
                  <a:txBody>
                    <a:bodyPr/>
                    <a:lstStyle/>
                    <a:p>
                      <a:pPr algn="r" fontAlgn="b"/>
                      <a:r>
                        <a:rPr lang="en-GB" sz="2400" u="none" strike="noStrike">
                          <a:effectLst/>
                        </a:rPr>
                        <a:t>20.1</a:t>
                      </a:r>
                      <a:endParaRPr lang="en-GB" sz="2400" b="0" i="0" u="none" strike="noStrike">
                        <a:effectLst/>
                        <a:latin typeface="Calibri" panose="020F0502020204030204" pitchFamily="34" charset="0"/>
                      </a:endParaRPr>
                    </a:p>
                  </a:txBody>
                  <a:tcPr marL="9525" marR="9525" marT="9525" marB="0" anchor="b"/>
                </a:tc>
                <a:extLst>
                  <a:ext uri="{0D108BD9-81ED-4DB2-BD59-A6C34878D82A}">
                    <a16:rowId xmlns:a16="http://schemas.microsoft.com/office/drawing/2014/main" val="1822003247"/>
                  </a:ext>
                </a:extLst>
              </a:tr>
              <a:tr h="289700">
                <a:tc>
                  <a:txBody>
                    <a:bodyPr/>
                    <a:lstStyle/>
                    <a:p>
                      <a:pPr algn="l" fontAlgn="b"/>
                      <a:endParaRPr lang="en-GB" sz="2400" b="0" i="0" u="none" strike="noStrike">
                        <a:effectLst/>
                        <a:latin typeface="Calibri" panose="020F0502020204030204" pitchFamily="34" charset="0"/>
                      </a:endParaRPr>
                    </a:p>
                  </a:txBody>
                  <a:tcPr marL="9525" marR="9525" marT="9525" marB="0" anchor="b"/>
                </a:tc>
                <a:tc>
                  <a:txBody>
                    <a:bodyPr/>
                    <a:lstStyle/>
                    <a:p>
                      <a:pPr algn="l" fontAlgn="b"/>
                      <a:endParaRPr lang="en-GB" sz="2400" b="0" i="0" u="none" strike="noStrike">
                        <a:effectLst/>
                        <a:latin typeface="Calibri" panose="020F0502020204030204" pitchFamily="34" charset="0"/>
                      </a:endParaRPr>
                    </a:p>
                  </a:txBody>
                  <a:tcPr marL="9525" marR="9525" marT="9525" marB="0" anchor="b"/>
                </a:tc>
                <a:tc>
                  <a:txBody>
                    <a:bodyPr/>
                    <a:lstStyle/>
                    <a:p>
                      <a:pPr algn="l" fontAlgn="b"/>
                      <a:r>
                        <a:rPr lang="en-GB" sz="2400" u="none" strike="noStrike">
                          <a:effectLst/>
                        </a:rPr>
                        <a:t>  Female</a:t>
                      </a:r>
                      <a:endParaRPr lang="en-GB" sz="2400" b="0" i="0" u="none" strike="noStrike">
                        <a:effectLst/>
                        <a:latin typeface="Calibri" panose="020F0502020204030204" pitchFamily="34" charset="0"/>
                      </a:endParaRPr>
                    </a:p>
                  </a:txBody>
                  <a:tcPr marL="9525" marR="9525" marT="9525" marB="0" anchor="b"/>
                </a:tc>
                <a:tc gridSpan="2">
                  <a:txBody>
                    <a:bodyPr/>
                    <a:lstStyle/>
                    <a:p>
                      <a:pPr algn="ctr" fontAlgn="b"/>
                      <a:r>
                        <a:rPr lang="en-GB" sz="2400" u="none" strike="noStrike" dirty="0">
                          <a:effectLst/>
                        </a:rPr>
                        <a:t>121.9</a:t>
                      </a:r>
                      <a:endParaRPr lang="en-GB" sz="2400" b="0" i="0" u="none" strike="noStrike" dirty="0">
                        <a:effectLst/>
                        <a:latin typeface="Calibri" panose="020F0502020204030204" pitchFamily="34" charset="0"/>
                      </a:endParaRPr>
                    </a:p>
                  </a:txBody>
                  <a:tcPr marL="9525" marR="9525" marT="9525" marB="0" anchor="b"/>
                </a:tc>
                <a:tc hMerge="1">
                  <a:txBody>
                    <a:bodyPr/>
                    <a:lstStyle/>
                    <a:p>
                      <a:pPr algn="r" fontAlgn="b"/>
                      <a:r>
                        <a:rPr lang="en-GB" sz="2400" u="none" strike="noStrike">
                          <a:effectLst/>
                        </a:rPr>
                        <a:t>121.9</a:t>
                      </a:r>
                      <a:endParaRPr lang="en-GB" sz="2400" b="0" i="0" u="none" strike="noStrike">
                        <a:effectLst/>
                        <a:latin typeface="Calibri" panose="020F0502020204030204" pitchFamily="34" charset="0"/>
                      </a:endParaRPr>
                    </a:p>
                  </a:txBody>
                  <a:tcPr marL="9525" marR="9525" marT="9525" marB="0" anchor="b"/>
                </a:tc>
                <a:tc gridSpan="2">
                  <a:txBody>
                    <a:bodyPr/>
                    <a:lstStyle/>
                    <a:p>
                      <a:pPr algn="ctr" fontAlgn="b"/>
                      <a:r>
                        <a:rPr lang="en-GB" sz="2400" u="none" strike="noStrike" dirty="0">
                          <a:effectLst/>
                        </a:rPr>
                        <a:t>176.3</a:t>
                      </a:r>
                      <a:endParaRPr lang="en-GB" sz="2400" b="0" i="0" u="none" strike="noStrike" dirty="0">
                        <a:effectLst/>
                        <a:latin typeface="Calibri" panose="020F0502020204030204" pitchFamily="34" charset="0"/>
                      </a:endParaRPr>
                    </a:p>
                  </a:txBody>
                  <a:tcPr marL="9525" marR="9525" marT="9525" marB="0" anchor="b"/>
                </a:tc>
                <a:tc hMerge="1">
                  <a:txBody>
                    <a:bodyPr/>
                    <a:lstStyle/>
                    <a:p>
                      <a:pPr algn="r" fontAlgn="b"/>
                      <a:r>
                        <a:rPr lang="en-GB" sz="2400" u="none" strike="noStrike">
                          <a:effectLst/>
                        </a:rPr>
                        <a:t>176.3</a:t>
                      </a:r>
                      <a:endParaRPr lang="en-GB" sz="2400" b="0" i="0" u="none" strike="noStrike">
                        <a:effectLst/>
                        <a:latin typeface="Calibri" panose="020F0502020204030204" pitchFamily="34" charset="0"/>
                      </a:endParaRPr>
                    </a:p>
                  </a:txBody>
                  <a:tcPr marL="9525" marR="9525" marT="9525" marB="0" anchor="b"/>
                </a:tc>
                <a:extLst>
                  <a:ext uri="{0D108BD9-81ED-4DB2-BD59-A6C34878D82A}">
                    <a16:rowId xmlns:a16="http://schemas.microsoft.com/office/drawing/2014/main" val="594106903"/>
                  </a:ext>
                </a:extLst>
              </a:tr>
              <a:tr h="289700">
                <a:tc>
                  <a:txBody>
                    <a:bodyPr/>
                    <a:lstStyle/>
                    <a:p>
                      <a:pPr algn="l" fontAlgn="b"/>
                      <a:endParaRPr lang="en-GB" sz="2400" b="0" i="0" u="none" strike="noStrike">
                        <a:effectLst/>
                        <a:latin typeface="Calibri" panose="020F0502020204030204" pitchFamily="34" charset="0"/>
                      </a:endParaRPr>
                    </a:p>
                  </a:txBody>
                  <a:tcPr marL="9525" marR="9525" marT="9525" marB="0" anchor="b"/>
                </a:tc>
                <a:tc>
                  <a:txBody>
                    <a:bodyPr/>
                    <a:lstStyle/>
                    <a:p>
                      <a:pPr algn="l" fontAlgn="b"/>
                      <a:endParaRPr lang="en-GB" sz="2400" b="0" i="0" u="none" strike="noStrike">
                        <a:effectLst/>
                        <a:latin typeface="Calibri" panose="020F0502020204030204" pitchFamily="34" charset="0"/>
                      </a:endParaRPr>
                    </a:p>
                  </a:txBody>
                  <a:tcPr marL="9525" marR="9525" marT="9525" marB="0" anchor="b"/>
                </a:tc>
                <a:tc>
                  <a:txBody>
                    <a:bodyPr/>
                    <a:lstStyle/>
                    <a:p>
                      <a:pPr algn="l" fontAlgn="b"/>
                      <a:r>
                        <a:rPr lang="en-GB" sz="2400" u="none" strike="noStrike">
                          <a:effectLst/>
                        </a:rPr>
                        <a:t>  Total</a:t>
                      </a:r>
                      <a:endParaRPr lang="en-GB" sz="2400" b="0" i="0" u="none" strike="noStrike">
                        <a:effectLst/>
                        <a:latin typeface="Calibri" panose="020F0502020204030204" pitchFamily="34" charset="0"/>
                      </a:endParaRPr>
                    </a:p>
                  </a:txBody>
                  <a:tcPr marL="9525" marR="9525" marT="9525" marB="0" anchor="b"/>
                </a:tc>
                <a:tc gridSpan="2">
                  <a:txBody>
                    <a:bodyPr/>
                    <a:lstStyle/>
                    <a:p>
                      <a:pPr algn="ctr" fontAlgn="b"/>
                      <a:r>
                        <a:rPr lang="en-GB" sz="2400" u="none" strike="noStrike" dirty="0">
                          <a:effectLst/>
                        </a:rPr>
                        <a:t>61.9</a:t>
                      </a:r>
                      <a:endParaRPr lang="en-GB" sz="2400" b="0" i="0" u="none" strike="noStrike" dirty="0">
                        <a:effectLst/>
                        <a:latin typeface="Calibri" panose="020F0502020204030204" pitchFamily="34" charset="0"/>
                      </a:endParaRPr>
                    </a:p>
                  </a:txBody>
                  <a:tcPr marL="9525" marR="9525" marT="9525" marB="0" anchor="b"/>
                </a:tc>
                <a:tc hMerge="1">
                  <a:txBody>
                    <a:bodyPr/>
                    <a:lstStyle/>
                    <a:p>
                      <a:pPr algn="r" fontAlgn="b"/>
                      <a:r>
                        <a:rPr lang="en-GB" sz="2400" u="none" strike="noStrike">
                          <a:effectLst/>
                        </a:rPr>
                        <a:t>61.9</a:t>
                      </a:r>
                      <a:endParaRPr lang="en-GB" sz="2400" b="0" i="0" u="none" strike="noStrike">
                        <a:effectLst/>
                        <a:latin typeface="Calibri" panose="020F0502020204030204" pitchFamily="34" charset="0"/>
                      </a:endParaRPr>
                    </a:p>
                  </a:txBody>
                  <a:tcPr marL="9525" marR="9525" marT="9525" marB="0" anchor="b"/>
                </a:tc>
                <a:tc gridSpan="2">
                  <a:txBody>
                    <a:bodyPr/>
                    <a:lstStyle/>
                    <a:p>
                      <a:pPr algn="ctr" fontAlgn="b"/>
                      <a:r>
                        <a:rPr lang="en-GB" sz="2400" u="none" strike="noStrike" dirty="0">
                          <a:effectLst/>
                        </a:rPr>
                        <a:t>98.1</a:t>
                      </a:r>
                      <a:endParaRPr lang="en-GB" sz="2400" b="0" i="0" u="none" strike="noStrike" dirty="0">
                        <a:effectLst/>
                        <a:latin typeface="Calibri" panose="020F0502020204030204" pitchFamily="34" charset="0"/>
                      </a:endParaRPr>
                    </a:p>
                  </a:txBody>
                  <a:tcPr marL="9525" marR="9525" marT="9525" marB="0" anchor="b"/>
                </a:tc>
                <a:tc hMerge="1">
                  <a:txBody>
                    <a:bodyPr/>
                    <a:lstStyle/>
                    <a:p>
                      <a:pPr algn="r" fontAlgn="b"/>
                      <a:r>
                        <a:rPr lang="en-GB" sz="2400" u="none" strike="noStrike" dirty="0">
                          <a:effectLst/>
                        </a:rPr>
                        <a:t>98.1</a:t>
                      </a:r>
                      <a:endParaRPr lang="en-GB" sz="2400" b="0" i="0" u="none" strike="noStrike" dirty="0">
                        <a:effectLst/>
                        <a:latin typeface="Calibri" panose="020F0502020204030204" pitchFamily="34" charset="0"/>
                      </a:endParaRPr>
                    </a:p>
                  </a:txBody>
                  <a:tcPr marL="9525" marR="9525" marT="9525" marB="0" anchor="b"/>
                </a:tc>
                <a:extLst>
                  <a:ext uri="{0D108BD9-81ED-4DB2-BD59-A6C34878D82A}">
                    <a16:rowId xmlns:a16="http://schemas.microsoft.com/office/drawing/2014/main" val="1185869083"/>
                  </a:ext>
                </a:extLst>
              </a:tr>
            </a:tbl>
          </a:graphicData>
        </a:graphic>
      </p:graphicFrame>
      <p:pic>
        <p:nvPicPr>
          <p:cNvPr id="3" name="Picture 2">
            <a:extLst>
              <a:ext uri="{FF2B5EF4-FFF2-40B4-BE49-F238E27FC236}">
                <a16:creationId xmlns:a16="http://schemas.microsoft.com/office/drawing/2014/main" id="{42A815E5-B342-D43C-2546-7CF3B97217D0}"/>
              </a:ext>
            </a:extLst>
          </p:cNvPr>
          <p:cNvPicPr>
            <a:picLocks noChangeAspect="1"/>
          </p:cNvPicPr>
          <p:nvPr/>
        </p:nvPicPr>
        <p:blipFill>
          <a:blip r:embed="rId2"/>
          <a:stretch>
            <a:fillRect/>
          </a:stretch>
        </p:blipFill>
        <p:spPr>
          <a:xfrm>
            <a:off x="1803400" y="4464415"/>
            <a:ext cx="3486649" cy="2095699"/>
          </a:xfrm>
          <a:prstGeom prst="rect">
            <a:avLst/>
          </a:prstGeom>
        </p:spPr>
      </p:pic>
    </p:spTree>
    <p:extLst>
      <p:ext uri="{BB962C8B-B14F-4D97-AF65-F5344CB8AC3E}">
        <p14:creationId xmlns:p14="http://schemas.microsoft.com/office/powerpoint/2010/main" val="2356588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Findings – Indian time-use survey 2019</a:t>
            </a:r>
          </a:p>
        </p:txBody>
      </p:sp>
      <p:graphicFrame>
        <p:nvGraphicFramePr>
          <p:cNvPr id="6" name="Content Placeholder 5">
            <a:extLst>
              <a:ext uri="{FF2B5EF4-FFF2-40B4-BE49-F238E27FC236}">
                <a16:creationId xmlns:a16="http://schemas.microsoft.com/office/drawing/2014/main" id="{99DCE157-7021-F60E-018C-6287F05E46A3}"/>
              </a:ext>
            </a:extLst>
          </p:cNvPr>
          <p:cNvGraphicFramePr>
            <a:graphicFrameLocks noGrp="1"/>
          </p:cNvGraphicFramePr>
          <p:nvPr>
            <p:ph idx="1"/>
            <p:extLst>
              <p:ext uri="{D42A27DB-BD31-4B8C-83A1-F6EECF244321}">
                <p14:modId xmlns:p14="http://schemas.microsoft.com/office/powerpoint/2010/main" val="3394404905"/>
              </p:ext>
            </p:extLst>
          </p:nvPr>
        </p:nvGraphicFramePr>
        <p:xfrm>
          <a:off x="2492829" y="2522695"/>
          <a:ext cx="8882742" cy="4072495"/>
        </p:xfrm>
        <a:graphic>
          <a:graphicData uri="http://schemas.openxmlformats.org/drawingml/2006/table">
            <a:tbl>
              <a:tblPr>
                <a:tableStyleId>{5C22544A-7EE6-4342-B048-85BDC9FD1C3A}</a:tableStyleId>
              </a:tblPr>
              <a:tblGrid>
                <a:gridCol w="592182">
                  <a:extLst>
                    <a:ext uri="{9D8B030D-6E8A-4147-A177-3AD203B41FA5}">
                      <a16:colId xmlns:a16="http://schemas.microsoft.com/office/drawing/2014/main" val="346302249"/>
                    </a:ext>
                  </a:extLst>
                </a:gridCol>
                <a:gridCol w="293189">
                  <a:extLst>
                    <a:ext uri="{9D8B030D-6E8A-4147-A177-3AD203B41FA5}">
                      <a16:colId xmlns:a16="http://schemas.microsoft.com/office/drawing/2014/main" val="849827045"/>
                    </a:ext>
                  </a:extLst>
                </a:gridCol>
                <a:gridCol w="891175">
                  <a:extLst>
                    <a:ext uri="{9D8B030D-6E8A-4147-A177-3AD203B41FA5}">
                      <a16:colId xmlns:a16="http://schemas.microsoft.com/office/drawing/2014/main" val="1122114454"/>
                    </a:ext>
                  </a:extLst>
                </a:gridCol>
                <a:gridCol w="1184366">
                  <a:extLst>
                    <a:ext uri="{9D8B030D-6E8A-4147-A177-3AD203B41FA5}">
                      <a16:colId xmlns:a16="http://schemas.microsoft.com/office/drawing/2014/main" val="598182961"/>
                    </a:ext>
                  </a:extLst>
                </a:gridCol>
                <a:gridCol w="1184366">
                  <a:extLst>
                    <a:ext uri="{9D8B030D-6E8A-4147-A177-3AD203B41FA5}">
                      <a16:colId xmlns:a16="http://schemas.microsoft.com/office/drawing/2014/main" val="2799211400"/>
                    </a:ext>
                  </a:extLst>
                </a:gridCol>
                <a:gridCol w="1184366">
                  <a:extLst>
                    <a:ext uri="{9D8B030D-6E8A-4147-A177-3AD203B41FA5}">
                      <a16:colId xmlns:a16="http://schemas.microsoft.com/office/drawing/2014/main" val="1697648772"/>
                    </a:ext>
                  </a:extLst>
                </a:gridCol>
                <a:gridCol w="1184366">
                  <a:extLst>
                    <a:ext uri="{9D8B030D-6E8A-4147-A177-3AD203B41FA5}">
                      <a16:colId xmlns:a16="http://schemas.microsoft.com/office/drawing/2014/main" val="790967680"/>
                    </a:ext>
                  </a:extLst>
                </a:gridCol>
                <a:gridCol w="1184366">
                  <a:extLst>
                    <a:ext uri="{9D8B030D-6E8A-4147-A177-3AD203B41FA5}">
                      <a16:colId xmlns:a16="http://schemas.microsoft.com/office/drawing/2014/main" val="4255115211"/>
                    </a:ext>
                  </a:extLst>
                </a:gridCol>
                <a:gridCol w="1184366">
                  <a:extLst>
                    <a:ext uri="{9D8B030D-6E8A-4147-A177-3AD203B41FA5}">
                      <a16:colId xmlns:a16="http://schemas.microsoft.com/office/drawing/2014/main" val="4035737882"/>
                    </a:ext>
                  </a:extLst>
                </a:gridCol>
              </a:tblGrid>
              <a:tr h="412669">
                <a:tc gridSpan="6">
                  <a:txBody>
                    <a:bodyPr/>
                    <a:lstStyle/>
                    <a:p>
                      <a:pPr algn="l" fontAlgn="b"/>
                      <a:r>
                        <a:rPr lang="en-GB" sz="1800" u="none" strike="noStrike" dirty="0">
                          <a:effectLst/>
                        </a:rPr>
                        <a:t>Mean of the cooking variable and the overall total childcare time</a:t>
                      </a:r>
                      <a:endParaRPr lang="en-GB" sz="1800" b="0" i="0" u="none" strike="noStrike" dirty="0">
                        <a:effectLst/>
                        <a:latin typeface="Calibri" panose="020F0502020204030204" pitchFamily="34" charset="0"/>
                      </a:endParaRPr>
                    </a:p>
                  </a:txBody>
                  <a:tcPr marL="4763" marR="4763" marT="4763"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r>
                        <a:rPr lang="en-GB" sz="2800" b="1" i="0" u="none" strike="noStrike" dirty="0">
                          <a:effectLst/>
                          <a:latin typeface="Calibri" panose="020F0502020204030204" pitchFamily="34" charset="0"/>
                        </a:rPr>
                        <a:t>TABLE 3</a:t>
                      </a:r>
                    </a:p>
                  </a:txBody>
                  <a:tcPr marL="4763" marR="4763" marT="4763" marB="0" anchor="b"/>
                </a:tc>
                <a:tc>
                  <a:txBody>
                    <a:bodyPr/>
                    <a:lstStyle/>
                    <a:p>
                      <a:pPr algn="l" fontAlgn="b"/>
                      <a:r>
                        <a:rPr lang="en-GB" sz="1800" b="0" i="0" u="none" strike="noStrike" dirty="0">
                          <a:effectLst/>
                          <a:latin typeface="Calibri" panose="020F0502020204030204" pitchFamily="34" charset="0"/>
                        </a:rPr>
                        <a:t>- details</a:t>
                      </a:r>
                    </a:p>
                  </a:txBody>
                  <a:tcPr marL="4763" marR="4763" marT="4763" marB="0" anchor="b"/>
                </a:tc>
                <a:tc>
                  <a:txBody>
                    <a:bodyPr/>
                    <a:lstStyle/>
                    <a:p>
                      <a:pPr algn="l" fontAlgn="b"/>
                      <a:endParaRPr lang="en-GB" sz="1800" b="0" i="0" u="none" strike="noStrike">
                        <a:effectLst/>
                        <a:latin typeface="Calibri" panose="020F0502020204030204" pitchFamily="34" charset="0"/>
                      </a:endParaRPr>
                    </a:p>
                  </a:txBody>
                  <a:tcPr marL="4763" marR="4763" marT="4763" marB="0" anchor="b"/>
                </a:tc>
                <a:extLst>
                  <a:ext uri="{0D108BD9-81ED-4DB2-BD59-A6C34878D82A}">
                    <a16:rowId xmlns:a16="http://schemas.microsoft.com/office/drawing/2014/main" val="2269799894"/>
                  </a:ext>
                </a:extLst>
              </a:tr>
              <a:tr h="412669">
                <a:tc gridSpan="6">
                  <a:txBody>
                    <a:bodyPr/>
                    <a:lstStyle/>
                    <a:p>
                      <a:pPr algn="l" fontAlgn="b"/>
                      <a:r>
                        <a:rPr lang="en-GB" sz="1800" u="none" strike="noStrike" dirty="0">
                          <a:effectLst/>
                        </a:rPr>
                        <a:t>India Time-Use 2019</a:t>
                      </a:r>
                      <a:endParaRPr lang="en-GB" sz="1800" b="0" i="0" u="none" strike="noStrike" dirty="0">
                        <a:effectLst/>
                        <a:latin typeface="Calibri" panose="020F0502020204030204" pitchFamily="34" charset="0"/>
                      </a:endParaRPr>
                    </a:p>
                  </a:txBody>
                  <a:tcPr marL="4763" marR="4763" marT="4763" marB="0" anchor="b"/>
                </a:tc>
                <a:tc hMerge="1">
                  <a:txBody>
                    <a:bodyPr/>
                    <a:lstStyle/>
                    <a:p>
                      <a:endParaRPr lang="en-GB"/>
                    </a:p>
                  </a:txBody>
                  <a:tcPr/>
                </a:tc>
                <a:tc hMerge="1">
                  <a:txBody>
                    <a:bodyPr/>
                    <a:lstStyle/>
                    <a:p>
                      <a:pPr algn="l" fontAlgn="b"/>
                      <a:endParaRPr lang="en-GB" sz="1800" b="0" i="0" u="none" strike="noStrike" dirty="0">
                        <a:effectLst/>
                        <a:latin typeface="Calibri" panose="020F0502020204030204" pitchFamily="34" charset="0"/>
                      </a:endParaRPr>
                    </a:p>
                  </a:txBody>
                  <a:tcPr marL="4763" marR="4763" marT="4763" marB="0" anchor="b"/>
                </a:tc>
                <a:tc hMerge="1">
                  <a:txBody>
                    <a:bodyPr/>
                    <a:lstStyle/>
                    <a:p>
                      <a:pPr algn="l" fontAlgn="b"/>
                      <a:endParaRPr lang="en-GB" sz="1800" b="0" i="0" u="none" strike="noStrike" dirty="0">
                        <a:effectLst/>
                        <a:latin typeface="Calibri" panose="020F0502020204030204" pitchFamily="34" charset="0"/>
                      </a:endParaRPr>
                    </a:p>
                  </a:txBody>
                  <a:tcPr marL="4763" marR="4763" marT="4763" marB="0" anchor="b"/>
                </a:tc>
                <a:tc hMerge="1">
                  <a:txBody>
                    <a:bodyPr/>
                    <a:lstStyle/>
                    <a:p>
                      <a:pPr algn="l" fontAlgn="b"/>
                      <a:endParaRPr lang="en-GB" sz="1800" b="0" i="0" u="none" strike="noStrike" dirty="0">
                        <a:effectLst/>
                        <a:latin typeface="Calibri" panose="020F0502020204030204" pitchFamily="34" charset="0"/>
                      </a:endParaRPr>
                    </a:p>
                  </a:txBody>
                  <a:tcPr marL="4763" marR="4763" marT="4763" marB="0" anchor="b"/>
                </a:tc>
                <a:tc hMerge="1">
                  <a:txBody>
                    <a:bodyPr/>
                    <a:lstStyle/>
                    <a:p>
                      <a:pPr algn="l" fontAlgn="b"/>
                      <a:endParaRPr lang="en-GB" sz="1800" b="0" i="0" u="none" strike="noStrike" dirty="0">
                        <a:effectLst/>
                        <a:latin typeface="Calibri" panose="020F0502020204030204" pitchFamily="34" charset="0"/>
                      </a:endParaRPr>
                    </a:p>
                  </a:txBody>
                  <a:tcPr marL="4763" marR="4763" marT="4763" marB="0" anchor="b"/>
                </a:tc>
                <a:tc>
                  <a:txBody>
                    <a:bodyPr/>
                    <a:lstStyle/>
                    <a:p>
                      <a:pPr algn="l" fontAlgn="b"/>
                      <a:endParaRPr lang="en-GB" sz="1800" b="0" i="0" u="none" strike="noStrike">
                        <a:effectLst/>
                        <a:latin typeface="Calibri" panose="020F0502020204030204" pitchFamily="34" charset="0"/>
                      </a:endParaRPr>
                    </a:p>
                  </a:txBody>
                  <a:tcPr marL="4763" marR="4763" marT="4763" marB="0" anchor="b"/>
                </a:tc>
                <a:tc>
                  <a:txBody>
                    <a:bodyPr/>
                    <a:lstStyle/>
                    <a:p>
                      <a:pPr algn="l" fontAlgn="b"/>
                      <a:endParaRPr lang="en-GB" sz="1800" b="0" i="0" u="none" strike="noStrike">
                        <a:effectLst/>
                        <a:latin typeface="Calibri" panose="020F0502020204030204" pitchFamily="34" charset="0"/>
                      </a:endParaRPr>
                    </a:p>
                  </a:txBody>
                  <a:tcPr marL="4763" marR="4763" marT="4763" marB="0" anchor="b"/>
                </a:tc>
                <a:tc>
                  <a:txBody>
                    <a:bodyPr/>
                    <a:lstStyle/>
                    <a:p>
                      <a:pPr algn="l" fontAlgn="b"/>
                      <a:endParaRPr lang="en-GB" sz="1800" b="0" i="0" u="none" strike="noStrike">
                        <a:effectLst/>
                        <a:latin typeface="Calibri" panose="020F0502020204030204" pitchFamily="34" charset="0"/>
                      </a:endParaRPr>
                    </a:p>
                  </a:txBody>
                  <a:tcPr marL="4763" marR="4763" marT="4763" marB="0" anchor="b"/>
                </a:tc>
                <a:extLst>
                  <a:ext uri="{0D108BD9-81ED-4DB2-BD59-A6C34878D82A}">
                    <a16:rowId xmlns:a16="http://schemas.microsoft.com/office/drawing/2014/main" val="126815019"/>
                  </a:ext>
                </a:extLst>
              </a:tr>
              <a:tr h="412669">
                <a:tc gridSpan="6">
                  <a:txBody>
                    <a:bodyPr/>
                    <a:lstStyle/>
                    <a:p>
                      <a:pPr algn="l" fontAlgn="b"/>
                      <a:r>
                        <a:rPr lang="en-GB" sz="1800" u="none" strike="noStrike" dirty="0">
                          <a:effectLst/>
                        </a:rPr>
                        <a:t>All adult respondents</a:t>
                      </a:r>
                      <a:endParaRPr lang="en-GB" sz="1800" b="0" i="0" u="none" strike="noStrike" dirty="0">
                        <a:effectLst/>
                        <a:latin typeface="Calibri" panose="020F0502020204030204" pitchFamily="34" charset="0"/>
                      </a:endParaRPr>
                    </a:p>
                  </a:txBody>
                  <a:tcPr marL="4763" marR="4763" marT="4763" marB="0" anchor="b"/>
                </a:tc>
                <a:tc hMerge="1">
                  <a:txBody>
                    <a:bodyPr/>
                    <a:lstStyle/>
                    <a:p>
                      <a:endParaRPr lang="en-GB"/>
                    </a:p>
                  </a:txBody>
                  <a:tcPr/>
                </a:tc>
                <a:tc hMerge="1">
                  <a:txBody>
                    <a:bodyPr/>
                    <a:lstStyle/>
                    <a:p>
                      <a:pPr algn="l" fontAlgn="b"/>
                      <a:endParaRPr lang="en-GB" sz="1800" b="0" i="0" u="none" strike="noStrike" dirty="0">
                        <a:effectLst/>
                        <a:latin typeface="Calibri" panose="020F0502020204030204" pitchFamily="34" charset="0"/>
                      </a:endParaRPr>
                    </a:p>
                  </a:txBody>
                  <a:tcPr marL="4763" marR="4763" marT="4763" marB="0" anchor="b"/>
                </a:tc>
                <a:tc hMerge="1">
                  <a:txBody>
                    <a:bodyPr/>
                    <a:lstStyle/>
                    <a:p>
                      <a:pPr algn="l" fontAlgn="b"/>
                      <a:endParaRPr lang="en-GB" sz="1800" b="0" i="0" u="none" strike="noStrike" dirty="0">
                        <a:effectLst/>
                        <a:latin typeface="Calibri" panose="020F0502020204030204" pitchFamily="34" charset="0"/>
                      </a:endParaRPr>
                    </a:p>
                  </a:txBody>
                  <a:tcPr marL="4763" marR="4763" marT="4763" marB="0" anchor="b"/>
                </a:tc>
                <a:tc hMerge="1">
                  <a:txBody>
                    <a:bodyPr/>
                    <a:lstStyle/>
                    <a:p>
                      <a:pPr algn="l" fontAlgn="b"/>
                      <a:endParaRPr lang="en-GB" sz="1800" b="0" i="0" u="none" strike="noStrike" dirty="0">
                        <a:effectLst/>
                        <a:latin typeface="Calibri" panose="020F0502020204030204" pitchFamily="34" charset="0"/>
                      </a:endParaRPr>
                    </a:p>
                  </a:txBody>
                  <a:tcPr marL="4763" marR="4763" marT="4763" marB="0" anchor="b"/>
                </a:tc>
                <a:tc hMerge="1">
                  <a:txBody>
                    <a:bodyPr/>
                    <a:lstStyle/>
                    <a:p>
                      <a:pPr algn="l" fontAlgn="b"/>
                      <a:endParaRPr lang="en-GB" sz="1800" b="0" i="0" u="none" strike="noStrike" dirty="0">
                        <a:effectLst/>
                        <a:latin typeface="Calibri" panose="020F0502020204030204" pitchFamily="34" charset="0"/>
                      </a:endParaRPr>
                    </a:p>
                  </a:txBody>
                  <a:tcPr marL="4763" marR="4763" marT="4763" marB="0" anchor="b"/>
                </a:tc>
                <a:tc>
                  <a:txBody>
                    <a:bodyPr/>
                    <a:lstStyle/>
                    <a:p>
                      <a:pPr algn="l" fontAlgn="b"/>
                      <a:endParaRPr lang="en-GB" sz="1800" b="0" i="0" u="none" strike="noStrike">
                        <a:effectLst/>
                        <a:latin typeface="Calibri" panose="020F0502020204030204" pitchFamily="34" charset="0"/>
                      </a:endParaRPr>
                    </a:p>
                  </a:txBody>
                  <a:tcPr marL="4763" marR="4763" marT="4763" marB="0" anchor="b"/>
                </a:tc>
                <a:tc>
                  <a:txBody>
                    <a:bodyPr/>
                    <a:lstStyle/>
                    <a:p>
                      <a:pPr algn="l" fontAlgn="b"/>
                      <a:endParaRPr lang="en-GB" sz="1800" b="0" i="0" u="none" strike="noStrike">
                        <a:effectLst/>
                        <a:latin typeface="Calibri" panose="020F0502020204030204" pitchFamily="34" charset="0"/>
                      </a:endParaRPr>
                    </a:p>
                  </a:txBody>
                  <a:tcPr marL="4763" marR="4763" marT="4763" marB="0" anchor="b"/>
                </a:tc>
                <a:tc>
                  <a:txBody>
                    <a:bodyPr/>
                    <a:lstStyle/>
                    <a:p>
                      <a:pPr algn="l" fontAlgn="b"/>
                      <a:endParaRPr lang="en-GB" sz="1800" b="0" i="0" u="none" strike="noStrike">
                        <a:effectLst/>
                        <a:latin typeface="Calibri" panose="020F0502020204030204" pitchFamily="34" charset="0"/>
                      </a:endParaRPr>
                    </a:p>
                  </a:txBody>
                  <a:tcPr marL="4763" marR="4763" marT="4763" marB="0" anchor="b"/>
                </a:tc>
                <a:extLst>
                  <a:ext uri="{0D108BD9-81ED-4DB2-BD59-A6C34878D82A}">
                    <a16:rowId xmlns:a16="http://schemas.microsoft.com/office/drawing/2014/main" val="635424537"/>
                  </a:ext>
                </a:extLst>
              </a:tr>
              <a:tr h="412669">
                <a:tc gridSpan="7">
                  <a:txBody>
                    <a:bodyPr/>
                    <a:lstStyle/>
                    <a:p>
                      <a:pPr algn="l" fontAlgn="b"/>
                      <a:r>
                        <a:rPr lang="en-GB" sz="1800" u="none" strike="noStrike" dirty="0">
                          <a:effectLst/>
                        </a:rPr>
                        <a:t>Please note the adults were aged 18+, or were married age 16 or 17 years.</a:t>
                      </a:r>
                      <a:endParaRPr lang="en-GB" sz="1800" b="0" i="0" u="none" strike="noStrike" dirty="0">
                        <a:effectLst/>
                        <a:latin typeface="Calibri" panose="020F0502020204030204" pitchFamily="34" charset="0"/>
                      </a:endParaRPr>
                    </a:p>
                  </a:txBody>
                  <a:tcPr marL="4763" marR="4763" marT="4763"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b"/>
                      <a:endParaRPr lang="en-GB" sz="1800" b="0" i="0" u="none" strike="noStrike">
                        <a:effectLst/>
                        <a:latin typeface="Calibri" panose="020F0502020204030204" pitchFamily="34" charset="0"/>
                      </a:endParaRPr>
                    </a:p>
                  </a:txBody>
                  <a:tcPr marL="4763" marR="4763" marT="4763" marB="0" anchor="b"/>
                </a:tc>
                <a:tc>
                  <a:txBody>
                    <a:bodyPr/>
                    <a:lstStyle/>
                    <a:p>
                      <a:pPr algn="l" fontAlgn="b"/>
                      <a:endParaRPr lang="en-GB" sz="1800" b="0" i="0" u="none" strike="noStrike">
                        <a:effectLst/>
                        <a:latin typeface="Calibri" panose="020F0502020204030204" pitchFamily="34" charset="0"/>
                      </a:endParaRPr>
                    </a:p>
                  </a:txBody>
                  <a:tcPr marL="4763" marR="4763" marT="4763" marB="0" anchor="b"/>
                </a:tc>
                <a:extLst>
                  <a:ext uri="{0D108BD9-81ED-4DB2-BD59-A6C34878D82A}">
                    <a16:rowId xmlns:a16="http://schemas.microsoft.com/office/drawing/2014/main" val="462001583"/>
                  </a:ext>
                </a:extLst>
              </a:tr>
              <a:tr h="412669">
                <a:tc>
                  <a:txBody>
                    <a:bodyPr/>
                    <a:lstStyle/>
                    <a:p>
                      <a:pPr algn="l" fontAlgn="b"/>
                      <a:endParaRPr lang="en-GB" sz="1800" b="0" i="0" u="none" strike="noStrike">
                        <a:effectLst/>
                        <a:latin typeface="Calibri" panose="020F0502020204030204" pitchFamily="34" charset="0"/>
                      </a:endParaRPr>
                    </a:p>
                  </a:txBody>
                  <a:tcPr marL="4763" marR="4763" marT="4763" marB="0" anchor="b"/>
                </a:tc>
                <a:tc>
                  <a:txBody>
                    <a:bodyPr/>
                    <a:lstStyle/>
                    <a:p>
                      <a:pPr algn="l" fontAlgn="b"/>
                      <a:endParaRPr lang="en-GB" sz="1800" b="0" i="0" u="none" strike="noStrike">
                        <a:effectLst/>
                        <a:latin typeface="Calibri" panose="020F0502020204030204" pitchFamily="34" charset="0"/>
                      </a:endParaRPr>
                    </a:p>
                  </a:txBody>
                  <a:tcPr marL="4763" marR="4763" marT="4763" marB="0" anchor="b"/>
                </a:tc>
                <a:tc>
                  <a:txBody>
                    <a:bodyPr/>
                    <a:lstStyle/>
                    <a:p>
                      <a:pPr algn="l" fontAlgn="b"/>
                      <a:r>
                        <a:rPr lang="en-GB" sz="1800" u="none" strike="noStrike" dirty="0">
                          <a:effectLst/>
                        </a:rPr>
                        <a:t> </a:t>
                      </a:r>
                      <a:endParaRPr lang="en-GB" sz="1800" b="0" i="0" u="none" strike="noStrike" dirty="0">
                        <a:effectLst/>
                        <a:latin typeface="Calibri" panose="020F0502020204030204" pitchFamily="34" charset="0"/>
                      </a:endParaRPr>
                    </a:p>
                  </a:txBody>
                  <a:tcPr marL="4763" marR="4763" marT="4763" marB="0" anchor="b"/>
                </a:tc>
                <a:tc gridSpan="2">
                  <a:txBody>
                    <a:bodyPr/>
                    <a:lstStyle/>
                    <a:p>
                      <a:pPr algn="ctr" fontAlgn="b"/>
                      <a:r>
                        <a:rPr lang="en-GB" sz="1800" u="none" strike="noStrike" dirty="0">
                          <a:effectLst/>
                        </a:rPr>
                        <a:t>Mean (Minutes)</a:t>
                      </a:r>
                      <a:endParaRPr lang="en-GB" sz="1800" b="0" i="0" u="none" strike="noStrike" dirty="0">
                        <a:effectLst/>
                        <a:latin typeface="Calibri" panose="020F0502020204030204" pitchFamily="34" charset="0"/>
                      </a:endParaRPr>
                    </a:p>
                  </a:txBody>
                  <a:tcPr marL="4763" marR="4763" marT="4763" marB="0" anchor="b"/>
                </a:tc>
                <a:tc hMerge="1">
                  <a:txBody>
                    <a:bodyPr/>
                    <a:lstStyle/>
                    <a:p>
                      <a:endParaRPr lang="en-GB"/>
                    </a:p>
                  </a:txBody>
                  <a:tcPr/>
                </a:tc>
                <a:tc gridSpan="2">
                  <a:txBody>
                    <a:bodyPr/>
                    <a:lstStyle/>
                    <a:p>
                      <a:pPr algn="ctr" fontAlgn="b"/>
                      <a:r>
                        <a:rPr lang="en-GB" sz="1800" u="none" strike="noStrike">
                          <a:effectLst/>
                        </a:rPr>
                        <a:t>Standard deviation</a:t>
                      </a:r>
                      <a:endParaRPr lang="en-GB" sz="1800" b="0" i="0" u="none" strike="noStrike">
                        <a:effectLst/>
                        <a:latin typeface="Calibri" panose="020F0502020204030204" pitchFamily="34" charset="0"/>
                      </a:endParaRPr>
                    </a:p>
                  </a:txBody>
                  <a:tcPr marL="4763" marR="4763" marT="4763" marB="0" anchor="b"/>
                </a:tc>
                <a:tc hMerge="1">
                  <a:txBody>
                    <a:bodyPr/>
                    <a:lstStyle/>
                    <a:p>
                      <a:endParaRPr lang="en-GB"/>
                    </a:p>
                  </a:txBody>
                  <a:tcPr/>
                </a:tc>
                <a:tc gridSpan="2">
                  <a:txBody>
                    <a:bodyPr/>
                    <a:lstStyle/>
                    <a:p>
                      <a:pPr algn="ctr" fontAlgn="b"/>
                      <a:r>
                        <a:rPr lang="en-GB" sz="1800" b="0" i="0" u="none" strike="noStrike" dirty="0">
                          <a:effectLst/>
                          <a:latin typeface="Calibri" panose="020F0502020204030204" pitchFamily="34" charset="0"/>
                        </a:rPr>
                        <a:t>Count</a:t>
                      </a:r>
                    </a:p>
                  </a:txBody>
                  <a:tcPr marL="4763" marR="4763" marT="4763" marB="0" anchor="b"/>
                </a:tc>
                <a:tc hMerge="1">
                  <a:txBody>
                    <a:bodyPr/>
                    <a:lstStyle/>
                    <a:p>
                      <a:endParaRPr lang="en-GB"/>
                    </a:p>
                  </a:txBody>
                  <a:tcPr/>
                </a:tc>
                <a:extLst>
                  <a:ext uri="{0D108BD9-81ED-4DB2-BD59-A6C34878D82A}">
                    <a16:rowId xmlns:a16="http://schemas.microsoft.com/office/drawing/2014/main" val="1932653724"/>
                  </a:ext>
                </a:extLst>
              </a:tr>
              <a:tr h="439255">
                <a:tc>
                  <a:txBody>
                    <a:bodyPr/>
                    <a:lstStyle/>
                    <a:p>
                      <a:pPr algn="l" fontAlgn="b"/>
                      <a:endParaRPr lang="en-GB" sz="1800" b="0" i="0" u="none" strike="noStrike">
                        <a:effectLst/>
                        <a:latin typeface="Calibri" panose="020F0502020204030204" pitchFamily="34" charset="0"/>
                      </a:endParaRPr>
                    </a:p>
                  </a:txBody>
                  <a:tcPr marL="4763" marR="4763" marT="4763" marB="0" anchor="b"/>
                </a:tc>
                <a:tc>
                  <a:txBody>
                    <a:bodyPr/>
                    <a:lstStyle/>
                    <a:p>
                      <a:pPr algn="l" fontAlgn="b"/>
                      <a:endParaRPr lang="en-GB" sz="1800" b="0" i="0" u="none" strike="noStrike">
                        <a:effectLst/>
                        <a:latin typeface="Calibri" panose="020F0502020204030204" pitchFamily="34" charset="0"/>
                      </a:endParaRPr>
                    </a:p>
                  </a:txBody>
                  <a:tcPr marL="4763" marR="4763" marT="4763" marB="0" anchor="b"/>
                </a:tc>
                <a:tc>
                  <a:txBody>
                    <a:bodyPr/>
                    <a:lstStyle/>
                    <a:p>
                      <a:pPr algn="l" fontAlgn="b"/>
                      <a:r>
                        <a:rPr lang="en-GB" sz="1800" u="none" strike="noStrike" dirty="0">
                          <a:effectLst/>
                        </a:rPr>
                        <a:t> </a:t>
                      </a:r>
                      <a:endParaRPr lang="en-GB" sz="1800" b="0" i="0" u="none" strike="noStrike" dirty="0">
                        <a:effectLst/>
                        <a:latin typeface="Calibri" panose="020F0502020204030204" pitchFamily="34" charset="0"/>
                      </a:endParaRPr>
                    </a:p>
                  </a:txBody>
                  <a:tcPr marL="4763" marR="4763" marT="4763" marB="0" anchor="b"/>
                </a:tc>
                <a:tc>
                  <a:txBody>
                    <a:bodyPr/>
                    <a:lstStyle/>
                    <a:p>
                      <a:pPr algn="ctr" fontAlgn="b"/>
                      <a:r>
                        <a:rPr lang="en-GB" sz="1800" u="none" strike="noStrike" dirty="0">
                          <a:effectLst/>
                          <a:highlight>
                            <a:srgbClr val="FFFF00"/>
                          </a:highlight>
                        </a:rPr>
                        <a:t>Cook time</a:t>
                      </a:r>
                      <a:endParaRPr lang="en-GB" sz="1800" b="0" i="0" u="none" strike="noStrike" dirty="0">
                        <a:effectLst/>
                        <a:highlight>
                          <a:srgbClr val="FFFF00"/>
                        </a:highlight>
                        <a:latin typeface="Calibri" panose="020F0502020204030204" pitchFamily="34" charset="0"/>
                      </a:endParaRPr>
                    </a:p>
                  </a:txBody>
                  <a:tcPr marL="4763" marR="4763" marT="4763" marB="0" anchor="b"/>
                </a:tc>
                <a:tc>
                  <a:txBody>
                    <a:bodyPr/>
                    <a:lstStyle/>
                    <a:p>
                      <a:pPr algn="ctr" fontAlgn="b"/>
                      <a:r>
                        <a:rPr lang="en-GB" sz="1800" u="none" strike="noStrike" dirty="0">
                          <a:effectLst/>
                          <a:highlight>
                            <a:srgbClr val="FFFF00"/>
                          </a:highlight>
                        </a:rPr>
                        <a:t>All child care time</a:t>
                      </a:r>
                      <a:endParaRPr lang="en-GB" sz="1800" b="0" i="0" u="none" strike="noStrike" dirty="0">
                        <a:effectLst/>
                        <a:highlight>
                          <a:srgbClr val="FFFF00"/>
                        </a:highlight>
                        <a:latin typeface="Calibri" panose="020F0502020204030204" pitchFamily="34" charset="0"/>
                      </a:endParaRPr>
                    </a:p>
                  </a:txBody>
                  <a:tcPr marL="4763" marR="4763" marT="4763" marB="0" anchor="b"/>
                </a:tc>
                <a:tc>
                  <a:txBody>
                    <a:bodyPr/>
                    <a:lstStyle/>
                    <a:p>
                      <a:pPr algn="ctr" fontAlgn="b"/>
                      <a:r>
                        <a:rPr lang="en-GB" sz="1800" u="none" strike="noStrike" dirty="0">
                          <a:effectLst/>
                        </a:rPr>
                        <a:t>Cook time</a:t>
                      </a:r>
                      <a:endParaRPr lang="en-GB" sz="1800" b="0" i="0" u="none" strike="noStrike" dirty="0">
                        <a:effectLst/>
                        <a:latin typeface="Calibri" panose="020F0502020204030204" pitchFamily="34" charset="0"/>
                      </a:endParaRPr>
                    </a:p>
                  </a:txBody>
                  <a:tcPr marL="4763" marR="4763" marT="4763" marB="0" anchor="b"/>
                </a:tc>
                <a:tc>
                  <a:txBody>
                    <a:bodyPr/>
                    <a:lstStyle/>
                    <a:p>
                      <a:pPr algn="ctr" fontAlgn="b"/>
                      <a:r>
                        <a:rPr lang="en-GB" sz="1800" u="none" strike="noStrike" dirty="0">
                          <a:effectLst/>
                        </a:rPr>
                        <a:t>All child care time</a:t>
                      </a:r>
                      <a:endParaRPr lang="en-GB" sz="1800" b="0" i="0" u="none" strike="noStrike" dirty="0">
                        <a:effectLst/>
                        <a:latin typeface="Calibri" panose="020F0502020204030204" pitchFamily="34" charset="0"/>
                      </a:endParaRPr>
                    </a:p>
                  </a:txBody>
                  <a:tcPr marL="4763" marR="4763" marT="4763" marB="0" anchor="b"/>
                </a:tc>
                <a:tc>
                  <a:txBody>
                    <a:bodyPr/>
                    <a:lstStyle/>
                    <a:p>
                      <a:pPr algn="ctr" fontAlgn="b"/>
                      <a:r>
                        <a:rPr lang="en-GB" sz="1800" u="none" strike="noStrike" dirty="0">
                          <a:effectLst/>
                        </a:rPr>
                        <a:t>Cook time</a:t>
                      </a:r>
                      <a:endParaRPr lang="en-GB" sz="1800" b="0" i="0" u="none" strike="noStrike" dirty="0">
                        <a:effectLst/>
                        <a:latin typeface="Calibri" panose="020F0502020204030204" pitchFamily="34" charset="0"/>
                      </a:endParaRPr>
                    </a:p>
                  </a:txBody>
                  <a:tcPr marL="4763" marR="4763" marT="4763" marB="0" anchor="b"/>
                </a:tc>
                <a:tc>
                  <a:txBody>
                    <a:bodyPr/>
                    <a:lstStyle/>
                    <a:p>
                      <a:pPr algn="ctr" fontAlgn="b"/>
                      <a:r>
                        <a:rPr lang="en-GB" sz="1800" u="none" strike="noStrike" dirty="0">
                          <a:effectLst/>
                        </a:rPr>
                        <a:t>All child care time</a:t>
                      </a:r>
                      <a:endParaRPr lang="en-GB" sz="1800" b="0" i="0" u="none" strike="noStrike" dirty="0">
                        <a:effectLst/>
                        <a:latin typeface="Calibri" panose="020F0502020204030204" pitchFamily="34" charset="0"/>
                      </a:endParaRPr>
                    </a:p>
                  </a:txBody>
                  <a:tcPr marL="4763" marR="4763" marT="4763" marB="0" anchor="b"/>
                </a:tc>
                <a:extLst>
                  <a:ext uri="{0D108BD9-81ED-4DB2-BD59-A6C34878D82A}">
                    <a16:rowId xmlns:a16="http://schemas.microsoft.com/office/drawing/2014/main" val="704417635"/>
                  </a:ext>
                </a:extLst>
              </a:tr>
              <a:tr h="219627">
                <a:tc>
                  <a:txBody>
                    <a:bodyPr/>
                    <a:lstStyle/>
                    <a:p>
                      <a:pPr algn="l" fontAlgn="b"/>
                      <a:endParaRPr lang="en-GB" sz="1800" b="0" i="0" u="none" strike="noStrike" dirty="0">
                        <a:effectLst/>
                        <a:latin typeface="Calibri" panose="020F0502020204030204" pitchFamily="34" charset="0"/>
                      </a:endParaRPr>
                    </a:p>
                  </a:txBody>
                  <a:tcPr marL="4763" marR="4763" marT="4763" marB="0" anchor="b"/>
                </a:tc>
                <a:tc>
                  <a:txBody>
                    <a:bodyPr/>
                    <a:lstStyle/>
                    <a:p>
                      <a:pPr algn="l" fontAlgn="b"/>
                      <a:endParaRPr lang="en-GB" sz="1800" b="0" i="0" u="none" strike="noStrike" dirty="0">
                        <a:effectLst/>
                        <a:latin typeface="Calibri" panose="020F0502020204030204" pitchFamily="34" charset="0"/>
                      </a:endParaRPr>
                    </a:p>
                  </a:txBody>
                  <a:tcPr marL="4763" marR="4763" marT="4763" marB="0" anchor="b"/>
                </a:tc>
                <a:tc>
                  <a:txBody>
                    <a:bodyPr/>
                    <a:lstStyle/>
                    <a:p>
                      <a:pPr algn="l" fontAlgn="b"/>
                      <a:r>
                        <a:rPr lang="en-GB" sz="1800" u="none" strike="noStrike" dirty="0">
                          <a:effectLst/>
                        </a:rPr>
                        <a:t>  Male</a:t>
                      </a:r>
                      <a:endParaRPr lang="en-GB" sz="1800" b="0" i="0" u="none" strike="noStrike" dirty="0">
                        <a:effectLst/>
                        <a:latin typeface="Calibri" panose="020F0502020204030204" pitchFamily="34" charset="0"/>
                      </a:endParaRPr>
                    </a:p>
                  </a:txBody>
                  <a:tcPr marL="4763" marR="4763" marT="4763" marB="0" anchor="b"/>
                </a:tc>
                <a:tc>
                  <a:txBody>
                    <a:bodyPr/>
                    <a:lstStyle/>
                    <a:p>
                      <a:pPr algn="r" fontAlgn="b"/>
                      <a:r>
                        <a:rPr lang="en-GB" sz="1800" u="none" strike="noStrike" dirty="0">
                          <a:effectLst/>
                          <a:highlight>
                            <a:srgbClr val="FFFF00"/>
                          </a:highlight>
                        </a:rPr>
                        <a:t>2.0</a:t>
                      </a:r>
                      <a:endParaRPr lang="en-GB" sz="1800" b="0" i="0" u="none" strike="noStrike" dirty="0">
                        <a:effectLst/>
                        <a:highlight>
                          <a:srgbClr val="FFFF00"/>
                        </a:highlight>
                        <a:latin typeface="Calibri" panose="020F0502020204030204" pitchFamily="34" charset="0"/>
                      </a:endParaRPr>
                    </a:p>
                  </a:txBody>
                  <a:tcPr marL="4763" marR="4763" marT="4763" marB="0" anchor="b"/>
                </a:tc>
                <a:tc>
                  <a:txBody>
                    <a:bodyPr/>
                    <a:lstStyle/>
                    <a:p>
                      <a:pPr algn="r" fontAlgn="b"/>
                      <a:r>
                        <a:rPr lang="en-GB" sz="1800" u="none" strike="noStrike">
                          <a:effectLst/>
                          <a:highlight>
                            <a:srgbClr val="FFFF00"/>
                          </a:highlight>
                        </a:rPr>
                        <a:t>20.1</a:t>
                      </a:r>
                      <a:endParaRPr lang="en-GB" sz="1800" b="0" i="0" u="none" strike="noStrike">
                        <a:effectLst/>
                        <a:highlight>
                          <a:srgbClr val="FFFF00"/>
                        </a:highlight>
                        <a:latin typeface="Calibri" panose="020F0502020204030204" pitchFamily="34" charset="0"/>
                      </a:endParaRPr>
                    </a:p>
                  </a:txBody>
                  <a:tcPr marL="4763" marR="4763" marT="4763" marB="0" anchor="b"/>
                </a:tc>
                <a:tc>
                  <a:txBody>
                    <a:bodyPr/>
                    <a:lstStyle/>
                    <a:p>
                      <a:pPr algn="r" fontAlgn="b"/>
                      <a:r>
                        <a:rPr lang="en-GB" sz="1800" u="none" strike="noStrike">
                          <a:effectLst/>
                        </a:rPr>
                        <a:t>18.7</a:t>
                      </a:r>
                      <a:endParaRPr lang="en-GB" sz="1800" b="0" i="0" u="none" strike="noStrike">
                        <a:effectLst/>
                        <a:latin typeface="Calibri" panose="020F0502020204030204" pitchFamily="34" charset="0"/>
                      </a:endParaRPr>
                    </a:p>
                  </a:txBody>
                  <a:tcPr marL="4763" marR="4763" marT="4763" marB="0" anchor="b"/>
                </a:tc>
                <a:tc>
                  <a:txBody>
                    <a:bodyPr/>
                    <a:lstStyle/>
                    <a:p>
                      <a:pPr algn="r" fontAlgn="b"/>
                      <a:r>
                        <a:rPr lang="en-GB" sz="1800" u="none" strike="noStrike">
                          <a:effectLst/>
                        </a:rPr>
                        <a:t>50.9</a:t>
                      </a:r>
                      <a:endParaRPr lang="en-GB" sz="1800" b="0" i="0" u="none" strike="noStrike">
                        <a:effectLst/>
                        <a:latin typeface="Calibri" panose="020F0502020204030204" pitchFamily="34" charset="0"/>
                      </a:endParaRPr>
                    </a:p>
                  </a:txBody>
                  <a:tcPr marL="4763" marR="4763" marT="4763" marB="0" anchor="b"/>
                </a:tc>
                <a:tc>
                  <a:txBody>
                    <a:bodyPr/>
                    <a:lstStyle/>
                    <a:p>
                      <a:pPr algn="r" fontAlgn="b"/>
                      <a:r>
                        <a:rPr lang="en-GB" sz="1800" u="none" strike="noStrike" dirty="0">
                          <a:effectLst/>
                        </a:rPr>
                        <a:t>179093</a:t>
                      </a:r>
                      <a:endParaRPr lang="en-GB" sz="1800" b="0" i="0" u="none" strike="noStrike" dirty="0">
                        <a:effectLst/>
                        <a:latin typeface="Calibri" panose="020F0502020204030204" pitchFamily="34" charset="0"/>
                      </a:endParaRPr>
                    </a:p>
                  </a:txBody>
                  <a:tcPr marL="4763" marR="4763" marT="4763" marB="0" anchor="b"/>
                </a:tc>
                <a:tc>
                  <a:txBody>
                    <a:bodyPr/>
                    <a:lstStyle/>
                    <a:p>
                      <a:pPr algn="r" fontAlgn="b"/>
                      <a:r>
                        <a:rPr lang="en-GB" sz="1800" u="none" strike="noStrike" dirty="0">
                          <a:effectLst/>
                        </a:rPr>
                        <a:t>179093</a:t>
                      </a:r>
                      <a:endParaRPr lang="en-GB" sz="1800" b="0" i="0" u="none" strike="noStrike" dirty="0">
                        <a:effectLst/>
                        <a:latin typeface="Calibri" panose="020F0502020204030204" pitchFamily="34" charset="0"/>
                      </a:endParaRPr>
                    </a:p>
                  </a:txBody>
                  <a:tcPr marL="4763" marR="4763" marT="4763" marB="0" anchor="b"/>
                </a:tc>
                <a:extLst>
                  <a:ext uri="{0D108BD9-81ED-4DB2-BD59-A6C34878D82A}">
                    <a16:rowId xmlns:a16="http://schemas.microsoft.com/office/drawing/2014/main" val="2240410951"/>
                  </a:ext>
                </a:extLst>
              </a:tr>
              <a:tr h="616113">
                <a:tc>
                  <a:txBody>
                    <a:bodyPr/>
                    <a:lstStyle/>
                    <a:p>
                      <a:pPr algn="l" fontAlgn="b"/>
                      <a:endParaRPr lang="en-GB" sz="1800" b="0" i="0" u="none" strike="noStrike">
                        <a:effectLst/>
                        <a:latin typeface="Calibri" panose="020F0502020204030204" pitchFamily="34" charset="0"/>
                      </a:endParaRPr>
                    </a:p>
                  </a:txBody>
                  <a:tcPr marL="4763" marR="4763" marT="4763" marB="0" anchor="b"/>
                </a:tc>
                <a:tc>
                  <a:txBody>
                    <a:bodyPr/>
                    <a:lstStyle/>
                    <a:p>
                      <a:pPr algn="l" fontAlgn="b"/>
                      <a:endParaRPr lang="en-GB" sz="1800" b="0" i="0" u="none" strike="noStrike">
                        <a:effectLst/>
                        <a:latin typeface="Calibri" panose="020F0502020204030204" pitchFamily="34" charset="0"/>
                      </a:endParaRPr>
                    </a:p>
                  </a:txBody>
                  <a:tcPr marL="4763" marR="4763" marT="4763" marB="0" anchor="b"/>
                </a:tc>
                <a:tc>
                  <a:txBody>
                    <a:bodyPr/>
                    <a:lstStyle/>
                    <a:p>
                      <a:pPr algn="l" fontAlgn="b"/>
                      <a:r>
                        <a:rPr lang="en-GB" sz="1800" u="none" strike="noStrike" dirty="0">
                          <a:effectLst/>
                        </a:rPr>
                        <a:t>  Female</a:t>
                      </a:r>
                      <a:endParaRPr lang="en-GB" sz="1800" b="0" i="0" u="none" strike="noStrike" dirty="0">
                        <a:effectLst/>
                        <a:latin typeface="Calibri" panose="020F0502020204030204" pitchFamily="34" charset="0"/>
                      </a:endParaRPr>
                    </a:p>
                  </a:txBody>
                  <a:tcPr marL="4763" marR="4763" marT="4763" marB="0" anchor="b"/>
                </a:tc>
                <a:tc>
                  <a:txBody>
                    <a:bodyPr/>
                    <a:lstStyle/>
                    <a:p>
                      <a:pPr algn="r" fontAlgn="b"/>
                      <a:r>
                        <a:rPr lang="en-GB" sz="1800" u="none" strike="noStrike" dirty="0">
                          <a:effectLst/>
                          <a:highlight>
                            <a:srgbClr val="FFFF00"/>
                          </a:highlight>
                        </a:rPr>
                        <a:t>121.9</a:t>
                      </a:r>
                      <a:endParaRPr lang="en-GB" sz="1800" b="0" i="0" u="none" strike="noStrike" dirty="0">
                        <a:effectLst/>
                        <a:highlight>
                          <a:srgbClr val="FFFF00"/>
                        </a:highlight>
                        <a:latin typeface="Calibri" panose="020F0502020204030204" pitchFamily="34" charset="0"/>
                      </a:endParaRPr>
                    </a:p>
                  </a:txBody>
                  <a:tcPr marL="4763" marR="4763" marT="4763" marB="0" anchor="b"/>
                </a:tc>
                <a:tc>
                  <a:txBody>
                    <a:bodyPr/>
                    <a:lstStyle/>
                    <a:p>
                      <a:pPr algn="r" fontAlgn="b"/>
                      <a:r>
                        <a:rPr lang="en-GB" sz="1800" u="none" strike="noStrike" dirty="0">
                          <a:effectLst/>
                          <a:highlight>
                            <a:srgbClr val="FFFF00"/>
                          </a:highlight>
                        </a:rPr>
                        <a:t>176.3</a:t>
                      </a:r>
                      <a:endParaRPr lang="en-GB" sz="1800" b="0" i="0" u="none" strike="noStrike" dirty="0">
                        <a:effectLst/>
                        <a:highlight>
                          <a:srgbClr val="FFFF00"/>
                        </a:highlight>
                        <a:latin typeface="Calibri" panose="020F0502020204030204" pitchFamily="34" charset="0"/>
                      </a:endParaRPr>
                    </a:p>
                  </a:txBody>
                  <a:tcPr marL="4763" marR="4763" marT="4763" marB="0" anchor="b"/>
                </a:tc>
                <a:tc>
                  <a:txBody>
                    <a:bodyPr/>
                    <a:lstStyle/>
                    <a:p>
                      <a:pPr algn="r" fontAlgn="b"/>
                      <a:r>
                        <a:rPr lang="en-GB" sz="1800" u="none" strike="noStrike">
                          <a:effectLst/>
                        </a:rPr>
                        <a:t>141.9</a:t>
                      </a:r>
                      <a:endParaRPr lang="en-GB" sz="1800" b="0" i="0" u="none" strike="noStrike">
                        <a:effectLst/>
                        <a:latin typeface="Calibri" panose="020F0502020204030204" pitchFamily="34" charset="0"/>
                      </a:endParaRPr>
                    </a:p>
                  </a:txBody>
                  <a:tcPr marL="4763" marR="4763" marT="4763" marB="0" anchor="b"/>
                </a:tc>
                <a:tc>
                  <a:txBody>
                    <a:bodyPr/>
                    <a:lstStyle/>
                    <a:p>
                      <a:pPr algn="r" fontAlgn="b"/>
                      <a:r>
                        <a:rPr lang="en-GB" sz="1800" u="none" strike="noStrike">
                          <a:effectLst/>
                        </a:rPr>
                        <a:t>194.5</a:t>
                      </a:r>
                      <a:endParaRPr lang="en-GB" sz="1800" b="0" i="0" u="none" strike="noStrike">
                        <a:effectLst/>
                        <a:latin typeface="Calibri" panose="020F0502020204030204" pitchFamily="34" charset="0"/>
                      </a:endParaRPr>
                    </a:p>
                  </a:txBody>
                  <a:tcPr marL="4763" marR="4763" marT="4763" marB="0" anchor="b"/>
                </a:tc>
                <a:tc>
                  <a:txBody>
                    <a:bodyPr/>
                    <a:lstStyle/>
                    <a:p>
                      <a:pPr algn="r" fontAlgn="b"/>
                      <a:r>
                        <a:rPr lang="en-GB" sz="1800" u="none" strike="noStrike" dirty="0">
                          <a:effectLst/>
                        </a:rPr>
                        <a:t>178895</a:t>
                      </a:r>
                      <a:endParaRPr lang="en-GB" sz="1800" b="0" i="0" u="none" strike="noStrike" dirty="0">
                        <a:effectLst/>
                        <a:latin typeface="Calibri" panose="020F0502020204030204" pitchFamily="34" charset="0"/>
                      </a:endParaRPr>
                    </a:p>
                  </a:txBody>
                  <a:tcPr marL="4763" marR="4763" marT="4763" marB="0" anchor="b"/>
                </a:tc>
                <a:tc>
                  <a:txBody>
                    <a:bodyPr/>
                    <a:lstStyle/>
                    <a:p>
                      <a:pPr algn="r" fontAlgn="b"/>
                      <a:r>
                        <a:rPr lang="en-GB" sz="1800" u="none" strike="noStrike" dirty="0">
                          <a:effectLst/>
                        </a:rPr>
                        <a:t>178895</a:t>
                      </a:r>
                      <a:endParaRPr lang="en-GB" sz="1800" b="0" i="0" u="none" strike="noStrike" dirty="0">
                        <a:effectLst/>
                        <a:latin typeface="Calibri" panose="020F0502020204030204" pitchFamily="34" charset="0"/>
                      </a:endParaRPr>
                    </a:p>
                  </a:txBody>
                  <a:tcPr marL="4763" marR="4763" marT="4763" marB="0" anchor="b"/>
                </a:tc>
                <a:extLst>
                  <a:ext uri="{0D108BD9-81ED-4DB2-BD59-A6C34878D82A}">
                    <a16:rowId xmlns:a16="http://schemas.microsoft.com/office/drawing/2014/main" val="2167135230"/>
                  </a:ext>
                </a:extLst>
              </a:tr>
              <a:tr h="219627">
                <a:tc>
                  <a:txBody>
                    <a:bodyPr/>
                    <a:lstStyle/>
                    <a:p>
                      <a:pPr algn="l" fontAlgn="b"/>
                      <a:endParaRPr lang="en-GB" sz="1800" b="0" i="0" u="none" strike="noStrike">
                        <a:effectLst/>
                        <a:latin typeface="Calibri" panose="020F0502020204030204" pitchFamily="34" charset="0"/>
                      </a:endParaRPr>
                    </a:p>
                  </a:txBody>
                  <a:tcPr marL="4763" marR="4763" marT="4763" marB="0" anchor="b"/>
                </a:tc>
                <a:tc>
                  <a:txBody>
                    <a:bodyPr/>
                    <a:lstStyle/>
                    <a:p>
                      <a:pPr algn="l" fontAlgn="b"/>
                      <a:endParaRPr lang="en-GB" sz="1800" b="0" i="0" u="none" strike="noStrike">
                        <a:effectLst/>
                        <a:latin typeface="Calibri" panose="020F0502020204030204" pitchFamily="34" charset="0"/>
                      </a:endParaRPr>
                    </a:p>
                  </a:txBody>
                  <a:tcPr marL="4763" marR="4763" marT="4763" marB="0" anchor="b"/>
                </a:tc>
                <a:tc>
                  <a:txBody>
                    <a:bodyPr/>
                    <a:lstStyle/>
                    <a:p>
                      <a:pPr algn="l" fontAlgn="b"/>
                      <a:r>
                        <a:rPr lang="en-GB" sz="1800" u="none" strike="noStrike" dirty="0">
                          <a:effectLst/>
                        </a:rPr>
                        <a:t>  Total</a:t>
                      </a:r>
                      <a:endParaRPr lang="en-GB" sz="1800" b="0" i="0" u="none" strike="noStrike" dirty="0">
                        <a:effectLst/>
                        <a:latin typeface="Calibri" panose="020F0502020204030204" pitchFamily="34" charset="0"/>
                      </a:endParaRPr>
                    </a:p>
                  </a:txBody>
                  <a:tcPr marL="4763" marR="4763" marT="4763" marB="0" anchor="b"/>
                </a:tc>
                <a:tc>
                  <a:txBody>
                    <a:bodyPr/>
                    <a:lstStyle/>
                    <a:p>
                      <a:pPr algn="r" fontAlgn="b"/>
                      <a:r>
                        <a:rPr lang="en-GB" sz="1800" u="none" strike="noStrike" dirty="0">
                          <a:effectLst/>
                          <a:highlight>
                            <a:srgbClr val="FFFF00"/>
                          </a:highlight>
                        </a:rPr>
                        <a:t>61.9</a:t>
                      </a:r>
                      <a:endParaRPr lang="en-GB" sz="1800" b="0" i="0" u="none" strike="noStrike" dirty="0">
                        <a:effectLst/>
                        <a:highlight>
                          <a:srgbClr val="FFFF00"/>
                        </a:highlight>
                        <a:latin typeface="Calibri" panose="020F0502020204030204" pitchFamily="34" charset="0"/>
                      </a:endParaRPr>
                    </a:p>
                  </a:txBody>
                  <a:tcPr marL="4763" marR="4763" marT="4763" marB="0" anchor="b"/>
                </a:tc>
                <a:tc>
                  <a:txBody>
                    <a:bodyPr/>
                    <a:lstStyle/>
                    <a:p>
                      <a:pPr algn="r" fontAlgn="b"/>
                      <a:r>
                        <a:rPr lang="en-GB" sz="1800" u="none" strike="noStrike" dirty="0">
                          <a:effectLst/>
                          <a:highlight>
                            <a:srgbClr val="FFFF00"/>
                          </a:highlight>
                        </a:rPr>
                        <a:t>98.1</a:t>
                      </a:r>
                      <a:endParaRPr lang="en-GB" sz="1800" b="0" i="0" u="none" strike="noStrike" dirty="0">
                        <a:effectLst/>
                        <a:highlight>
                          <a:srgbClr val="FFFF00"/>
                        </a:highlight>
                        <a:latin typeface="Calibri" panose="020F0502020204030204" pitchFamily="34" charset="0"/>
                      </a:endParaRPr>
                    </a:p>
                  </a:txBody>
                  <a:tcPr marL="4763" marR="4763" marT="4763" marB="0" anchor="b"/>
                </a:tc>
                <a:tc>
                  <a:txBody>
                    <a:bodyPr/>
                    <a:lstStyle/>
                    <a:p>
                      <a:pPr algn="r" fontAlgn="b"/>
                      <a:r>
                        <a:rPr lang="en-GB" sz="1800" u="none" strike="noStrike">
                          <a:effectLst/>
                        </a:rPr>
                        <a:t>117.6</a:t>
                      </a:r>
                      <a:endParaRPr lang="en-GB" sz="1800" b="0" i="0" u="none" strike="noStrike">
                        <a:effectLst/>
                        <a:latin typeface="Calibri" panose="020F0502020204030204" pitchFamily="34" charset="0"/>
                      </a:endParaRPr>
                    </a:p>
                  </a:txBody>
                  <a:tcPr marL="4763" marR="4763" marT="4763" marB="0" anchor="b"/>
                </a:tc>
                <a:tc>
                  <a:txBody>
                    <a:bodyPr/>
                    <a:lstStyle/>
                    <a:p>
                      <a:pPr algn="r" fontAlgn="b"/>
                      <a:r>
                        <a:rPr lang="en-GB" sz="1800" u="none" strike="noStrike">
                          <a:effectLst/>
                        </a:rPr>
                        <a:t>162.2</a:t>
                      </a:r>
                      <a:endParaRPr lang="en-GB" sz="1800" b="0" i="0" u="none" strike="noStrike">
                        <a:effectLst/>
                        <a:latin typeface="Calibri" panose="020F0502020204030204" pitchFamily="34" charset="0"/>
                      </a:endParaRPr>
                    </a:p>
                  </a:txBody>
                  <a:tcPr marL="4763" marR="4763" marT="4763" marB="0" anchor="b"/>
                </a:tc>
                <a:tc>
                  <a:txBody>
                    <a:bodyPr/>
                    <a:lstStyle/>
                    <a:p>
                      <a:pPr algn="r" fontAlgn="b"/>
                      <a:r>
                        <a:rPr lang="en-GB" sz="1800" u="none" strike="noStrike" dirty="0">
                          <a:effectLst/>
                        </a:rPr>
                        <a:t>357988</a:t>
                      </a:r>
                      <a:endParaRPr lang="en-GB" sz="1800" b="0" i="0" u="none" strike="noStrike" dirty="0">
                        <a:effectLst/>
                        <a:latin typeface="Calibri" panose="020F0502020204030204" pitchFamily="34" charset="0"/>
                      </a:endParaRPr>
                    </a:p>
                  </a:txBody>
                  <a:tcPr marL="4763" marR="4763" marT="4763" marB="0" anchor="b"/>
                </a:tc>
                <a:tc>
                  <a:txBody>
                    <a:bodyPr/>
                    <a:lstStyle/>
                    <a:p>
                      <a:pPr algn="r" fontAlgn="b"/>
                      <a:r>
                        <a:rPr lang="en-GB" sz="1800" u="none" strike="noStrike" dirty="0">
                          <a:effectLst/>
                        </a:rPr>
                        <a:t>357988</a:t>
                      </a:r>
                      <a:endParaRPr lang="en-GB" sz="1800" b="0" i="0" u="none" strike="noStrike" dirty="0">
                        <a:effectLst/>
                        <a:latin typeface="Calibri" panose="020F0502020204030204" pitchFamily="34" charset="0"/>
                      </a:endParaRPr>
                    </a:p>
                  </a:txBody>
                  <a:tcPr marL="4763" marR="4763" marT="4763" marB="0" anchor="b"/>
                </a:tc>
                <a:extLst>
                  <a:ext uri="{0D108BD9-81ED-4DB2-BD59-A6C34878D82A}">
                    <a16:rowId xmlns:a16="http://schemas.microsoft.com/office/drawing/2014/main" val="2109363900"/>
                  </a:ext>
                </a:extLst>
              </a:tr>
            </a:tbl>
          </a:graphicData>
        </a:graphic>
      </p:graphicFrame>
      <p:sp>
        <p:nvSpPr>
          <p:cNvPr id="4" name="Slide Number Placeholder 3"/>
          <p:cNvSpPr>
            <a:spLocks noGrp="1"/>
          </p:cNvSpPr>
          <p:nvPr>
            <p:ph type="sldNum" sz="quarter" idx="12"/>
          </p:nvPr>
        </p:nvSpPr>
        <p:spPr/>
        <p:txBody>
          <a:bodyPr/>
          <a:lstStyle/>
          <a:p>
            <a:fld id="{1D72F41D-2C04-46BD-AD58-EC9976117EFB}" type="slidenum">
              <a:rPr lang="en-GB" smtClean="0"/>
              <a:t>11</a:t>
            </a:fld>
            <a:endParaRPr lang="en-GB" dirty="0"/>
          </a:p>
        </p:txBody>
      </p:sp>
      <p:sp>
        <p:nvSpPr>
          <p:cNvPr id="5" name="Wave 4">
            <a:extLst>
              <a:ext uri="{FF2B5EF4-FFF2-40B4-BE49-F238E27FC236}">
                <a16:creationId xmlns:a16="http://schemas.microsoft.com/office/drawing/2014/main" id="{5BAE10B3-A288-7D66-05C1-7A4A855C64DB}"/>
              </a:ext>
            </a:extLst>
          </p:cNvPr>
          <p:cNvSpPr/>
          <p:nvPr/>
        </p:nvSpPr>
        <p:spPr>
          <a:xfrm>
            <a:off x="3835400" y="1022290"/>
            <a:ext cx="7835900" cy="1252728"/>
          </a:xfrm>
          <a:prstGeom prst="wav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3">
                    <a:lumMod val="50000"/>
                  </a:schemeClr>
                </a:solidFill>
                <a:latin typeface="Tempus Sans ITC" panose="04020404030D07020202" pitchFamily="82" charset="0"/>
              </a:rPr>
              <a:t>See also our paper in </a:t>
            </a:r>
            <a:r>
              <a:rPr lang="en-GB" sz="2400" i="1" dirty="0">
                <a:solidFill>
                  <a:schemeClr val="accent3">
                    <a:lumMod val="50000"/>
                  </a:schemeClr>
                </a:solidFill>
                <a:latin typeface="Tempus Sans ITC" panose="04020404030D07020202" pitchFamily="82" charset="0"/>
              </a:rPr>
              <a:t>Development &amp; Practice </a:t>
            </a:r>
            <a:r>
              <a:rPr lang="en-GB" sz="2400" dirty="0">
                <a:solidFill>
                  <a:schemeClr val="accent3">
                    <a:lumMod val="50000"/>
                  </a:schemeClr>
                </a:solidFill>
                <a:latin typeface="Tempus Sans ITC" panose="04020404030D07020202" pitchFamily="82" charset="0"/>
              </a:rPr>
              <a:t>2023 (extreme working hours of child labourers)</a:t>
            </a:r>
          </a:p>
        </p:txBody>
      </p:sp>
    </p:spTree>
    <p:extLst>
      <p:ext uri="{BB962C8B-B14F-4D97-AF65-F5344CB8AC3E}">
        <p14:creationId xmlns:p14="http://schemas.microsoft.com/office/powerpoint/2010/main" val="801578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Findings:</a:t>
            </a:r>
            <a:br>
              <a:rPr lang="en-GB" dirty="0"/>
            </a:br>
            <a:r>
              <a:rPr lang="en-GB" dirty="0"/>
              <a:t>regarding whether the gender norms affected the childcare work time </a:t>
            </a:r>
          </a:p>
        </p:txBody>
      </p:sp>
      <p:sp>
        <p:nvSpPr>
          <p:cNvPr id="3" name="Content Placeholder 2"/>
          <p:cNvSpPr>
            <a:spLocks noGrp="1"/>
          </p:cNvSpPr>
          <p:nvPr>
            <p:ph idx="1"/>
          </p:nvPr>
        </p:nvSpPr>
        <p:spPr>
          <a:xfrm>
            <a:off x="1627649" y="2575640"/>
            <a:ext cx="10364452" cy="3424107"/>
          </a:xfrm>
          <a:solidFill>
            <a:schemeClr val="accent4">
              <a:lumMod val="20000"/>
              <a:lumOff val="80000"/>
            </a:schemeClr>
          </a:solidFill>
        </p:spPr>
        <p:txBody>
          <a:bodyPr>
            <a:normAutofit fontScale="85000" lnSpcReduction="20000"/>
          </a:bodyPr>
          <a:lstStyle/>
          <a:p>
            <a:r>
              <a:rPr lang="en-GB" dirty="0"/>
              <a:t>No significant difference across social groups</a:t>
            </a:r>
          </a:p>
          <a:p>
            <a:endParaRPr lang="en-GB" dirty="0"/>
          </a:p>
          <a:p>
            <a:endParaRPr lang="en-GB" dirty="0"/>
          </a:p>
          <a:p>
            <a:r>
              <a:rPr lang="en-GB" dirty="0"/>
              <a:t>Differences by state are very small, just a few minutes of work</a:t>
            </a:r>
          </a:p>
          <a:p>
            <a:endParaRPr lang="en-GB" dirty="0"/>
          </a:p>
          <a:p>
            <a:r>
              <a:rPr lang="en-GB" dirty="0"/>
              <a:t>But differences by ‘gender norms index’ at the small group level are large.</a:t>
            </a:r>
          </a:p>
          <a:p>
            <a:r>
              <a:rPr lang="en-GB" dirty="0"/>
              <a:t>1 unit rise in GN index is associated with 66 minutes more!</a:t>
            </a:r>
          </a:p>
          <a:p>
            <a:r>
              <a:rPr lang="en-GB" dirty="0"/>
              <a:t>This is where a cultural group norm is associated with women doing more childcare in terms of time spent on the various activities, including cooking with children around.</a:t>
            </a:r>
          </a:p>
          <a:p>
            <a:endParaRPr lang="en-GB" dirty="0"/>
          </a:p>
        </p:txBody>
      </p:sp>
      <p:sp>
        <p:nvSpPr>
          <p:cNvPr id="4" name="Slide Number Placeholder 3"/>
          <p:cNvSpPr>
            <a:spLocks noGrp="1"/>
          </p:cNvSpPr>
          <p:nvPr>
            <p:ph type="sldNum" sz="quarter" idx="12"/>
          </p:nvPr>
        </p:nvSpPr>
        <p:spPr/>
        <p:txBody>
          <a:bodyPr/>
          <a:lstStyle/>
          <a:p>
            <a:fld id="{1D72F41D-2C04-46BD-AD58-EC9976117EFB}" type="slidenum">
              <a:rPr lang="en-GB" smtClean="0"/>
              <a:t>12</a:t>
            </a:fld>
            <a:endParaRPr lang="en-GB" dirty="0"/>
          </a:p>
        </p:txBody>
      </p:sp>
      <p:graphicFrame>
        <p:nvGraphicFramePr>
          <p:cNvPr id="5" name="Table 4">
            <a:extLst>
              <a:ext uri="{FF2B5EF4-FFF2-40B4-BE49-F238E27FC236}">
                <a16:creationId xmlns:a16="http://schemas.microsoft.com/office/drawing/2014/main" id="{90B007F1-2040-5E4D-648D-F4E67921D091}"/>
              </a:ext>
            </a:extLst>
          </p:cNvPr>
          <p:cNvGraphicFramePr>
            <a:graphicFrameLocks noGrp="1"/>
          </p:cNvGraphicFramePr>
          <p:nvPr>
            <p:extLst>
              <p:ext uri="{D42A27DB-BD31-4B8C-83A1-F6EECF244321}">
                <p14:modId xmlns:p14="http://schemas.microsoft.com/office/powerpoint/2010/main" val="3697532841"/>
              </p:ext>
            </p:extLst>
          </p:nvPr>
        </p:nvGraphicFramePr>
        <p:xfrm>
          <a:off x="3973910" y="2919613"/>
          <a:ext cx="7304316" cy="741046"/>
        </p:xfrm>
        <a:graphic>
          <a:graphicData uri="http://schemas.openxmlformats.org/drawingml/2006/table">
            <a:tbl>
              <a:tblPr>
                <a:tableStyleId>{5C22544A-7EE6-4342-B048-85BDC9FD1C3A}</a:tableStyleId>
              </a:tblPr>
              <a:tblGrid>
                <a:gridCol w="1217386">
                  <a:extLst>
                    <a:ext uri="{9D8B030D-6E8A-4147-A177-3AD203B41FA5}">
                      <a16:colId xmlns:a16="http://schemas.microsoft.com/office/drawing/2014/main" val="1357015987"/>
                    </a:ext>
                  </a:extLst>
                </a:gridCol>
                <a:gridCol w="1217386">
                  <a:extLst>
                    <a:ext uri="{9D8B030D-6E8A-4147-A177-3AD203B41FA5}">
                      <a16:colId xmlns:a16="http://schemas.microsoft.com/office/drawing/2014/main" val="3043777484"/>
                    </a:ext>
                  </a:extLst>
                </a:gridCol>
                <a:gridCol w="1217386">
                  <a:extLst>
                    <a:ext uri="{9D8B030D-6E8A-4147-A177-3AD203B41FA5}">
                      <a16:colId xmlns:a16="http://schemas.microsoft.com/office/drawing/2014/main" val="1284046341"/>
                    </a:ext>
                  </a:extLst>
                </a:gridCol>
                <a:gridCol w="1217386">
                  <a:extLst>
                    <a:ext uri="{9D8B030D-6E8A-4147-A177-3AD203B41FA5}">
                      <a16:colId xmlns:a16="http://schemas.microsoft.com/office/drawing/2014/main" val="486984011"/>
                    </a:ext>
                  </a:extLst>
                </a:gridCol>
                <a:gridCol w="1217386">
                  <a:extLst>
                    <a:ext uri="{9D8B030D-6E8A-4147-A177-3AD203B41FA5}">
                      <a16:colId xmlns:a16="http://schemas.microsoft.com/office/drawing/2014/main" val="1530662399"/>
                    </a:ext>
                  </a:extLst>
                </a:gridCol>
                <a:gridCol w="1217386">
                  <a:extLst>
                    <a:ext uri="{9D8B030D-6E8A-4147-A177-3AD203B41FA5}">
                      <a16:colId xmlns:a16="http://schemas.microsoft.com/office/drawing/2014/main" val="2170389624"/>
                    </a:ext>
                  </a:extLst>
                </a:gridCol>
              </a:tblGrid>
              <a:tr h="190397">
                <a:tc gridSpan="6">
                  <a:txBody>
                    <a:bodyPr/>
                    <a:lstStyle/>
                    <a:p>
                      <a:pPr algn="ctr" fontAlgn="b"/>
                      <a:r>
                        <a:rPr lang="en-GB" sz="1600" u="none" strike="noStrike" dirty="0">
                          <a:effectLst/>
                        </a:rPr>
                        <a:t>socialgroup2</a:t>
                      </a:r>
                      <a:endParaRPr lang="en-GB" sz="1600" b="0" i="0" u="none" strike="noStrike" dirty="0">
                        <a:effectLst/>
                        <a:latin typeface="Calibri" panose="020F0502020204030204" pitchFamily="34" charset="0"/>
                      </a:endParaRPr>
                    </a:p>
                  </a:txBody>
                  <a:tcPr marL="4763" marR="4763" marT="4763"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13825238"/>
                  </a:ext>
                </a:extLst>
              </a:tr>
              <a:tr h="380795">
                <a:tc>
                  <a:txBody>
                    <a:bodyPr/>
                    <a:lstStyle/>
                    <a:p>
                      <a:pPr algn="r" fontAlgn="b"/>
                      <a:r>
                        <a:rPr lang="en-GB" sz="1600" u="none" strike="noStrike">
                          <a:effectLst/>
                        </a:rPr>
                        <a:t>Others</a:t>
                      </a:r>
                      <a:endParaRPr lang="en-GB" sz="1600" b="0" i="0" u="none" strike="noStrike">
                        <a:effectLst/>
                        <a:latin typeface="Calibri" panose="020F0502020204030204" pitchFamily="34" charset="0"/>
                      </a:endParaRPr>
                    </a:p>
                  </a:txBody>
                  <a:tcPr marL="4763" marR="4763" marT="4763" marB="0" anchor="b"/>
                </a:tc>
                <a:tc>
                  <a:txBody>
                    <a:bodyPr/>
                    <a:lstStyle/>
                    <a:p>
                      <a:pPr algn="r" fontAlgn="b"/>
                      <a:r>
                        <a:rPr lang="en-GB" sz="1600" u="none" strike="noStrike" dirty="0">
                          <a:effectLst/>
                        </a:rPr>
                        <a:t>ST</a:t>
                      </a:r>
                      <a:endParaRPr lang="en-GB" sz="1600" b="0" i="0" u="none" strike="noStrike" dirty="0">
                        <a:effectLst/>
                        <a:latin typeface="Calibri" panose="020F0502020204030204" pitchFamily="34" charset="0"/>
                      </a:endParaRPr>
                    </a:p>
                  </a:txBody>
                  <a:tcPr marL="4763" marR="4763" marT="4763" marB="0" anchor="b"/>
                </a:tc>
                <a:tc>
                  <a:txBody>
                    <a:bodyPr/>
                    <a:lstStyle/>
                    <a:p>
                      <a:pPr algn="r" fontAlgn="b"/>
                      <a:r>
                        <a:rPr lang="en-GB" sz="1600" u="none" strike="noStrike">
                          <a:effectLst/>
                        </a:rPr>
                        <a:t>SC</a:t>
                      </a:r>
                      <a:endParaRPr lang="en-GB" sz="1600" b="0" i="0" u="none" strike="noStrike">
                        <a:effectLst/>
                        <a:latin typeface="Calibri" panose="020F0502020204030204" pitchFamily="34" charset="0"/>
                      </a:endParaRPr>
                    </a:p>
                  </a:txBody>
                  <a:tcPr marL="4763" marR="4763" marT="4763" marB="0" anchor="b"/>
                </a:tc>
                <a:tc>
                  <a:txBody>
                    <a:bodyPr/>
                    <a:lstStyle/>
                    <a:p>
                      <a:pPr algn="r" fontAlgn="b"/>
                      <a:r>
                        <a:rPr lang="en-GB" sz="1600" u="none" strike="noStrike">
                          <a:effectLst/>
                        </a:rPr>
                        <a:t>OBC</a:t>
                      </a:r>
                      <a:endParaRPr lang="en-GB" sz="1600" b="0" i="0" u="none" strike="noStrike">
                        <a:effectLst/>
                        <a:latin typeface="Calibri" panose="020F0502020204030204" pitchFamily="34" charset="0"/>
                      </a:endParaRPr>
                    </a:p>
                  </a:txBody>
                  <a:tcPr marL="4763" marR="4763" marT="4763" marB="0" anchor="b"/>
                </a:tc>
                <a:tc>
                  <a:txBody>
                    <a:bodyPr/>
                    <a:lstStyle/>
                    <a:p>
                      <a:pPr algn="r" fontAlgn="b"/>
                      <a:r>
                        <a:rPr lang="en-GB" sz="1600" u="none" strike="noStrike">
                          <a:effectLst/>
                        </a:rPr>
                        <a:t>Muslim Non SC/ST</a:t>
                      </a:r>
                      <a:endParaRPr lang="en-GB" sz="1600" b="0" i="0" u="none" strike="noStrike">
                        <a:effectLst/>
                        <a:latin typeface="Calibri" panose="020F0502020204030204" pitchFamily="34" charset="0"/>
                      </a:endParaRPr>
                    </a:p>
                  </a:txBody>
                  <a:tcPr marL="4763" marR="4763" marT="4763" marB="0" anchor="b"/>
                </a:tc>
                <a:tc>
                  <a:txBody>
                    <a:bodyPr/>
                    <a:lstStyle/>
                    <a:p>
                      <a:pPr algn="r" fontAlgn="b"/>
                      <a:r>
                        <a:rPr lang="en-GB" sz="1600" u="none" strike="noStrike" dirty="0">
                          <a:effectLst/>
                        </a:rPr>
                        <a:t>Total</a:t>
                      </a:r>
                      <a:endParaRPr lang="en-GB" sz="1600" b="0" i="0" u="none" strike="noStrike" dirty="0">
                        <a:effectLst/>
                        <a:latin typeface="Calibri" panose="020F0502020204030204" pitchFamily="34" charset="0"/>
                      </a:endParaRPr>
                    </a:p>
                  </a:txBody>
                  <a:tcPr marL="4763" marR="4763" marT="4763" marB="0" anchor="b"/>
                </a:tc>
                <a:extLst>
                  <a:ext uri="{0D108BD9-81ED-4DB2-BD59-A6C34878D82A}">
                    <a16:rowId xmlns:a16="http://schemas.microsoft.com/office/drawing/2014/main" val="147280291"/>
                  </a:ext>
                </a:extLst>
              </a:tr>
            </a:tbl>
          </a:graphicData>
        </a:graphic>
      </p:graphicFrame>
    </p:spTree>
    <p:extLst>
      <p:ext uri="{BB962C8B-B14F-4D97-AF65-F5344CB8AC3E}">
        <p14:creationId xmlns:p14="http://schemas.microsoft.com/office/powerpoint/2010/main" val="3804969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5448"/>
            <a:ext cx="10972800" cy="1940052"/>
          </a:xfrm>
        </p:spPr>
        <p:txBody>
          <a:bodyPr>
            <a:normAutofit fontScale="90000"/>
          </a:bodyPr>
          <a:lstStyle/>
          <a:p>
            <a:r>
              <a:rPr lang="en-GB" dirty="0"/>
              <a:t>Findings 2</a:t>
            </a:r>
            <a:br>
              <a:rPr lang="en-GB" dirty="0"/>
            </a:br>
            <a:r>
              <a:rPr lang="en-GB" dirty="0"/>
              <a:t>regarding whether the gender norms affected the childcare work time after allowing for state location</a:t>
            </a:r>
          </a:p>
        </p:txBody>
      </p:sp>
      <p:sp>
        <p:nvSpPr>
          <p:cNvPr id="3" name="Content Placeholder 2"/>
          <p:cNvSpPr>
            <a:spLocks noGrp="1"/>
          </p:cNvSpPr>
          <p:nvPr>
            <p:ph idx="1"/>
          </p:nvPr>
        </p:nvSpPr>
        <p:spPr>
          <a:xfrm>
            <a:off x="913775" y="2367093"/>
            <a:ext cx="10364452" cy="3881307"/>
          </a:xfrm>
        </p:spPr>
        <p:txBody>
          <a:bodyPr>
            <a:normAutofit fontScale="92500" lnSpcReduction="10000"/>
          </a:bodyPr>
          <a:lstStyle/>
          <a:p>
            <a:r>
              <a:rPr lang="en-GB" sz="2600" i="1" u="sng" dirty="0"/>
              <a:t>Critical assessment of Asian barometers sampling methods</a:t>
            </a:r>
          </a:p>
          <a:p>
            <a:pPr lvl="1"/>
            <a:r>
              <a:rPr lang="en-GB" i="1" u="sng" dirty="0"/>
              <a:t>Good treatment of dropouts, non-replacement</a:t>
            </a:r>
          </a:p>
          <a:p>
            <a:pPr lvl="1"/>
            <a:r>
              <a:rPr lang="en-GB" i="1" u="sng" dirty="0"/>
              <a:t>Had a high sampling fraction to allow for non-replaced dropouts</a:t>
            </a:r>
          </a:p>
          <a:p>
            <a:r>
              <a:rPr lang="en-GB" i="1" u="sng" dirty="0"/>
              <a:t>The very long interview had a lot of older people responding relative to young.</a:t>
            </a:r>
          </a:p>
          <a:p>
            <a:pPr lvl="1"/>
            <a:r>
              <a:rPr lang="en-GB" i="1" u="sng" dirty="0"/>
              <a:t>Introduced weights within Asian barometers released survey data</a:t>
            </a:r>
          </a:p>
          <a:p>
            <a:pPr lvl="1"/>
            <a:r>
              <a:rPr lang="en-GB" i="1" u="sng" dirty="0"/>
              <a:t>They tested these weights carefully</a:t>
            </a:r>
          </a:p>
          <a:p>
            <a:pPr lvl="2"/>
            <a:r>
              <a:rPr lang="en-GB" i="1" u="sng" dirty="0"/>
              <a:t>So young people got higher weight each</a:t>
            </a:r>
          </a:p>
          <a:p>
            <a:r>
              <a:rPr lang="en-GB" i="1" u="sng" dirty="0"/>
              <a:t>Lastly, the poor choice of a geographic cluster sampling method within state has weakened the generality and representativeness (often, 2 to 4 assembly constituencies)</a:t>
            </a:r>
            <a:endParaRPr lang="en-GB" dirty="0"/>
          </a:p>
        </p:txBody>
      </p:sp>
      <p:sp>
        <p:nvSpPr>
          <p:cNvPr id="4" name="Slide Number Placeholder 3"/>
          <p:cNvSpPr>
            <a:spLocks noGrp="1"/>
          </p:cNvSpPr>
          <p:nvPr>
            <p:ph type="sldNum" sz="quarter" idx="12"/>
          </p:nvPr>
        </p:nvSpPr>
        <p:spPr/>
        <p:txBody>
          <a:bodyPr/>
          <a:lstStyle/>
          <a:p>
            <a:fld id="{1D72F41D-2C04-46BD-AD58-EC9976117EFB}" type="slidenum">
              <a:rPr lang="en-GB" smtClean="0"/>
              <a:t>13</a:t>
            </a:fld>
            <a:endParaRPr lang="en-GB" dirty="0"/>
          </a:p>
        </p:txBody>
      </p:sp>
    </p:spTree>
    <p:extLst>
      <p:ext uri="{BB962C8B-B14F-4D97-AF65-F5344CB8AC3E}">
        <p14:creationId xmlns:p14="http://schemas.microsoft.com/office/powerpoint/2010/main" val="1890863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7579-F95F-4D96-BDC5-2F18FD9ABBB1}"/>
              </a:ext>
            </a:extLst>
          </p:cNvPr>
          <p:cNvSpPr>
            <a:spLocks noGrp="1"/>
          </p:cNvSpPr>
          <p:nvPr>
            <p:ph type="title"/>
          </p:nvPr>
        </p:nvSpPr>
        <p:spPr>
          <a:xfrm>
            <a:off x="1161144" y="0"/>
            <a:ext cx="10972800" cy="1851152"/>
          </a:xfrm>
        </p:spPr>
        <p:txBody>
          <a:bodyPr>
            <a:normAutofit fontScale="90000"/>
          </a:bodyPr>
          <a:lstStyle/>
          <a:p>
            <a:r>
              <a:rPr lang="en-GB" sz="2700" dirty="0"/>
              <a:t>Findings 2:  TABLE 4.</a:t>
            </a:r>
            <a:br>
              <a:rPr lang="en-GB" sz="2700" dirty="0"/>
            </a:br>
            <a:r>
              <a:rPr lang="en-GB" sz="2700" dirty="0"/>
              <a:t>the gender norms affected childcare work time after allowing for state location? Yes.  </a:t>
            </a:r>
            <a:r>
              <a:rPr lang="en-GB" dirty="0"/>
              <a:t>Female = +301 minutes. + if </a:t>
            </a:r>
            <a:r>
              <a:rPr lang="en-GB" dirty="0">
                <a:highlight>
                  <a:srgbClr val="FFFF00"/>
                </a:highlight>
              </a:rPr>
              <a:t>Group Gender norms progressive = +&gt; 55 minutes average! </a:t>
            </a:r>
          </a:p>
        </p:txBody>
      </p:sp>
      <p:sp>
        <p:nvSpPr>
          <p:cNvPr id="3" name="Content Placeholder 2">
            <a:extLst>
              <a:ext uri="{FF2B5EF4-FFF2-40B4-BE49-F238E27FC236}">
                <a16:creationId xmlns:a16="http://schemas.microsoft.com/office/drawing/2014/main" id="{E3426585-C831-4731-8D21-A25E8FA24D66}"/>
              </a:ext>
            </a:extLst>
          </p:cNvPr>
          <p:cNvSpPr>
            <a:spLocks noGrp="1"/>
          </p:cNvSpPr>
          <p:nvPr>
            <p:ph idx="1"/>
          </p:nvPr>
        </p:nvSpPr>
        <p:spPr>
          <a:xfrm>
            <a:off x="1465318" y="2232884"/>
            <a:ext cx="10364452" cy="3424107"/>
          </a:xfrm>
        </p:spPr>
        <p:txBody>
          <a:bodyPr>
            <a:normAutofit/>
          </a:bodyPr>
          <a:lstStyle/>
          <a:p>
            <a:pPr marL="0" indent="0">
              <a:lnSpc>
                <a:spcPct val="50000"/>
              </a:lnSpc>
              <a:spcBef>
                <a:spcPts val="1200"/>
              </a:spcBef>
              <a:buNone/>
            </a:pPr>
            <a:r>
              <a:rPr lang="en-GB" dirty="0"/>
              <a:t>State effects were discerned once the gender norms were allowed for.</a:t>
            </a:r>
          </a:p>
          <a:p>
            <a:pPr marL="0" indent="0">
              <a:lnSpc>
                <a:spcPct val="50000"/>
              </a:lnSpc>
              <a:spcBef>
                <a:spcPts val="1200"/>
              </a:spcBef>
              <a:buNone/>
            </a:pPr>
            <a:r>
              <a:rPr lang="en-GB" dirty="0"/>
              <a:t>A few of the state effects are large.</a:t>
            </a:r>
          </a:p>
          <a:p>
            <a:pPr marL="0" indent="0">
              <a:buNone/>
            </a:pPr>
            <a:endParaRPr lang="en-GB" dirty="0"/>
          </a:p>
          <a:p>
            <a:pPr algn="l"/>
            <a:endParaRPr lang="en-GB" dirty="0"/>
          </a:p>
        </p:txBody>
      </p:sp>
      <p:sp>
        <p:nvSpPr>
          <p:cNvPr id="4" name="Slide Number Placeholder 3">
            <a:extLst>
              <a:ext uri="{FF2B5EF4-FFF2-40B4-BE49-F238E27FC236}">
                <a16:creationId xmlns:a16="http://schemas.microsoft.com/office/drawing/2014/main" id="{386EE1C6-49C9-4B1C-AF5A-4C401BFCF88E}"/>
              </a:ext>
            </a:extLst>
          </p:cNvPr>
          <p:cNvSpPr>
            <a:spLocks noGrp="1"/>
          </p:cNvSpPr>
          <p:nvPr>
            <p:ph type="sldNum" sz="quarter" idx="12"/>
          </p:nvPr>
        </p:nvSpPr>
        <p:spPr/>
        <p:txBody>
          <a:bodyPr/>
          <a:lstStyle/>
          <a:p>
            <a:fld id="{1D72F41D-2C04-46BD-AD58-EC9976117EFB}" type="slidenum">
              <a:rPr lang="en-GB" smtClean="0"/>
              <a:t>14</a:t>
            </a:fld>
            <a:endParaRPr lang="en-GB" dirty="0"/>
          </a:p>
        </p:txBody>
      </p:sp>
      <p:graphicFrame>
        <p:nvGraphicFramePr>
          <p:cNvPr id="10" name="Table 9">
            <a:extLst>
              <a:ext uri="{FF2B5EF4-FFF2-40B4-BE49-F238E27FC236}">
                <a16:creationId xmlns:a16="http://schemas.microsoft.com/office/drawing/2014/main" id="{FCDFBCAB-5551-CD75-1002-A39C9B3F35C6}"/>
              </a:ext>
            </a:extLst>
          </p:cNvPr>
          <p:cNvGraphicFramePr>
            <a:graphicFrameLocks noGrp="1"/>
          </p:cNvGraphicFramePr>
          <p:nvPr>
            <p:extLst>
              <p:ext uri="{D42A27DB-BD31-4B8C-83A1-F6EECF244321}">
                <p14:modId xmlns:p14="http://schemas.microsoft.com/office/powerpoint/2010/main" val="1708173127"/>
              </p:ext>
            </p:extLst>
          </p:nvPr>
        </p:nvGraphicFramePr>
        <p:xfrm>
          <a:off x="3153228" y="2801299"/>
          <a:ext cx="6230254" cy="3987306"/>
        </p:xfrm>
        <a:graphic>
          <a:graphicData uri="http://schemas.openxmlformats.org/drawingml/2006/table">
            <a:tbl>
              <a:tblPr>
                <a:tableStyleId>{5C22544A-7EE6-4342-B048-85BDC9FD1C3A}</a:tableStyleId>
              </a:tblPr>
              <a:tblGrid>
                <a:gridCol w="968829">
                  <a:extLst>
                    <a:ext uri="{9D8B030D-6E8A-4147-A177-3AD203B41FA5}">
                      <a16:colId xmlns:a16="http://schemas.microsoft.com/office/drawing/2014/main" val="176681344"/>
                    </a:ext>
                  </a:extLst>
                </a:gridCol>
                <a:gridCol w="307305">
                  <a:extLst>
                    <a:ext uri="{9D8B030D-6E8A-4147-A177-3AD203B41FA5}">
                      <a16:colId xmlns:a16="http://schemas.microsoft.com/office/drawing/2014/main" val="3885877369"/>
                    </a:ext>
                  </a:extLst>
                </a:gridCol>
                <a:gridCol w="108367">
                  <a:extLst>
                    <a:ext uri="{9D8B030D-6E8A-4147-A177-3AD203B41FA5}">
                      <a16:colId xmlns:a16="http://schemas.microsoft.com/office/drawing/2014/main" val="1365551035"/>
                    </a:ext>
                  </a:extLst>
                </a:gridCol>
                <a:gridCol w="1384498">
                  <a:extLst>
                    <a:ext uri="{9D8B030D-6E8A-4147-A177-3AD203B41FA5}">
                      <a16:colId xmlns:a16="http://schemas.microsoft.com/office/drawing/2014/main" val="3405354884"/>
                    </a:ext>
                  </a:extLst>
                </a:gridCol>
                <a:gridCol w="692251">
                  <a:extLst>
                    <a:ext uri="{9D8B030D-6E8A-4147-A177-3AD203B41FA5}">
                      <a16:colId xmlns:a16="http://schemas.microsoft.com/office/drawing/2014/main" val="794456979"/>
                    </a:ext>
                  </a:extLst>
                </a:gridCol>
                <a:gridCol w="692251">
                  <a:extLst>
                    <a:ext uri="{9D8B030D-6E8A-4147-A177-3AD203B41FA5}">
                      <a16:colId xmlns:a16="http://schemas.microsoft.com/office/drawing/2014/main" val="2052326292"/>
                    </a:ext>
                  </a:extLst>
                </a:gridCol>
                <a:gridCol w="692251">
                  <a:extLst>
                    <a:ext uri="{9D8B030D-6E8A-4147-A177-3AD203B41FA5}">
                      <a16:colId xmlns:a16="http://schemas.microsoft.com/office/drawing/2014/main" val="765142351"/>
                    </a:ext>
                  </a:extLst>
                </a:gridCol>
                <a:gridCol w="692251">
                  <a:extLst>
                    <a:ext uri="{9D8B030D-6E8A-4147-A177-3AD203B41FA5}">
                      <a16:colId xmlns:a16="http://schemas.microsoft.com/office/drawing/2014/main" val="1023192809"/>
                    </a:ext>
                  </a:extLst>
                </a:gridCol>
                <a:gridCol w="692251">
                  <a:extLst>
                    <a:ext uri="{9D8B030D-6E8A-4147-A177-3AD203B41FA5}">
                      <a16:colId xmlns:a16="http://schemas.microsoft.com/office/drawing/2014/main" val="2679588013"/>
                    </a:ext>
                  </a:extLst>
                </a:gridCol>
              </a:tblGrid>
              <a:tr h="284741">
                <a:tc gridSpan="3">
                  <a:txBody>
                    <a:bodyPr/>
                    <a:lstStyle/>
                    <a:p>
                      <a:pPr algn="l" fontAlgn="b"/>
                      <a:r>
                        <a:rPr lang="en-GB" sz="1000" u="none" strike="noStrike">
                          <a:effectLst/>
                        </a:rPr>
                        <a:t>EXAMPLES:</a:t>
                      </a:r>
                      <a:endParaRPr lang="en-GB" sz="1000" b="0" i="0" u="none" strike="noStrike">
                        <a:solidFill>
                          <a:srgbClr val="000000"/>
                        </a:solidFill>
                        <a:effectLst/>
                        <a:latin typeface="Calibri" panose="020F0502020204030204" pitchFamily="34" charset="0"/>
                      </a:endParaRPr>
                    </a:p>
                  </a:txBody>
                  <a:tcPr marL="4473" marR="4473" marT="4473" marB="0" anchor="b"/>
                </a:tc>
                <a:tc hMerge="1">
                  <a:txBody>
                    <a:bodyPr/>
                    <a:lstStyle/>
                    <a:p>
                      <a:endParaRPr lang="en-GB"/>
                    </a:p>
                  </a:txBody>
                  <a:tcPr/>
                </a:tc>
                <a:tc hMerge="1">
                  <a:txBody>
                    <a:bodyPr/>
                    <a:lstStyle/>
                    <a:p>
                      <a:pPr algn="l" fontAlgn="b"/>
                      <a:endParaRPr lang="en-GB" sz="1000" b="0" i="0" u="none" strike="noStrike">
                        <a:solidFill>
                          <a:srgbClr val="000000"/>
                        </a:solidFill>
                        <a:effectLst/>
                        <a:latin typeface="Calibri" panose="020F0502020204030204" pitchFamily="34" charset="0"/>
                      </a:endParaRPr>
                    </a:p>
                  </a:txBody>
                  <a:tcPr marL="4435" marR="4435" marT="4435" marB="0" anchor="b"/>
                </a:tc>
                <a:tc>
                  <a:txBody>
                    <a:bodyPr/>
                    <a:lstStyle/>
                    <a:p>
                      <a:pPr algn="l" fontAlgn="b"/>
                      <a:endParaRPr lang="en-GB" sz="1000" b="0" i="0" u="none" strike="noStrike">
                        <a:solidFill>
                          <a:srgbClr val="000000"/>
                        </a:solidFill>
                        <a:effectLst/>
                        <a:latin typeface="Calibri" panose="020F0502020204030204" pitchFamily="34" charset="0"/>
                      </a:endParaRPr>
                    </a:p>
                  </a:txBody>
                  <a:tcPr marL="4549" marR="4549" marT="4549" marB="0" anchor="b"/>
                </a:tc>
                <a:tc gridSpan="5">
                  <a:txBody>
                    <a:bodyPr/>
                    <a:lstStyle/>
                    <a:p>
                      <a:pPr algn="l" fontAlgn="b"/>
                      <a:r>
                        <a:rPr lang="en-GB" sz="1000" u="none" strike="noStrike">
                          <a:effectLst/>
                        </a:rPr>
                        <a:t>MEASUREMENT IN MINUTES PER DAY OF CHILDCARE</a:t>
                      </a:r>
                      <a:endParaRPr lang="en-GB" sz="1000" b="0" i="0" u="none" strike="noStrike">
                        <a:solidFill>
                          <a:srgbClr val="000000"/>
                        </a:solidFill>
                        <a:effectLst/>
                        <a:latin typeface="Calibri" panose="020F0502020204030204" pitchFamily="34" charset="0"/>
                      </a:endParaRPr>
                    </a:p>
                  </a:txBody>
                  <a:tcPr marL="92218" marR="92218" marT="46109" marB="46109"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982299063"/>
                  </a:ext>
                </a:extLst>
              </a:tr>
              <a:tr h="425116">
                <a:tc gridSpan="2">
                  <a:txBody>
                    <a:bodyPr/>
                    <a:lstStyle/>
                    <a:p>
                      <a:pPr algn="l" fontAlgn="b"/>
                      <a:endParaRPr lang="en-GB" sz="1400" b="0" i="0" u="none" strike="noStrike">
                        <a:solidFill>
                          <a:srgbClr val="000000"/>
                        </a:solidFill>
                        <a:effectLst/>
                        <a:latin typeface="Calibri" panose="020F0502020204030204" pitchFamily="34" charset="0"/>
                      </a:endParaRPr>
                    </a:p>
                  </a:txBody>
                  <a:tcPr marL="4473" marR="4473" marT="4473" marB="0" anchor="b"/>
                </a:tc>
                <a:tc hMerge="1">
                  <a:txBody>
                    <a:bodyPr/>
                    <a:lstStyle/>
                    <a:p>
                      <a:pPr algn="l" fontAlgn="b"/>
                      <a:endParaRPr lang="en-GB" sz="1400" b="0" i="0" u="none" strike="noStrike">
                        <a:solidFill>
                          <a:srgbClr val="000000"/>
                        </a:solidFill>
                        <a:effectLst/>
                        <a:latin typeface="Calibri" panose="020F0502020204030204" pitchFamily="34" charset="0"/>
                      </a:endParaRPr>
                    </a:p>
                  </a:txBody>
                  <a:tcPr marL="4473" marR="4473" marT="4473" marB="0" anchor="b"/>
                </a:tc>
                <a:tc>
                  <a:txBody>
                    <a:bodyPr/>
                    <a:lstStyle/>
                    <a:p>
                      <a:pPr algn="l" fontAlgn="b"/>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ctr" fontAlgn="b"/>
                      <a:r>
                        <a:rPr lang="fr-FR" sz="1400" u="none" strike="noStrike" dirty="0">
                          <a:effectLst/>
                        </a:rPr>
                        <a:t>Coefficient</a:t>
                      </a:r>
                      <a:endParaRPr lang="fr-FR"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ctr" fontAlgn="b"/>
                      <a:r>
                        <a:rPr lang="en-GB" sz="1000" u="none" strike="noStrike" dirty="0">
                          <a:effectLst/>
                        </a:rPr>
                        <a:t>Std. error</a:t>
                      </a:r>
                      <a:endParaRPr lang="en-GB" sz="1000" b="0" i="0" u="none" strike="noStrike" dirty="0">
                        <a:solidFill>
                          <a:srgbClr val="000000"/>
                        </a:solidFill>
                        <a:effectLst/>
                        <a:latin typeface="Calibri" panose="020F0502020204030204" pitchFamily="34" charset="0"/>
                      </a:endParaRPr>
                    </a:p>
                  </a:txBody>
                  <a:tcPr marL="4549" marR="4549" marT="4549" marB="0" anchor="b"/>
                </a:tc>
                <a:tc>
                  <a:txBody>
                    <a:bodyPr/>
                    <a:lstStyle/>
                    <a:p>
                      <a:pPr algn="ctr" fontAlgn="b"/>
                      <a:r>
                        <a:rPr lang="en-GB" sz="1000" u="none" strike="noStrike" dirty="0">
                          <a:effectLst/>
                        </a:rPr>
                        <a:t>T</a:t>
                      </a:r>
                      <a:endParaRPr lang="en-GB" sz="1000" b="0" i="0" u="none" strike="noStrike" dirty="0">
                        <a:solidFill>
                          <a:srgbClr val="000000"/>
                        </a:solidFill>
                        <a:effectLst/>
                        <a:latin typeface="Calibri" panose="020F0502020204030204" pitchFamily="34" charset="0"/>
                      </a:endParaRPr>
                    </a:p>
                  </a:txBody>
                  <a:tcPr marL="4549" marR="4549" marT="4549" marB="0" anchor="b"/>
                </a:tc>
                <a:tc>
                  <a:txBody>
                    <a:bodyPr/>
                    <a:lstStyle/>
                    <a:p>
                      <a:pPr algn="ctr" fontAlgn="b"/>
                      <a:r>
                        <a:rPr lang="en-GB" sz="1000" u="none" strike="noStrike" dirty="0">
                          <a:effectLst/>
                        </a:rPr>
                        <a:t>P(t)</a:t>
                      </a:r>
                      <a:endParaRPr lang="en-GB" sz="1000" b="0" i="0" u="none" strike="noStrike" dirty="0">
                        <a:solidFill>
                          <a:srgbClr val="000000"/>
                        </a:solidFill>
                        <a:effectLst/>
                        <a:latin typeface="Calibri" panose="020F0502020204030204" pitchFamily="34" charset="0"/>
                      </a:endParaRPr>
                    </a:p>
                  </a:txBody>
                  <a:tcPr marL="4549" marR="4549" marT="4549" marB="0" anchor="b"/>
                </a:tc>
                <a:tc>
                  <a:txBody>
                    <a:bodyPr/>
                    <a:lstStyle/>
                    <a:p>
                      <a:pPr algn="ctr" fontAlgn="b"/>
                      <a:r>
                        <a:rPr lang="en-GB" sz="1000" u="none" strike="noStrike" dirty="0">
                          <a:effectLst/>
                        </a:rPr>
                        <a:t>Lower Bound</a:t>
                      </a:r>
                      <a:endParaRPr lang="en-GB" sz="1000" b="0" i="0" u="none" strike="noStrike" dirty="0">
                        <a:solidFill>
                          <a:srgbClr val="000000"/>
                        </a:solidFill>
                        <a:effectLst/>
                        <a:latin typeface="Calibri" panose="020F0502020204030204" pitchFamily="34" charset="0"/>
                      </a:endParaRPr>
                    </a:p>
                  </a:txBody>
                  <a:tcPr marL="4549" marR="4549" marT="4549" marB="0" anchor="b"/>
                </a:tc>
                <a:tc>
                  <a:txBody>
                    <a:bodyPr/>
                    <a:lstStyle/>
                    <a:p>
                      <a:pPr algn="ctr" fontAlgn="b"/>
                      <a:r>
                        <a:rPr lang="en-GB" sz="1000" u="none" strike="noStrike" dirty="0">
                          <a:effectLst/>
                        </a:rPr>
                        <a:t>Upper Bound</a:t>
                      </a:r>
                      <a:endParaRPr lang="en-GB" sz="1000" b="0" i="0" u="none" strike="noStrike" dirty="0">
                        <a:solidFill>
                          <a:srgbClr val="000000"/>
                        </a:solidFill>
                        <a:effectLst/>
                        <a:latin typeface="Calibri" panose="020F0502020204030204" pitchFamily="34" charset="0"/>
                      </a:endParaRPr>
                    </a:p>
                  </a:txBody>
                  <a:tcPr marL="4549" marR="4549" marT="4549" marB="0" anchor="b"/>
                </a:tc>
                <a:extLst>
                  <a:ext uri="{0D108BD9-81ED-4DB2-BD59-A6C34878D82A}">
                    <a16:rowId xmlns:a16="http://schemas.microsoft.com/office/drawing/2014/main" val="4269630288"/>
                  </a:ext>
                </a:extLst>
              </a:tr>
              <a:tr h="208016">
                <a:tc gridSpan="2">
                  <a:txBody>
                    <a:bodyPr/>
                    <a:lstStyle/>
                    <a:p>
                      <a:pPr algn="l" fontAlgn="b"/>
                      <a:r>
                        <a:rPr lang="en-GB" sz="1400" u="none" strike="noStrike">
                          <a:effectLst/>
                        </a:rPr>
                        <a:t>Rajasthan</a:t>
                      </a:r>
                      <a:endParaRPr lang="en-GB" sz="1400" b="0" i="0" u="none" strike="noStrike">
                        <a:solidFill>
                          <a:srgbClr val="000000"/>
                        </a:solidFill>
                        <a:effectLst/>
                        <a:latin typeface="Calibri" panose="020F0502020204030204" pitchFamily="34" charset="0"/>
                      </a:endParaRPr>
                    </a:p>
                  </a:txBody>
                  <a:tcPr marL="4473" marR="4473" marT="4473" marB="0" anchor="b"/>
                </a:tc>
                <a:tc hMerge="1">
                  <a:txBody>
                    <a:bodyPr/>
                    <a:lstStyle/>
                    <a:p>
                      <a:pPr algn="l" fontAlgn="b"/>
                      <a:endParaRPr lang="en-GB" sz="1400" b="0" i="0" u="none" strike="noStrike">
                        <a:solidFill>
                          <a:srgbClr val="000000"/>
                        </a:solidFill>
                        <a:effectLst/>
                        <a:latin typeface="Calibri" panose="020F0502020204030204" pitchFamily="34" charset="0"/>
                      </a:endParaRPr>
                    </a:p>
                  </a:txBody>
                  <a:tcPr marL="4473" marR="4473" marT="4473" marB="0" anchor="b"/>
                </a:tc>
                <a:tc>
                  <a:txBody>
                    <a:bodyPr/>
                    <a:lstStyle/>
                    <a:p>
                      <a:pPr algn="l" fontAlgn="b"/>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400" u="none" strike="noStrike" dirty="0">
                          <a:effectLst/>
                        </a:rPr>
                        <a:t>-37.9</a:t>
                      </a:r>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5.7</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-6.7</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0</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-49.1</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-26.7</a:t>
                      </a:r>
                      <a:endParaRPr lang="en-GB" sz="1000" b="0" i="0" u="none" strike="noStrike">
                        <a:solidFill>
                          <a:srgbClr val="000000"/>
                        </a:solidFill>
                        <a:effectLst/>
                        <a:latin typeface="Calibri" panose="020F0502020204030204" pitchFamily="34" charset="0"/>
                      </a:endParaRPr>
                    </a:p>
                  </a:txBody>
                  <a:tcPr marL="4549" marR="4549" marT="4549" marB="0" anchor="b"/>
                </a:tc>
                <a:extLst>
                  <a:ext uri="{0D108BD9-81ED-4DB2-BD59-A6C34878D82A}">
                    <a16:rowId xmlns:a16="http://schemas.microsoft.com/office/drawing/2014/main" val="1822364239"/>
                  </a:ext>
                </a:extLst>
              </a:tr>
              <a:tr h="208016">
                <a:tc gridSpan="2">
                  <a:txBody>
                    <a:bodyPr/>
                    <a:lstStyle/>
                    <a:p>
                      <a:pPr algn="l" fontAlgn="b"/>
                      <a:r>
                        <a:rPr lang="en-GB" sz="1400" u="none" strike="noStrike">
                          <a:effectLst/>
                        </a:rPr>
                        <a:t>Haryana</a:t>
                      </a:r>
                      <a:endParaRPr lang="en-GB" sz="1400" b="0" i="0" u="none" strike="noStrike">
                        <a:solidFill>
                          <a:srgbClr val="000000"/>
                        </a:solidFill>
                        <a:effectLst/>
                        <a:latin typeface="Calibri" panose="020F0502020204030204" pitchFamily="34" charset="0"/>
                      </a:endParaRPr>
                    </a:p>
                  </a:txBody>
                  <a:tcPr marL="4473" marR="4473" marT="4473" marB="0" anchor="b"/>
                </a:tc>
                <a:tc hMerge="1">
                  <a:txBody>
                    <a:bodyPr/>
                    <a:lstStyle/>
                    <a:p>
                      <a:pPr algn="l" fontAlgn="b"/>
                      <a:endParaRPr lang="en-GB" sz="1400" b="0" i="0" u="none" strike="noStrike">
                        <a:solidFill>
                          <a:srgbClr val="000000"/>
                        </a:solidFill>
                        <a:effectLst/>
                        <a:latin typeface="Calibri" panose="020F0502020204030204" pitchFamily="34" charset="0"/>
                      </a:endParaRPr>
                    </a:p>
                  </a:txBody>
                  <a:tcPr marL="4473" marR="4473" marT="4473" marB="0" anchor="b"/>
                </a:tc>
                <a:tc>
                  <a:txBody>
                    <a:bodyPr/>
                    <a:lstStyle/>
                    <a:p>
                      <a:pPr algn="l" fontAlgn="b"/>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400" u="none" strike="noStrike" dirty="0">
                          <a:effectLst/>
                        </a:rPr>
                        <a:t>-27.5</a:t>
                      </a:r>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6.1</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-4.5</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0</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-39.5</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-15.6</a:t>
                      </a:r>
                      <a:endParaRPr lang="en-GB" sz="1000" b="0" i="0" u="none" strike="noStrike">
                        <a:solidFill>
                          <a:srgbClr val="000000"/>
                        </a:solidFill>
                        <a:effectLst/>
                        <a:latin typeface="Calibri" panose="020F0502020204030204" pitchFamily="34" charset="0"/>
                      </a:endParaRPr>
                    </a:p>
                  </a:txBody>
                  <a:tcPr marL="4549" marR="4549" marT="4549" marB="0" anchor="b"/>
                </a:tc>
                <a:extLst>
                  <a:ext uri="{0D108BD9-81ED-4DB2-BD59-A6C34878D82A}">
                    <a16:rowId xmlns:a16="http://schemas.microsoft.com/office/drawing/2014/main" val="638507203"/>
                  </a:ext>
                </a:extLst>
              </a:tr>
              <a:tr h="208016">
                <a:tc gridSpan="2">
                  <a:txBody>
                    <a:bodyPr/>
                    <a:lstStyle/>
                    <a:p>
                      <a:pPr algn="l" fontAlgn="b"/>
                      <a:r>
                        <a:rPr lang="en-GB" sz="1400" u="none" strike="noStrike">
                          <a:effectLst/>
                        </a:rPr>
                        <a:t>Delhi</a:t>
                      </a:r>
                      <a:endParaRPr lang="en-GB" sz="1400" b="0" i="0" u="none" strike="noStrike">
                        <a:solidFill>
                          <a:srgbClr val="000000"/>
                        </a:solidFill>
                        <a:effectLst/>
                        <a:latin typeface="Calibri" panose="020F0502020204030204" pitchFamily="34" charset="0"/>
                      </a:endParaRPr>
                    </a:p>
                  </a:txBody>
                  <a:tcPr marL="4473" marR="4473" marT="4473" marB="0" anchor="b"/>
                </a:tc>
                <a:tc hMerge="1">
                  <a:txBody>
                    <a:bodyPr/>
                    <a:lstStyle/>
                    <a:p>
                      <a:pPr algn="l" fontAlgn="b"/>
                      <a:endParaRPr lang="en-GB" sz="1400" b="0" i="0" u="none" strike="noStrike">
                        <a:solidFill>
                          <a:srgbClr val="000000"/>
                        </a:solidFill>
                        <a:effectLst/>
                        <a:latin typeface="Calibri" panose="020F0502020204030204" pitchFamily="34" charset="0"/>
                      </a:endParaRPr>
                    </a:p>
                  </a:txBody>
                  <a:tcPr marL="4473" marR="4473" marT="4473" marB="0" anchor="b"/>
                </a:tc>
                <a:tc>
                  <a:txBody>
                    <a:bodyPr/>
                    <a:lstStyle/>
                    <a:p>
                      <a:pPr algn="l" fontAlgn="b"/>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400" u="none" strike="noStrike" dirty="0">
                          <a:effectLst/>
                        </a:rPr>
                        <a:t>-25.0</a:t>
                      </a:r>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7.0</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-3.6</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0</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-38.7</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-11.4</a:t>
                      </a:r>
                      <a:endParaRPr lang="en-GB" sz="1000" b="0" i="0" u="none" strike="noStrike">
                        <a:solidFill>
                          <a:srgbClr val="000000"/>
                        </a:solidFill>
                        <a:effectLst/>
                        <a:latin typeface="Calibri" panose="020F0502020204030204" pitchFamily="34" charset="0"/>
                      </a:endParaRPr>
                    </a:p>
                  </a:txBody>
                  <a:tcPr marL="4549" marR="4549" marT="4549" marB="0" anchor="b"/>
                </a:tc>
                <a:extLst>
                  <a:ext uri="{0D108BD9-81ED-4DB2-BD59-A6C34878D82A}">
                    <a16:rowId xmlns:a16="http://schemas.microsoft.com/office/drawing/2014/main" val="3801205031"/>
                  </a:ext>
                </a:extLst>
              </a:tr>
              <a:tr h="208016">
                <a:tc gridSpan="3">
                  <a:txBody>
                    <a:bodyPr/>
                    <a:lstStyle/>
                    <a:p>
                      <a:pPr algn="l" fontAlgn="b"/>
                      <a:r>
                        <a:rPr lang="en-GB" sz="1400" u="none" strike="noStrike" dirty="0">
                          <a:effectLst/>
                        </a:rPr>
                        <a:t>Uttar Pradesh</a:t>
                      </a:r>
                      <a:endParaRPr lang="en-GB" sz="1400" b="0" i="0" u="none" strike="noStrike" dirty="0">
                        <a:solidFill>
                          <a:srgbClr val="000000"/>
                        </a:solidFill>
                        <a:effectLst/>
                        <a:latin typeface="Calibri" panose="020F0502020204030204" pitchFamily="34" charset="0"/>
                      </a:endParaRPr>
                    </a:p>
                  </a:txBody>
                  <a:tcPr marL="4473" marR="4473" marT="4473" marB="0" anchor="b"/>
                </a:tc>
                <a:tc hMerge="1">
                  <a:txBody>
                    <a:bodyPr/>
                    <a:lstStyle/>
                    <a:p>
                      <a:endParaRPr lang="en-GB"/>
                    </a:p>
                  </a:txBody>
                  <a:tcPr/>
                </a:tc>
                <a:tc hMerge="1">
                  <a:txBody>
                    <a:bodyPr/>
                    <a:lstStyle/>
                    <a:p>
                      <a:pPr algn="l" fontAlgn="b"/>
                      <a:endParaRPr lang="en-GB" sz="1400" b="0" i="0" u="none" strike="noStrike" dirty="0">
                        <a:solidFill>
                          <a:srgbClr val="000000"/>
                        </a:solidFill>
                        <a:effectLst/>
                        <a:latin typeface="Calibri" panose="020F0502020204030204" pitchFamily="34" charset="0"/>
                      </a:endParaRPr>
                    </a:p>
                  </a:txBody>
                  <a:tcPr marL="4435" marR="4435" marT="4435" marB="0" anchor="b"/>
                </a:tc>
                <a:tc>
                  <a:txBody>
                    <a:bodyPr/>
                    <a:lstStyle/>
                    <a:p>
                      <a:pPr algn="r" fontAlgn="b"/>
                      <a:r>
                        <a:rPr lang="en-GB" sz="1400" u="none" strike="noStrike" dirty="0">
                          <a:effectLst/>
                        </a:rPr>
                        <a:t>-21.8</a:t>
                      </a:r>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5.5</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-3.9</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0</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-32.7</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-11.0</a:t>
                      </a:r>
                      <a:endParaRPr lang="en-GB" sz="1000" b="0" i="0" u="none" strike="noStrike">
                        <a:solidFill>
                          <a:srgbClr val="000000"/>
                        </a:solidFill>
                        <a:effectLst/>
                        <a:latin typeface="Calibri" panose="020F0502020204030204" pitchFamily="34" charset="0"/>
                      </a:endParaRPr>
                    </a:p>
                  </a:txBody>
                  <a:tcPr marL="4549" marR="4549" marT="4549" marB="0" anchor="b"/>
                </a:tc>
                <a:extLst>
                  <a:ext uri="{0D108BD9-81ED-4DB2-BD59-A6C34878D82A}">
                    <a16:rowId xmlns:a16="http://schemas.microsoft.com/office/drawing/2014/main" val="4081133169"/>
                  </a:ext>
                </a:extLst>
              </a:tr>
              <a:tr h="411689">
                <a:tc>
                  <a:txBody>
                    <a:bodyPr/>
                    <a:lstStyle/>
                    <a:p>
                      <a:pPr algn="l" fontAlgn="b"/>
                      <a:r>
                        <a:rPr lang="en-GB" sz="1400" u="none" strike="noStrike">
                          <a:effectLst/>
                        </a:rPr>
                        <a:t>Jharkhand</a:t>
                      </a:r>
                      <a:endParaRPr lang="en-GB" sz="1400" b="0" i="0" u="none" strike="noStrike">
                        <a:solidFill>
                          <a:srgbClr val="000000"/>
                        </a:solidFill>
                        <a:effectLst/>
                        <a:latin typeface="Calibri" panose="020F0502020204030204" pitchFamily="34" charset="0"/>
                      </a:endParaRPr>
                    </a:p>
                  </a:txBody>
                  <a:tcPr marL="4549" marR="4549" marT="4549" marB="0" anchor="b"/>
                </a:tc>
                <a:tc gridSpan="2">
                  <a:txBody>
                    <a:bodyPr/>
                    <a:lstStyle/>
                    <a:p>
                      <a:endParaRPr lang="en-GB" dirty="0"/>
                    </a:p>
                  </a:txBody>
                  <a:tcPr marL="4473" marR="4473" marT="4473" marB="0" anchor="b"/>
                </a:tc>
                <a:tc hMerge="1">
                  <a:txBody>
                    <a:bodyPr/>
                    <a:lstStyle/>
                    <a:p>
                      <a:pPr algn="l" fontAlgn="b"/>
                      <a:endParaRPr lang="en-GB" sz="1400" b="0" i="0" u="none" strike="noStrike" dirty="0">
                        <a:solidFill>
                          <a:srgbClr val="000000"/>
                        </a:solidFill>
                        <a:effectLst/>
                        <a:latin typeface="Calibri" panose="020F0502020204030204" pitchFamily="34" charset="0"/>
                      </a:endParaRPr>
                    </a:p>
                  </a:txBody>
                  <a:tcPr marL="4435" marR="4435" marT="4435" marB="0" anchor="b"/>
                </a:tc>
                <a:tc>
                  <a:txBody>
                    <a:bodyPr/>
                    <a:lstStyle/>
                    <a:p>
                      <a:pPr algn="r" fontAlgn="b"/>
                      <a:r>
                        <a:rPr lang="en-GB" sz="1400" u="none" strike="noStrike" dirty="0">
                          <a:effectLst/>
                        </a:rPr>
                        <a:t>38.1</a:t>
                      </a:r>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dirty="0">
                          <a:effectLst/>
                        </a:rPr>
                        <a:t>6.1</a:t>
                      </a:r>
                      <a:endParaRPr lang="en-GB" sz="10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6.2</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dirty="0">
                          <a:effectLst/>
                        </a:rPr>
                        <a:t>0</a:t>
                      </a:r>
                      <a:endParaRPr lang="en-GB" sz="10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dirty="0">
                          <a:effectLst/>
                        </a:rPr>
                        <a:t>26.1</a:t>
                      </a:r>
                      <a:endParaRPr lang="en-GB" sz="10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dirty="0">
                          <a:effectLst/>
                        </a:rPr>
                        <a:t>50.1</a:t>
                      </a:r>
                      <a:endParaRPr lang="en-GB" sz="1000" b="0" i="0" u="none" strike="noStrike" dirty="0">
                        <a:solidFill>
                          <a:srgbClr val="000000"/>
                        </a:solidFill>
                        <a:effectLst/>
                        <a:latin typeface="Calibri" panose="020F0502020204030204" pitchFamily="34" charset="0"/>
                      </a:endParaRPr>
                    </a:p>
                  </a:txBody>
                  <a:tcPr marL="4549" marR="4549" marT="4549" marB="0" anchor="b"/>
                </a:tc>
                <a:extLst>
                  <a:ext uri="{0D108BD9-81ED-4DB2-BD59-A6C34878D82A}">
                    <a16:rowId xmlns:a16="http://schemas.microsoft.com/office/drawing/2014/main" val="1346887950"/>
                  </a:ext>
                </a:extLst>
              </a:tr>
              <a:tr h="208016">
                <a:tc gridSpan="3">
                  <a:txBody>
                    <a:bodyPr/>
                    <a:lstStyle/>
                    <a:p>
                      <a:pPr algn="l" fontAlgn="b"/>
                      <a:r>
                        <a:rPr lang="en-GB" sz="1400" u="none" strike="noStrike" dirty="0">
                          <a:effectLst/>
                        </a:rPr>
                        <a:t>Uttarakhand</a:t>
                      </a:r>
                      <a:endParaRPr lang="en-GB" sz="1400" b="0" i="0" u="none" strike="noStrike" dirty="0">
                        <a:solidFill>
                          <a:srgbClr val="000000"/>
                        </a:solidFill>
                        <a:effectLst/>
                        <a:latin typeface="Calibri" panose="020F0502020204030204" pitchFamily="34" charset="0"/>
                      </a:endParaRPr>
                    </a:p>
                  </a:txBody>
                  <a:tcPr marL="4473" marR="4473" marT="4473" marB="0" anchor="b"/>
                </a:tc>
                <a:tc hMerge="1">
                  <a:txBody>
                    <a:bodyPr/>
                    <a:lstStyle/>
                    <a:p>
                      <a:endParaRPr lang="en-GB"/>
                    </a:p>
                  </a:txBody>
                  <a:tcPr/>
                </a:tc>
                <a:tc hMerge="1">
                  <a:txBody>
                    <a:bodyPr/>
                    <a:lstStyle/>
                    <a:p>
                      <a:pPr algn="l" fontAlgn="b"/>
                      <a:endParaRPr lang="en-GB" sz="1400" b="0" i="0" u="none" strike="noStrike" dirty="0">
                        <a:solidFill>
                          <a:srgbClr val="000000"/>
                        </a:solidFill>
                        <a:effectLst/>
                        <a:latin typeface="Calibri" panose="020F0502020204030204" pitchFamily="34" charset="0"/>
                      </a:endParaRPr>
                    </a:p>
                  </a:txBody>
                  <a:tcPr marL="4435" marR="4435" marT="4435" marB="0" anchor="b"/>
                </a:tc>
                <a:tc>
                  <a:txBody>
                    <a:bodyPr/>
                    <a:lstStyle/>
                    <a:p>
                      <a:pPr algn="r" fontAlgn="b"/>
                      <a:r>
                        <a:rPr lang="en-GB" sz="1400" u="none" strike="noStrike" dirty="0">
                          <a:effectLst/>
                        </a:rPr>
                        <a:t>38.2</a:t>
                      </a:r>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8.4</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4.5</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0</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21.6</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54.7</a:t>
                      </a:r>
                      <a:endParaRPr lang="en-GB" sz="1000" b="0" i="0" u="none" strike="noStrike">
                        <a:solidFill>
                          <a:srgbClr val="000000"/>
                        </a:solidFill>
                        <a:effectLst/>
                        <a:latin typeface="Calibri" panose="020F0502020204030204" pitchFamily="34" charset="0"/>
                      </a:endParaRPr>
                    </a:p>
                  </a:txBody>
                  <a:tcPr marL="4549" marR="4549" marT="4549" marB="0" anchor="b"/>
                </a:tc>
                <a:extLst>
                  <a:ext uri="{0D108BD9-81ED-4DB2-BD59-A6C34878D82A}">
                    <a16:rowId xmlns:a16="http://schemas.microsoft.com/office/drawing/2014/main" val="3781558048"/>
                  </a:ext>
                </a:extLst>
              </a:tr>
              <a:tr h="208016">
                <a:tc>
                  <a:txBody>
                    <a:bodyPr/>
                    <a:lstStyle/>
                    <a:p>
                      <a:pPr algn="l" fontAlgn="b"/>
                      <a:r>
                        <a:rPr lang="en-GB" sz="1400" u="none" strike="noStrike">
                          <a:effectLst/>
                        </a:rPr>
                        <a:t>Odisha</a:t>
                      </a:r>
                      <a:endParaRPr lang="en-GB" sz="1400" b="0" i="0" u="none" strike="noStrike">
                        <a:solidFill>
                          <a:srgbClr val="000000"/>
                        </a:solidFill>
                        <a:effectLst/>
                        <a:latin typeface="Calibri" panose="020F0502020204030204" pitchFamily="34" charset="0"/>
                      </a:endParaRPr>
                    </a:p>
                  </a:txBody>
                  <a:tcPr marL="4549" marR="4549" marT="4549" marB="0" anchor="b"/>
                </a:tc>
                <a:tc gridSpan="2">
                  <a:txBody>
                    <a:bodyPr/>
                    <a:lstStyle/>
                    <a:p>
                      <a:endParaRPr lang="en-GB" dirty="0"/>
                    </a:p>
                  </a:txBody>
                  <a:tcPr marL="4473" marR="4473" marT="4473" marB="0" anchor="b"/>
                </a:tc>
                <a:tc hMerge="1">
                  <a:txBody>
                    <a:bodyPr/>
                    <a:lstStyle/>
                    <a:p>
                      <a:pPr algn="l" fontAlgn="b"/>
                      <a:endParaRPr lang="en-GB" sz="1400" b="0" i="0" u="none" strike="noStrike" dirty="0">
                        <a:solidFill>
                          <a:srgbClr val="000000"/>
                        </a:solidFill>
                        <a:effectLst/>
                        <a:latin typeface="Calibri" panose="020F0502020204030204" pitchFamily="34" charset="0"/>
                      </a:endParaRPr>
                    </a:p>
                  </a:txBody>
                  <a:tcPr marL="4435" marR="4435" marT="4435" marB="0" anchor="b"/>
                </a:tc>
                <a:tc>
                  <a:txBody>
                    <a:bodyPr/>
                    <a:lstStyle/>
                    <a:p>
                      <a:pPr algn="r" fontAlgn="b"/>
                      <a:r>
                        <a:rPr lang="en-GB" sz="1400" u="none" strike="noStrike" dirty="0">
                          <a:effectLst/>
                        </a:rPr>
                        <a:t>39.6</a:t>
                      </a:r>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6.3</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6.3</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0</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27.2</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52.0</a:t>
                      </a:r>
                      <a:endParaRPr lang="en-GB" sz="1000" b="0" i="0" u="none" strike="noStrike">
                        <a:solidFill>
                          <a:srgbClr val="000000"/>
                        </a:solidFill>
                        <a:effectLst/>
                        <a:latin typeface="Calibri" panose="020F0502020204030204" pitchFamily="34" charset="0"/>
                      </a:endParaRPr>
                    </a:p>
                  </a:txBody>
                  <a:tcPr marL="4549" marR="4549" marT="4549" marB="0" anchor="b"/>
                </a:tc>
                <a:extLst>
                  <a:ext uri="{0D108BD9-81ED-4DB2-BD59-A6C34878D82A}">
                    <a16:rowId xmlns:a16="http://schemas.microsoft.com/office/drawing/2014/main" val="592369972"/>
                  </a:ext>
                </a:extLst>
              </a:tr>
              <a:tr h="208016">
                <a:tc gridSpan="3">
                  <a:txBody>
                    <a:bodyPr/>
                    <a:lstStyle/>
                    <a:p>
                      <a:pPr algn="l" fontAlgn="b"/>
                      <a:r>
                        <a:rPr lang="en-GB" sz="1400" u="none" strike="noStrike" dirty="0">
                          <a:effectLst/>
                        </a:rPr>
                        <a:t>West Bengal</a:t>
                      </a:r>
                      <a:endParaRPr lang="en-GB" sz="1400" b="0" i="0" u="none" strike="noStrike" dirty="0">
                        <a:solidFill>
                          <a:srgbClr val="000000"/>
                        </a:solidFill>
                        <a:effectLst/>
                        <a:latin typeface="Calibri" panose="020F0502020204030204" pitchFamily="34" charset="0"/>
                      </a:endParaRPr>
                    </a:p>
                  </a:txBody>
                  <a:tcPr marL="4473" marR="4473" marT="4473" marB="0" anchor="b"/>
                </a:tc>
                <a:tc hMerge="1">
                  <a:txBody>
                    <a:bodyPr/>
                    <a:lstStyle/>
                    <a:p>
                      <a:endParaRPr lang="en-GB"/>
                    </a:p>
                  </a:txBody>
                  <a:tcPr/>
                </a:tc>
                <a:tc hMerge="1">
                  <a:txBody>
                    <a:bodyPr/>
                    <a:lstStyle/>
                    <a:p>
                      <a:pPr algn="l" fontAlgn="b"/>
                      <a:endParaRPr lang="en-GB" sz="1400" b="0" i="0" u="none" strike="noStrike" dirty="0">
                        <a:solidFill>
                          <a:srgbClr val="000000"/>
                        </a:solidFill>
                        <a:effectLst/>
                        <a:latin typeface="Calibri" panose="020F0502020204030204" pitchFamily="34" charset="0"/>
                      </a:endParaRPr>
                    </a:p>
                  </a:txBody>
                  <a:tcPr marL="4435" marR="4435" marT="4435" marB="0" anchor="b"/>
                </a:tc>
                <a:tc>
                  <a:txBody>
                    <a:bodyPr/>
                    <a:lstStyle/>
                    <a:p>
                      <a:pPr algn="r" fontAlgn="b"/>
                      <a:r>
                        <a:rPr lang="en-GB" sz="1400" u="none" strike="noStrike" dirty="0">
                          <a:effectLst/>
                        </a:rPr>
                        <a:t>54.5</a:t>
                      </a:r>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5.8</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9.4</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0</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43.2</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65.8</a:t>
                      </a:r>
                      <a:endParaRPr lang="en-GB" sz="1000" b="0" i="0" u="none" strike="noStrike">
                        <a:solidFill>
                          <a:srgbClr val="000000"/>
                        </a:solidFill>
                        <a:effectLst/>
                        <a:latin typeface="Calibri" panose="020F0502020204030204" pitchFamily="34" charset="0"/>
                      </a:endParaRPr>
                    </a:p>
                  </a:txBody>
                  <a:tcPr marL="4549" marR="4549" marT="4549" marB="0" anchor="b"/>
                </a:tc>
                <a:extLst>
                  <a:ext uri="{0D108BD9-81ED-4DB2-BD59-A6C34878D82A}">
                    <a16:rowId xmlns:a16="http://schemas.microsoft.com/office/drawing/2014/main" val="746541841"/>
                  </a:ext>
                </a:extLst>
              </a:tr>
              <a:tr h="208016">
                <a:tc>
                  <a:txBody>
                    <a:bodyPr/>
                    <a:lstStyle/>
                    <a:p>
                      <a:pPr algn="l" fontAlgn="b"/>
                      <a:r>
                        <a:rPr lang="en-GB" sz="1400" u="none" strike="noStrike">
                          <a:effectLst/>
                        </a:rPr>
                        <a:t>Bihar</a:t>
                      </a:r>
                      <a:endParaRPr lang="en-GB" sz="1400" b="0" i="0" u="none" strike="noStrike">
                        <a:solidFill>
                          <a:srgbClr val="000000"/>
                        </a:solidFill>
                        <a:effectLst/>
                        <a:latin typeface="Calibri" panose="020F0502020204030204" pitchFamily="34" charset="0"/>
                      </a:endParaRPr>
                    </a:p>
                  </a:txBody>
                  <a:tcPr marL="4549" marR="4549" marT="4549" marB="0" anchor="b"/>
                </a:tc>
                <a:tc gridSpan="2">
                  <a:txBody>
                    <a:bodyPr/>
                    <a:lstStyle/>
                    <a:p>
                      <a:endParaRPr lang="en-GB"/>
                    </a:p>
                  </a:txBody>
                  <a:tcPr marL="4473" marR="4473" marT="4473" marB="0" anchor="b"/>
                </a:tc>
                <a:tc hMerge="1">
                  <a:txBody>
                    <a:bodyPr/>
                    <a:lstStyle/>
                    <a:p>
                      <a:pPr algn="l" fontAlgn="b"/>
                      <a:endParaRPr lang="en-GB" sz="1400" b="0" i="0" u="none" strike="noStrike" dirty="0">
                        <a:solidFill>
                          <a:srgbClr val="000000"/>
                        </a:solidFill>
                        <a:effectLst/>
                        <a:latin typeface="Calibri" panose="020F0502020204030204" pitchFamily="34" charset="0"/>
                      </a:endParaRPr>
                    </a:p>
                  </a:txBody>
                  <a:tcPr marL="4435" marR="4435" marT="4435" marB="0" anchor="b"/>
                </a:tc>
                <a:tc>
                  <a:txBody>
                    <a:bodyPr/>
                    <a:lstStyle/>
                    <a:p>
                      <a:pPr algn="r" fontAlgn="b"/>
                      <a:r>
                        <a:rPr lang="en-GB" sz="1400" u="none" strike="noStrike" dirty="0">
                          <a:effectLst/>
                        </a:rPr>
                        <a:t>59.8</a:t>
                      </a:r>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5.7</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10.6</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0</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48.7</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70.9</a:t>
                      </a:r>
                      <a:endParaRPr lang="en-GB" sz="1000" b="0" i="0" u="none" strike="noStrike">
                        <a:solidFill>
                          <a:srgbClr val="000000"/>
                        </a:solidFill>
                        <a:effectLst/>
                        <a:latin typeface="Calibri" panose="020F0502020204030204" pitchFamily="34" charset="0"/>
                      </a:endParaRPr>
                    </a:p>
                  </a:txBody>
                  <a:tcPr marL="4549" marR="4549" marT="4549" marB="0" anchor="b"/>
                </a:tc>
                <a:extLst>
                  <a:ext uri="{0D108BD9-81ED-4DB2-BD59-A6C34878D82A}">
                    <a16:rowId xmlns:a16="http://schemas.microsoft.com/office/drawing/2014/main" val="2117215793"/>
                  </a:ext>
                </a:extLst>
              </a:tr>
              <a:tr h="208016">
                <a:tc>
                  <a:txBody>
                    <a:bodyPr/>
                    <a:lstStyle/>
                    <a:p>
                      <a:pPr algn="l" fontAlgn="b"/>
                      <a:r>
                        <a:rPr lang="en-GB" sz="1400" u="none" strike="noStrike">
                          <a:effectLst/>
                        </a:rPr>
                        <a:t>Assam</a:t>
                      </a:r>
                      <a:endParaRPr lang="en-GB" sz="1400" b="0" i="0" u="none" strike="noStrike">
                        <a:solidFill>
                          <a:srgbClr val="000000"/>
                        </a:solidFill>
                        <a:effectLst/>
                        <a:latin typeface="Calibri" panose="020F0502020204030204" pitchFamily="34" charset="0"/>
                      </a:endParaRPr>
                    </a:p>
                  </a:txBody>
                  <a:tcPr marL="4549" marR="4549" marT="4549" marB="0" anchor="b"/>
                </a:tc>
                <a:tc gridSpan="2">
                  <a:txBody>
                    <a:bodyPr/>
                    <a:lstStyle/>
                    <a:p>
                      <a:endParaRPr lang="en-GB" dirty="0"/>
                    </a:p>
                  </a:txBody>
                  <a:tcPr marL="4473" marR="4473" marT="4473" marB="0" anchor="b"/>
                </a:tc>
                <a:tc hMerge="1">
                  <a:txBody>
                    <a:bodyPr/>
                    <a:lstStyle/>
                    <a:p>
                      <a:pPr algn="l" fontAlgn="b"/>
                      <a:endParaRPr lang="en-GB" sz="1400" b="0" i="0" u="none" strike="noStrike" dirty="0">
                        <a:solidFill>
                          <a:srgbClr val="000000"/>
                        </a:solidFill>
                        <a:effectLst/>
                        <a:latin typeface="Calibri" panose="020F0502020204030204" pitchFamily="34" charset="0"/>
                      </a:endParaRPr>
                    </a:p>
                  </a:txBody>
                  <a:tcPr marL="4435" marR="4435" marT="4435" marB="0" anchor="b"/>
                </a:tc>
                <a:tc>
                  <a:txBody>
                    <a:bodyPr/>
                    <a:lstStyle/>
                    <a:p>
                      <a:pPr algn="r" fontAlgn="b"/>
                      <a:r>
                        <a:rPr lang="en-GB" sz="1400" u="none" strike="noStrike" dirty="0">
                          <a:effectLst/>
                        </a:rPr>
                        <a:t>81.8</a:t>
                      </a:r>
                      <a:endParaRPr lang="en-GB" sz="1400" b="0" i="0" u="none" strike="noStrike" dirty="0">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5.8</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14.1</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0</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70.4</a:t>
                      </a:r>
                      <a:endParaRPr lang="en-GB" sz="1000" b="0" i="0" u="none" strike="noStrike">
                        <a:solidFill>
                          <a:srgbClr val="000000"/>
                        </a:solidFill>
                        <a:effectLst/>
                        <a:latin typeface="Calibri" panose="020F0502020204030204" pitchFamily="34" charset="0"/>
                      </a:endParaRPr>
                    </a:p>
                  </a:txBody>
                  <a:tcPr marL="4549" marR="4549" marT="4549" marB="0" anchor="b"/>
                </a:tc>
                <a:tc>
                  <a:txBody>
                    <a:bodyPr/>
                    <a:lstStyle/>
                    <a:p>
                      <a:pPr algn="r" fontAlgn="b"/>
                      <a:r>
                        <a:rPr lang="en-GB" sz="1000" u="none" strike="noStrike">
                          <a:effectLst/>
                        </a:rPr>
                        <a:t>93.2</a:t>
                      </a:r>
                      <a:endParaRPr lang="en-GB" sz="1000" b="0" i="0" u="none" strike="noStrike">
                        <a:solidFill>
                          <a:srgbClr val="000000"/>
                        </a:solidFill>
                        <a:effectLst/>
                        <a:latin typeface="Calibri" panose="020F0502020204030204" pitchFamily="34" charset="0"/>
                      </a:endParaRPr>
                    </a:p>
                  </a:txBody>
                  <a:tcPr marL="4549" marR="4549" marT="4549" marB="0" anchor="b"/>
                </a:tc>
                <a:extLst>
                  <a:ext uri="{0D108BD9-81ED-4DB2-BD59-A6C34878D82A}">
                    <a16:rowId xmlns:a16="http://schemas.microsoft.com/office/drawing/2014/main" val="1860889327"/>
                  </a:ext>
                </a:extLst>
              </a:tr>
              <a:tr h="284741">
                <a:tc gridSpan="9">
                  <a:txBody>
                    <a:bodyPr/>
                    <a:lstStyle/>
                    <a:p>
                      <a:pPr algn="l" fontAlgn="b"/>
                      <a:r>
                        <a:rPr lang="en-GB" sz="1200" u="none" strike="noStrike" dirty="0">
                          <a:effectLst/>
                        </a:rPr>
                        <a:t>The base case state was Andhra Pradesh and controls were social group, rural, has someone</a:t>
                      </a:r>
                      <a:endParaRPr lang="en-GB" sz="1200" b="0" i="0" u="none" strike="noStrike" dirty="0">
                        <a:solidFill>
                          <a:srgbClr val="000000"/>
                        </a:solidFill>
                        <a:effectLst/>
                        <a:latin typeface="Calibri" panose="020F0502020204030204" pitchFamily="34" charset="0"/>
                      </a:endParaRPr>
                    </a:p>
                  </a:txBody>
                  <a:tcPr marL="92218" marR="92218" marT="46109" marB="46109"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10871987"/>
                  </a:ext>
                </a:extLst>
              </a:tr>
              <a:tr h="437186">
                <a:tc gridSpan="9">
                  <a:txBody>
                    <a:bodyPr/>
                    <a:lstStyle/>
                    <a:p>
                      <a:pPr algn="l" fontAlgn="b"/>
                      <a:r>
                        <a:rPr lang="en-GB" sz="1200" u="none" strike="noStrike" dirty="0">
                          <a:effectLst/>
                        </a:rPr>
                        <a:t>in a teaching or computing profession in the household, number of children, </a:t>
                      </a:r>
                      <a:r>
                        <a:rPr lang="en-GB" sz="1200" u="none" strike="noStrike" dirty="0" err="1">
                          <a:effectLst/>
                        </a:rPr>
                        <a:t>agegroup</a:t>
                      </a:r>
                      <a:r>
                        <a:rPr lang="en-GB" sz="1200" u="none" strike="noStrike" dirty="0">
                          <a:effectLst/>
                        </a:rPr>
                        <a:t>, gender.</a:t>
                      </a:r>
                      <a:endParaRPr lang="en-GB" sz="1200" b="0" i="0" u="none" strike="noStrike" dirty="0">
                        <a:solidFill>
                          <a:srgbClr val="000000"/>
                        </a:solidFill>
                        <a:effectLst/>
                        <a:latin typeface="Calibri" panose="020F0502020204030204" pitchFamily="34" charset="0"/>
                      </a:endParaRPr>
                    </a:p>
                  </a:txBody>
                  <a:tcPr marL="92218" marR="92218" marT="46109" marB="46109"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861795782"/>
                  </a:ext>
                </a:extLst>
              </a:tr>
            </a:tbl>
          </a:graphicData>
        </a:graphic>
      </p:graphicFrame>
    </p:spTree>
    <p:extLst>
      <p:ext uri="{BB962C8B-B14F-4D97-AF65-F5344CB8AC3E}">
        <p14:creationId xmlns:p14="http://schemas.microsoft.com/office/powerpoint/2010/main" val="3255576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regression results  ( tests ) </a:t>
            </a:r>
          </a:p>
        </p:txBody>
      </p:sp>
      <p:graphicFrame>
        <p:nvGraphicFramePr>
          <p:cNvPr id="5" name="Content Placeholder 4">
            <a:extLst>
              <a:ext uri="{FF2B5EF4-FFF2-40B4-BE49-F238E27FC236}">
                <a16:creationId xmlns:a16="http://schemas.microsoft.com/office/drawing/2014/main" id="{7502F500-2EF1-9CA6-0649-53F31863E956}"/>
              </a:ext>
            </a:extLst>
          </p:cNvPr>
          <p:cNvGraphicFramePr>
            <a:graphicFrameLocks noGrp="1"/>
          </p:cNvGraphicFramePr>
          <p:nvPr>
            <p:ph idx="1"/>
            <p:extLst>
              <p:ext uri="{D42A27DB-BD31-4B8C-83A1-F6EECF244321}">
                <p14:modId xmlns:p14="http://schemas.microsoft.com/office/powerpoint/2010/main" val="3241209587"/>
              </p:ext>
            </p:extLst>
          </p:nvPr>
        </p:nvGraphicFramePr>
        <p:xfrm>
          <a:off x="1676400" y="2441024"/>
          <a:ext cx="10363195" cy="2926080"/>
        </p:xfrm>
        <a:graphic>
          <a:graphicData uri="http://schemas.openxmlformats.org/drawingml/2006/table">
            <a:tbl>
              <a:tblPr firstRow="1" bandRow="1">
                <a:tableStyleId>{5C22544A-7EE6-4342-B048-85BDC9FD1C3A}</a:tableStyleId>
              </a:tblPr>
              <a:tblGrid>
                <a:gridCol w="2072639">
                  <a:extLst>
                    <a:ext uri="{9D8B030D-6E8A-4147-A177-3AD203B41FA5}">
                      <a16:colId xmlns:a16="http://schemas.microsoft.com/office/drawing/2014/main" val="571861084"/>
                    </a:ext>
                  </a:extLst>
                </a:gridCol>
                <a:gridCol w="2072639">
                  <a:extLst>
                    <a:ext uri="{9D8B030D-6E8A-4147-A177-3AD203B41FA5}">
                      <a16:colId xmlns:a16="http://schemas.microsoft.com/office/drawing/2014/main" val="1573736847"/>
                    </a:ext>
                  </a:extLst>
                </a:gridCol>
                <a:gridCol w="2072639">
                  <a:extLst>
                    <a:ext uri="{9D8B030D-6E8A-4147-A177-3AD203B41FA5}">
                      <a16:colId xmlns:a16="http://schemas.microsoft.com/office/drawing/2014/main" val="2802144115"/>
                    </a:ext>
                  </a:extLst>
                </a:gridCol>
                <a:gridCol w="2072639">
                  <a:extLst>
                    <a:ext uri="{9D8B030D-6E8A-4147-A177-3AD203B41FA5}">
                      <a16:colId xmlns:a16="http://schemas.microsoft.com/office/drawing/2014/main" val="3935994888"/>
                    </a:ext>
                  </a:extLst>
                </a:gridCol>
                <a:gridCol w="2072639">
                  <a:extLst>
                    <a:ext uri="{9D8B030D-6E8A-4147-A177-3AD203B41FA5}">
                      <a16:colId xmlns:a16="http://schemas.microsoft.com/office/drawing/2014/main" val="323262370"/>
                    </a:ext>
                  </a:extLst>
                </a:gridCol>
              </a:tblGrid>
              <a:tr h="0">
                <a:tc>
                  <a:txBody>
                    <a:bodyPr/>
                    <a:lstStyle/>
                    <a:p>
                      <a:endParaRPr lang="en-GB"/>
                    </a:p>
                  </a:txBody>
                  <a:tcPr/>
                </a:tc>
                <a:tc>
                  <a:txBody>
                    <a:bodyPr/>
                    <a:lstStyle/>
                    <a:p>
                      <a:r>
                        <a:rPr lang="en-GB" dirty="0"/>
                        <a:t>Sample: </a:t>
                      </a:r>
                    </a:p>
                  </a:txBody>
                  <a:tcPr/>
                </a:tc>
                <a:tc>
                  <a:txBody>
                    <a:bodyPr/>
                    <a:lstStyle/>
                    <a:p>
                      <a:r>
                        <a:rPr lang="en-GB" dirty="0"/>
                        <a:t>Overall Test: </a:t>
                      </a:r>
                    </a:p>
                  </a:txBody>
                  <a:tcPr/>
                </a:tc>
                <a:tc>
                  <a:txBody>
                    <a:bodyPr/>
                    <a:lstStyle/>
                    <a:p>
                      <a:endParaRPr lang="en-GB" dirty="0"/>
                    </a:p>
                  </a:txBody>
                  <a:tcPr/>
                </a:tc>
                <a:tc>
                  <a:txBody>
                    <a:bodyPr/>
                    <a:lstStyle/>
                    <a:p>
                      <a:r>
                        <a:rPr lang="en-GB" dirty="0"/>
                        <a:t>Pseudo R-squared is good.</a:t>
                      </a:r>
                    </a:p>
                  </a:txBody>
                  <a:tcPr/>
                </a:tc>
                <a:extLst>
                  <a:ext uri="{0D108BD9-81ED-4DB2-BD59-A6C34878D82A}">
                    <a16:rowId xmlns:a16="http://schemas.microsoft.com/office/drawing/2014/main" val="17353556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Tobit regression                                   Number of </a:t>
                      </a:r>
                      <a:r>
                        <a:rPr lang="en-GB" dirty="0" err="1"/>
                        <a:t>obs</a:t>
                      </a:r>
                      <a:r>
                        <a:rPr lang="en-GB" dirty="0"/>
                        <a:t>     = 357,988</a:t>
                      </a:r>
                    </a:p>
                    <a:p>
                      <a:endParaRPr lang="en-GB" dirty="0"/>
                    </a:p>
                  </a:txBody>
                  <a:tcPr/>
                </a:tc>
                <a:tc>
                  <a:txBody>
                    <a:bodyPr/>
                    <a:lstStyle/>
                    <a:p>
                      <a:r>
                        <a:rPr lang="en-GB" dirty="0"/>
                        <a:t>Uncensored = 146,163</a:t>
                      </a:r>
                    </a:p>
                    <a:p>
                      <a:r>
                        <a:rPr lang="en-GB" dirty="0"/>
                        <a:t>Limits: Lower =    0                                   Left-censored = 211,825</a:t>
                      </a:r>
                    </a:p>
                    <a:p>
                      <a:r>
                        <a:rPr lang="en-GB" dirty="0"/>
                        <a:t>(Zero Childcare)</a:t>
                      </a:r>
                    </a:p>
                    <a:p>
                      <a:r>
                        <a:rPr lang="en-GB" dirty="0"/>
                        <a:t>       </a:t>
                      </a:r>
                    </a:p>
                    <a:p>
                      <a:endParaRPr lang="en-GB" dirty="0"/>
                    </a:p>
                  </a:txBody>
                  <a:tcPr/>
                </a:tc>
                <a:tc>
                  <a:txBody>
                    <a:bodyPr/>
                    <a:lstStyle/>
                    <a:p>
                      <a:r>
                        <a:rPr lang="en-GB" dirty="0"/>
                        <a:t>F(48, 357940)     = 2722.73</a:t>
                      </a:r>
                    </a:p>
                    <a:p>
                      <a:r>
                        <a:rPr lang="en-GB" dirty="0"/>
                        <a:t>                                                   Prob &gt; F          =  0.0000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Log pseudolikelihood = -1262639.4</a:t>
                      </a:r>
                    </a:p>
                    <a:p>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Pseudo R2         =  0.1011</a:t>
                      </a:r>
                    </a:p>
                    <a:p>
                      <a:endParaRPr lang="en-GB" dirty="0"/>
                    </a:p>
                  </a:txBody>
                  <a:tcPr/>
                </a:tc>
                <a:extLst>
                  <a:ext uri="{0D108BD9-81ED-4DB2-BD59-A6C34878D82A}">
                    <a16:rowId xmlns:a16="http://schemas.microsoft.com/office/drawing/2014/main" val="1034976452"/>
                  </a:ext>
                </a:extLst>
              </a:tr>
            </a:tbl>
          </a:graphicData>
        </a:graphic>
      </p:graphicFrame>
      <p:sp>
        <p:nvSpPr>
          <p:cNvPr id="4" name="Slide Number Placeholder 3"/>
          <p:cNvSpPr>
            <a:spLocks noGrp="1"/>
          </p:cNvSpPr>
          <p:nvPr>
            <p:ph type="sldNum" sz="quarter" idx="12"/>
          </p:nvPr>
        </p:nvSpPr>
        <p:spPr/>
        <p:txBody>
          <a:bodyPr/>
          <a:lstStyle/>
          <a:p>
            <a:fld id="{1D72F41D-2C04-46BD-AD58-EC9976117EFB}" type="slidenum">
              <a:rPr lang="en-GB">
                <a:solidFill>
                  <a:prstClr val="black">
                    <a:tint val="95000"/>
                  </a:prstClr>
                </a:solidFill>
                <a:latin typeface="Corbel"/>
              </a:rPr>
              <a:pPr/>
              <a:t>15</a:t>
            </a:fld>
            <a:endParaRPr lang="en-GB" dirty="0">
              <a:solidFill>
                <a:prstClr val="black">
                  <a:tint val="95000"/>
                </a:prstClr>
              </a:solidFill>
              <a:latin typeface="Corbel"/>
            </a:endParaRPr>
          </a:p>
        </p:txBody>
      </p:sp>
    </p:spTree>
    <p:extLst>
      <p:ext uri="{BB962C8B-B14F-4D97-AF65-F5344CB8AC3E}">
        <p14:creationId xmlns:p14="http://schemas.microsoft.com/office/powerpoint/2010/main" val="357937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Discussion</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488645172"/>
              </p:ext>
            </p:extLst>
          </p:nvPr>
        </p:nvGraphicFramePr>
        <p:xfrm>
          <a:off x="83418" y="1034716"/>
          <a:ext cx="11988267" cy="5667836"/>
        </p:xfrm>
        <a:graphic>
          <a:graphicData uri="http://schemas.openxmlformats.org/drawingml/2006/table">
            <a:tbl>
              <a:tblPr firstRow="1" bandRow="1">
                <a:tableStyleId>{5C22544A-7EE6-4342-B048-85BDC9FD1C3A}</a:tableStyleId>
              </a:tblPr>
              <a:tblGrid>
                <a:gridCol w="3996089">
                  <a:extLst>
                    <a:ext uri="{9D8B030D-6E8A-4147-A177-3AD203B41FA5}">
                      <a16:colId xmlns:a16="http://schemas.microsoft.com/office/drawing/2014/main" val="20000"/>
                    </a:ext>
                  </a:extLst>
                </a:gridCol>
                <a:gridCol w="3996089">
                  <a:extLst>
                    <a:ext uri="{9D8B030D-6E8A-4147-A177-3AD203B41FA5}">
                      <a16:colId xmlns:a16="http://schemas.microsoft.com/office/drawing/2014/main" val="20001"/>
                    </a:ext>
                  </a:extLst>
                </a:gridCol>
                <a:gridCol w="3996089">
                  <a:extLst>
                    <a:ext uri="{9D8B030D-6E8A-4147-A177-3AD203B41FA5}">
                      <a16:colId xmlns:a16="http://schemas.microsoft.com/office/drawing/2014/main" val="20002"/>
                    </a:ext>
                  </a:extLst>
                </a:gridCol>
              </a:tblGrid>
              <a:tr h="5667836">
                <a:tc>
                  <a:txBody>
                    <a:bodyPr/>
                    <a:lstStyle/>
                    <a:p>
                      <a:pPr algn="ctr"/>
                      <a:r>
                        <a:rPr lang="en-GB" sz="2400" dirty="0">
                          <a:solidFill>
                            <a:schemeClr val="tx1"/>
                          </a:solidFill>
                        </a:rPr>
                        <a:t>Women do most of the childcare</a:t>
                      </a:r>
                    </a:p>
                    <a:p>
                      <a:pPr algn="ctr"/>
                      <a:endParaRPr lang="en-GB" sz="2400" dirty="0">
                        <a:solidFill>
                          <a:schemeClr val="tx1"/>
                        </a:solidFill>
                      </a:endParaRPr>
                    </a:p>
                    <a:p>
                      <a:pPr algn="ctr"/>
                      <a:endParaRPr lang="en-GB" sz="2400" dirty="0">
                        <a:solidFill>
                          <a:schemeClr val="tx1"/>
                        </a:solidFill>
                      </a:endParaRPr>
                    </a:p>
                    <a:p>
                      <a:pPr algn="ctr"/>
                      <a:r>
                        <a:rPr lang="en-GB" sz="2400" dirty="0">
                          <a:solidFill>
                            <a:schemeClr val="tx1"/>
                          </a:solidFill>
                        </a:rPr>
                        <a:t>Certain kinds of women do the most</a:t>
                      </a:r>
                    </a:p>
                    <a:p>
                      <a:pPr algn="ctr"/>
                      <a:endParaRPr lang="en-GB" sz="2400" dirty="0">
                        <a:solidFill>
                          <a:schemeClr val="tx1"/>
                        </a:solidFill>
                      </a:endParaRPr>
                    </a:p>
                    <a:p>
                      <a:pPr algn="ctr"/>
                      <a:endParaRPr lang="en-GB" sz="2400" dirty="0">
                        <a:solidFill>
                          <a:schemeClr val="tx1"/>
                        </a:solidFill>
                      </a:endParaRPr>
                    </a:p>
                    <a:p>
                      <a:pPr algn="ctr"/>
                      <a:r>
                        <a:rPr lang="en-GB" sz="2400" dirty="0">
                          <a:solidFill>
                            <a:schemeClr val="tx1"/>
                          </a:solidFill>
                        </a:rPr>
                        <a:t>Education is a protective factor against widespread pro-male sexism.</a:t>
                      </a:r>
                    </a:p>
                    <a:p>
                      <a:pPr algn="ctr"/>
                      <a:r>
                        <a:rPr lang="en-GB" sz="2400" dirty="0">
                          <a:solidFill>
                            <a:schemeClr val="tx1"/>
                          </a:solidFill>
                        </a:rPr>
                        <a:t>But Progressive Norms are </a:t>
                      </a:r>
                      <a:r>
                        <a:rPr lang="en-GB" sz="2400" dirty="0">
                          <a:solidFill>
                            <a:schemeClr val="tx1"/>
                          </a:solidFill>
                          <a:highlight>
                            <a:srgbClr val="FFFF00"/>
                          </a:highlight>
                        </a:rPr>
                        <a:t>also associated with high levels of hours-per-week of childcare work</a:t>
                      </a:r>
                    </a:p>
                  </a:txBody>
                  <a:tcPr>
                    <a:solidFill>
                      <a:schemeClr val="accent1">
                        <a:lumMod val="20000"/>
                        <a:lumOff val="80000"/>
                      </a:schemeClr>
                    </a:solidFill>
                  </a:tcPr>
                </a:tc>
                <a:tc>
                  <a:txBody>
                    <a:bodyPr/>
                    <a:lstStyle/>
                    <a:p>
                      <a:pPr algn="ctr"/>
                      <a:r>
                        <a:rPr lang="en-GB" sz="2400" dirty="0">
                          <a:solidFill>
                            <a:schemeClr val="tx1"/>
                          </a:solidFill>
                        </a:rPr>
                        <a:t>Gender norms vary by education, not by state</a:t>
                      </a:r>
                    </a:p>
                    <a:p>
                      <a:pPr algn="ctr"/>
                      <a:endParaRPr lang="en-GB" sz="2400" dirty="0">
                        <a:solidFill>
                          <a:schemeClr val="tx1"/>
                        </a:solidFill>
                      </a:endParaRPr>
                    </a:p>
                    <a:p>
                      <a:pPr algn="ctr"/>
                      <a:r>
                        <a:rPr lang="en-GB" sz="2400" dirty="0">
                          <a:solidFill>
                            <a:schemeClr val="tx1"/>
                          </a:solidFill>
                        </a:rPr>
                        <a:t>Childcare work time does vary by state, </a:t>
                      </a:r>
                    </a:p>
                    <a:p>
                      <a:pPr algn="ctr"/>
                      <a:r>
                        <a:rPr lang="en-GB" sz="2400" dirty="0">
                          <a:solidFill>
                            <a:schemeClr val="tx1"/>
                          </a:solidFill>
                        </a:rPr>
                        <a:t>And even more so by local group gender norms </a:t>
                      </a:r>
                    </a:p>
                    <a:p>
                      <a:pPr algn="ctr"/>
                      <a:r>
                        <a:rPr lang="en-GB" sz="2400" dirty="0">
                          <a:solidFill>
                            <a:schemeClr val="tx1"/>
                          </a:solidFill>
                        </a:rPr>
                        <a:t>(Progressive = MORE work)</a:t>
                      </a:r>
                    </a:p>
                    <a:p>
                      <a:pPr algn="ctr"/>
                      <a:endParaRPr lang="en-GB" sz="2400" dirty="0">
                        <a:solidFill>
                          <a:schemeClr val="tx1"/>
                        </a:solidFill>
                      </a:endParaRPr>
                    </a:p>
                    <a:p>
                      <a:pPr algn="ctr"/>
                      <a:r>
                        <a:rPr lang="en-GB" sz="2400" dirty="0">
                          <a:solidFill>
                            <a:schemeClr val="tx1"/>
                          </a:solidFill>
                          <a:highlight>
                            <a:srgbClr val="FFFF00"/>
                          </a:highlight>
                        </a:rPr>
                        <a:t>As a result, one should treat India like European Union, not like a small island state</a:t>
                      </a:r>
                    </a:p>
                    <a:p>
                      <a:pPr algn="ctr"/>
                      <a:endParaRPr lang="en-GB" sz="2400" dirty="0">
                        <a:solidFill>
                          <a:schemeClr val="tx1"/>
                        </a:solidFill>
                        <a:highlight>
                          <a:srgbClr val="FFFF00"/>
                        </a:highlight>
                      </a:endParaRPr>
                    </a:p>
                    <a:p>
                      <a:pPr algn="ctr"/>
                      <a:r>
                        <a:rPr lang="en-GB" sz="2400" dirty="0">
                          <a:solidFill>
                            <a:schemeClr val="tx1"/>
                          </a:solidFill>
                          <a:highlight>
                            <a:srgbClr val="FFFF00"/>
                          </a:highlight>
                        </a:rPr>
                        <a:t>(Large spatial residuals)</a:t>
                      </a:r>
                    </a:p>
                  </a:txBody>
                  <a:tcPr>
                    <a:solidFill>
                      <a:schemeClr val="accent1">
                        <a:lumMod val="20000"/>
                        <a:lumOff val="80000"/>
                      </a:schemeClr>
                    </a:solidFill>
                  </a:tcPr>
                </a:tc>
                <a:tc>
                  <a:txBody>
                    <a:bodyPr/>
                    <a:lstStyle/>
                    <a:p>
                      <a:pPr algn="ctr"/>
                      <a:r>
                        <a:rPr lang="en-GB" sz="2400" dirty="0">
                          <a:solidFill>
                            <a:schemeClr val="tx1"/>
                          </a:solidFill>
                        </a:rPr>
                        <a:t>Scientific method</a:t>
                      </a:r>
                    </a:p>
                    <a:p>
                      <a:pPr algn="ctr"/>
                      <a:endParaRPr lang="en-GB" sz="2400" baseline="0" dirty="0">
                        <a:solidFill>
                          <a:schemeClr val="tx1"/>
                        </a:solidFill>
                      </a:endParaRPr>
                    </a:p>
                    <a:p>
                      <a:pPr algn="ctr"/>
                      <a:endParaRPr lang="en-GB" sz="2400" baseline="0" dirty="0">
                        <a:solidFill>
                          <a:schemeClr val="tx1"/>
                        </a:solidFill>
                      </a:endParaRPr>
                    </a:p>
                    <a:p>
                      <a:pPr algn="ctr"/>
                      <a:r>
                        <a:rPr lang="en-GB" sz="2400" baseline="0" dirty="0">
                          <a:solidFill>
                            <a:schemeClr val="tx1"/>
                          </a:solidFill>
                        </a:rPr>
                        <a:t>Has had 3 key hypotheses.</a:t>
                      </a:r>
                    </a:p>
                    <a:p>
                      <a:pPr algn="ctr"/>
                      <a:endParaRPr lang="en-GB" sz="2400" baseline="0" dirty="0">
                        <a:solidFill>
                          <a:schemeClr val="tx1"/>
                        </a:solidFill>
                      </a:endParaRPr>
                    </a:p>
                    <a:p>
                      <a:pPr algn="ctr"/>
                      <a:r>
                        <a:rPr lang="en-GB" sz="2400" baseline="0" dirty="0">
                          <a:solidFill>
                            <a:schemeClr val="tx1"/>
                          </a:solidFill>
                        </a:rPr>
                        <a:t>We tested each one.</a:t>
                      </a:r>
                    </a:p>
                    <a:p>
                      <a:pPr algn="ctr"/>
                      <a:endParaRPr lang="en-GB" sz="2400" baseline="0" dirty="0">
                        <a:solidFill>
                          <a:schemeClr val="tx1"/>
                        </a:solidFill>
                      </a:endParaRPr>
                    </a:p>
                    <a:p>
                      <a:pPr algn="ctr"/>
                      <a:r>
                        <a:rPr lang="en-GB" sz="2400" baseline="0" dirty="0">
                          <a:solidFill>
                            <a:schemeClr val="tx1"/>
                          </a:solidFill>
                        </a:rPr>
                        <a:t>We were surprised sometimes by the findings, </a:t>
                      </a:r>
                      <a:r>
                        <a:rPr lang="en-GB" sz="2400" baseline="0" dirty="0" err="1">
                          <a:solidFill>
                            <a:schemeClr val="tx1"/>
                          </a:solidFill>
                        </a:rPr>
                        <a:t>eg</a:t>
                      </a:r>
                      <a:r>
                        <a:rPr lang="en-GB" sz="2400" baseline="0" dirty="0">
                          <a:solidFill>
                            <a:schemeClr val="tx1"/>
                          </a:solidFill>
                        </a:rPr>
                        <a:t> in the background, non-difference of gender norms by sex contrasts with naïve expectations.</a:t>
                      </a:r>
                      <a:endParaRPr lang="en-GB" sz="1800" baseline="0" dirty="0">
                        <a:solidFill>
                          <a:schemeClr val="tx1"/>
                        </a:solidFill>
                      </a:endParaRPr>
                    </a:p>
                    <a:p>
                      <a:pPr algn="ctr"/>
                      <a:endParaRPr lang="en-GB" sz="1800" dirty="0">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p:txBody>
          <a:bodyPr/>
          <a:lstStyle/>
          <a:p>
            <a:fld id="{1D72F41D-2C04-46BD-AD58-EC9976117EFB}" type="slidenum">
              <a:rPr lang="en-GB" smtClean="0"/>
              <a:t>16</a:t>
            </a:fld>
            <a:endParaRPr lang="en-GB" dirty="0"/>
          </a:p>
        </p:txBody>
      </p:sp>
    </p:spTree>
    <p:extLst>
      <p:ext uri="{BB962C8B-B14F-4D97-AF65-F5344CB8AC3E}">
        <p14:creationId xmlns:p14="http://schemas.microsoft.com/office/powerpoint/2010/main" val="696734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86E7D4-049C-BB7E-F598-D2AD6BE488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8549" y="1625488"/>
            <a:ext cx="6743611" cy="4816865"/>
          </a:xfrm>
          <a:prstGeom prst="rect">
            <a:avLst/>
          </a:prstGeom>
        </p:spPr>
      </p:pic>
      <p:sp>
        <p:nvSpPr>
          <p:cNvPr id="5" name="Title 4"/>
          <p:cNvSpPr>
            <a:spLocks noGrp="1"/>
          </p:cNvSpPr>
          <p:nvPr>
            <p:ph type="title"/>
          </p:nvPr>
        </p:nvSpPr>
        <p:spPr/>
        <p:txBody>
          <a:bodyPr/>
          <a:lstStyle/>
          <a:p>
            <a:r>
              <a:rPr lang="en-GB" dirty="0"/>
              <a:t>Graphical Approach to the findings</a:t>
            </a:r>
          </a:p>
        </p:txBody>
      </p:sp>
      <p:sp>
        <p:nvSpPr>
          <p:cNvPr id="6" name="Text Placeholder 5"/>
          <p:cNvSpPr>
            <a:spLocks noGrp="1"/>
          </p:cNvSpPr>
          <p:nvPr>
            <p:ph type="body" idx="1"/>
          </p:nvPr>
        </p:nvSpPr>
        <p:spPr>
          <a:xfrm>
            <a:off x="1981200" y="1671875"/>
            <a:ext cx="4040188" cy="715355"/>
          </a:xfrm>
        </p:spPr>
        <p:txBody>
          <a:bodyPr>
            <a:normAutofit fontScale="92500"/>
          </a:bodyPr>
          <a:lstStyle/>
          <a:p>
            <a:r>
              <a:rPr lang="en-GB" dirty="0"/>
              <a:t>Asian barometers shown</a:t>
            </a:r>
            <a:r>
              <a:rPr lang="en-GB" dirty="0">
                <a:sym typeface="Symbol" panose="05050102010706020507" pitchFamily="18" charset="2"/>
              </a:rPr>
              <a:t></a:t>
            </a:r>
            <a:endParaRPr lang="en-GB" dirty="0"/>
          </a:p>
        </p:txBody>
      </p:sp>
      <p:sp>
        <p:nvSpPr>
          <p:cNvPr id="7" name="Content Placeholder 6"/>
          <p:cNvSpPr>
            <a:spLocks noGrp="1"/>
          </p:cNvSpPr>
          <p:nvPr>
            <p:ph sz="half" idx="2"/>
          </p:nvPr>
        </p:nvSpPr>
        <p:spPr>
          <a:xfrm>
            <a:off x="1977899" y="2449946"/>
            <a:ext cx="4342690" cy="4027487"/>
          </a:xfrm>
          <a:solidFill>
            <a:schemeClr val="accent2">
              <a:lumMod val="40000"/>
              <a:lumOff val="60000"/>
            </a:schemeClr>
          </a:solidFill>
        </p:spPr>
        <p:txBody>
          <a:bodyPr>
            <a:normAutofit/>
          </a:bodyPr>
          <a:lstStyle/>
          <a:p>
            <a:pPr marL="118872" indent="0">
              <a:buNone/>
            </a:pPr>
            <a:r>
              <a:rPr lang="en-GB" sz="1800" dirty="0"/>
              <a:t>Gender norms HIGHLY correlated </a:t>
            </a:r>
            <a:r>
              <a:rPr lang="en-GB" sz="1800" dirty="0">
                <a:sym typeface="Symbol" panose="05050102010706020507" pitchFamily="18" charset="2"/>
              </a:rPr>
              <a:t></a:t>
            </a:r>
            <a:r>
              <a:rPr lang="en-GB" sz="1200" dirty="0"/>
              <a:t> </a:t>
            </a:r>
          </a:p>
          <a:p>
            <a:pPr marL="118872" indent="0">
              <a:buNone/>
            </a:pPr>
            <a:endParaRPr lang="en-GB" sz="1200" dirty="0"/>
          </a:p>
          <a:p>
            <a:pPr marL="118872" indent="0">
              <a:buNone/>
            </a:pPr>
            <a:endParaRPr lang="en-GB" sz="1200" dirty="0"/>
          </a:p>
          <a:p>
            <a:pPr marL="118872" indent="0">
              <a:buNone/>
            </a:pPr>
            <a:endParaRPr lang="en-GB" sz="1200" dirty="0"/>
          </a:p>
          <a:p>
            <a:pPr marL="118872" indent="0">
              <a:buNone/>
            </a:pPr>
            <a:endParaRPr lang="en-GB" sz="1200" dirty="0"/>
          </a:p>
          <a:p>
            <a:pPr marL="118872" indent="0">
              <a:buNone/>
            </a:pPr>
            <a:endParaRPr lang="en-GB" sz="1200" dirty="0"/>
          </a:p>
          <a:p>
            <a:pPr marL="118872" indent="0">
              <a:buNone/>
            </a:pPr>
            <a:endParaRPr lang="en-GB" dirty="0"/>
          </a:p>
          <a:p>
            <a:pPr marL="118872" indent="0">
              <a:buNone/>
            </a:pPr>
            <a:endParaRPr lang="en-GB" dirty="0"/>
          </a:p>
          <a:p>
            <a:pPr marL="118872" indent="0">
              <a:buNone/>
            </a:pPr>
            <a:endParaRPr lang="en-GB" dirty="0"/>
          </a:p>
        </p:txBody>
      </p:sp>
      <p:sp>
        <p:nvSpPr>
          <p:cNvPr id="4" name="Slide Number Placeholder 3"/>
          <p:cNvSpPr>
            <a:spLocks noGrp="1"/>
          </p:cNvSpPr>
          <p:nvPr>
            <p:ph type="sldNum" sz="quarter" idx="12"/>
          </p:nvPr>
        </p:nvSpPr>
        <p:spPr/>
        <p:txBody>
          <a:bodyPr/>
          <a:lstStyle/>
          <a:p>
            <a:fld id="{1D72F41D-2C04-46BD-AD58-EC9976117EFB}" type="slidenum">
              <a:rPr lang="en-GB">
                <a:solidFill>
                  <a:prstClr val="black">
                    <a:tint val="95000"/>
                  </a:prstClr>
                </a:solidFill>
                <a:latin typeface="Corbel"/>
              </a:rPr>
              <a:pPr/>
              <a:t>17</a:t>
            </a:fld>
            <a:endParaRPr lang="en-GB" dirty="0">
              <a:solidFill>
                <a:prstClr val="black">
                  <a:tint val="95000"/>
                </a:prstClr>
              </a:solidFill>
              <a:latin typeface="Corbel"/>
            </a:endParaRPr>
          </a:p>
        </p:txBody>
      </p:sp>
      <p:graphicFrame>
        <p:nvGraphicFramePr>
          <p:cNvPr id="10" name="Table 9">
            <a:extLst>
              <a:ext uri="{FF2B5EF4-FFF2-40B4-BE49-F238E27FC236}">
                <a16:creationId xmlns:a16="http://schemas.microsoft.com/office/drawing/2014/main" id="{7BCD04C9-94BF-9A4D-14EA-AFF7A52BC12E}"/>
              </a:ext>
            </a:extLst>
          </p:cNvPr>
          <p:cNvGraphicFramePr>
            <a:graphicFrameLocks noGrp="1"/>
          </p:cNvGraphicFramePr>
          <p:nvPr>
            <p:extLst>
              <p:ext uri="{D42A27DB-BD31-4B8C-83A1-F6EECF244321}">
                <p14:modId xmlns:p14="http://schemas.microsoft.com/office/powerpoint/2010/main" val="767178869"/>
              </p:ext>
            </p:extLst>
          </p:nvPr>
        </p:nvGraphicFramePr>
        <p:xfrm>
          <a:off x="2328714" y="2907162"/>
          <a:ext cx="3416470" cy="3424239"/>
        </p:xfrm>
        <a:graphic>
          <a:graphicData uri="http://schemas.openxmlformats.org/drawingml/2006/table">
            <a:tbl>
              <a:tblPr>
                <a:tableStyleId>{5C22544A-7EE6-4342-B048-85BDC9FD1C3A}</a:tableStyleId>
              </a:tblPr>
              <a:tblGrid>
                <a:gridCol w="854117">
                  <a:extLst>
                    <a:ext uri="{9D8B030D-6E8A-4147-A177-3AD203B41FA5}">
                      <a16:colId xmlns:a16="http://schemas.microsoft.com/office/drawing/2014/main" val="2659043754"/>
                    </a:ext>
                  </a:extLst>
                </a:gridCol>
                <a:gridCol w="213529">
                  <a:extLst>
                    <a:ext uri="{9D8B030D-6E8A-4147-A177-3AD203B41FA5}">
                      <a16:colId xmlns:a16="http://schemas.microsoft.com/office/drawing/2014/main" val="3526542473"/>
                    </a:ext>
                  </a:extLst>
                </a:gridCol>
                <a:gridCol w="213529">
                  <a:extLst>
                    <a:ext uri="{9D8B030D-6E8A-4147-A177-3AD203B41FA5}">
                      <a16:colId xmlns:a16="http://schemas.microsoft.com/office/drawing/2014/main" val="2983358724"/>
                    </a:ext>
                  </a:extLst>
                </a:gridCol>
                <a:gridCol w="427059">
                  <a:extLst>
                    <a:ext uri="{9D8B030D-6E8A-4147-A177-3AD203B41FA5}">
                      <a16:colId xmlns:a16="http://schemas.microsoft.com/office/drawing/2014/main" val="3380311543"/>
                    </a:ext>
                  </a:extLst>
                </a:gridCol>
                <a:gridCol w="427059">
                  <a:extLst>
                    <a:ext uri="{9D8B030D-6E8A-4147-A177-3AD203B41FA5}">
                      <a16:colId xmlns:a16="http://schemas.microsoft.com/office/drawing/2014/main" val="1695581762"/>
                    </a:ext>
                  </a:extLst>
                </a:gridCol>
                <a:gridCol w="427059">
                  <a:extLst>
                    <a:ext uri="{9D8B030D-6E8A-4147-A177-3AD203B41FA5}">
                      <a16:colId xmlns:a16="http://schemas.microsoft.com/office/drawing/2014/main" val="3177686967"/>
                    </a:ext>
                  </a:extLst>
                </a:gridCol>
                <a:gridCol w="427059">
                  <a:extLst>
                    <a:ext uri="{9D8B030D-6E8A-4147-A177-3AD203B41FA5}">
                      <a16:colId xmlns:a16="http://schemas.microsoft.com/office/drawing/2014/main" val="4261330209"/>
                    </a:ext>
                  </a:extLst>
                </a:gridCol>
                <a:gridCol w="427059">
                  <a:extLst>
                    <a:ext uri="{9D8B030D-6E8A-4147-A177-3AD203B41FA5}">
                      <a16:colId xmlns:a16="http://schemas.microsoft.com/office/drawing/2014/main" val="1954777176"/>
                    </a:ext>
                  </a:extLst>
                </a:gridCol>
              </a:tblGrid>
              <a:tr h="163059">
                <a:tc gridSpan="3">
                  <a:txBody>
                    <a:bodyPr/>
                    <a:lstStyle/>
                    <a:p>
                      <a:pPr algn="l" fontAlgn="b"/>
                      <a:r>
                        <a:rPr lang="en-GB" sz="500" u="none" strike="noStrike" dirty="0">
                          <a:effectLst/>
                        </a:rPr>
                        <a:t>                        |               Robust</a:t>
                      </a:r>
                      <a:endParaRPr lang="en-GB"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extLst>
                  <a:ext uri="{0D108BD9-81ED-4DB2-BD59-A6C34878D82A}">
                    <a16:rowId xmlns:a16="http://schemas.microsoft.com/office/drawing/2014/main" val="2466288545"/>
                  </a:ext>
                </a:extLst>
              </a:tr>
              <a:tr h="163059">
                <a:tc gridSpan="8">
                  <a:txBody>
                    <a:bodyPr/>
                    <a:lstStyle/>
                    <a:p>
                      <a:pPr algn="l" fontAlgn="b"/>
                      <a:r>
                        <a:rPr lang="en-GB" sz="500" u="none" strike="noStrike" dirty="0">
                          <a:effectLst/>
                        </a:rPr>
                        <a:t>       </a:t>
                      </a:r>
                      <a:r>
                        <a:rPr lang="en-GB" sz="500" u="none" strike="noStrike" dirty="0" err="1">
                          <a:effectLst/>
                        </a:rPr>
                        <a:t>allchildcaretime</a:t>
                      </a:r>
                      <a:r>
                        <a:rPr lang="en-GB" sz="500" u="none" strike="noStrike" dirty="0">
                          <a:effectLst/>
                        </a:rPr>
                        <a:t> | Coefficient  std. err.      t    P&gt;|t|     [95% conf. interval]</a:t>
                      </a:r>
                      <a:endParaRPr lang="en-GB"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90100764"/>
                  </a:ext>
                </a:extLst>
              </a:tr>
              <a:tr h="163059">
                <a:tc gridSpan="8">
                  <a:txBody>
                    <a:bodyPr/>
                    <a:lstStyle/>
                    <a:p>
                      <a:pPr algn="l" fontAlgn="b"/>
                      <a:r>
                        <a:rPr lang="en-GB" sz="500" u="none" strike="noStrike" dirty="0">
                          <a:effectLst/>
                        </a:rPr>
                        <a:t>------------------------+----------------------------------------------------------------</a:t>
                      </a:r>
                      <a:endParaRPr lang="en-GB"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626407037"/>
                  </a:ext>
                </a:extLst>
              </a:tr>
              <a:tr h="163059">
                <a:tc gridSpan="8">
                  <a:txBody>
                    <a:bodyPr/>
                    <a:lstStyle/>
                    <a:p>
                      <a:pPr algn="l" fontAlgn="b"/>
                      <a:r>
                        <a:rPr lang="en-GB" sz="500" u="none" strike="noStrike" dirty="0">
                          <a:effectLst/>
                        </a:rPr>
                        <a:t>                 gender |   301.1068   1.076889   279.61   0.000     298.9961    303.2174</a:t>
                      </a:r>
                      <a:endParaRPr lang="en-GB"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767851601"/>
                  </a:ext>
                </a:extLst>
              </a:tr>
              <a:tr h="163059">
                <a:tc>
                  <a:txBody>
                    <a:bodyPr/>
                    <a:lstStyle/>
                    <a:p>
                      <a:pPr algn="l" fontAlgn="b"/>
                      <a:r>
                        <a:rPr lang="en-GB" sz="500" u="none" strike="noStrike" dirty="0">
                          <a:effectLst/>
                        </a:rPr>
                        <a:t>                        |</a:t>
                      </a:r>
                      <a:endParaRPr lang="en-GB" sz="500" b="0" i="0" u="none" strike="noStrike" dirty="0">
                        <a:solidFill>
                          <a:srgbClr val="000000"/>
                        </a:solidFill>
                        <a:effectLst/>
                        <a:latin typeface="Courier New" panose="02070309020205020404" pitchFamily="49"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extLst>
                  <a:ext uri="{0D108BD9-81ED-4DB2-BD59-A6C34878D82A}">
                    <a16:rowId xmlns:a16="http://schemas.microsoft.com/office/drawing/2014/main" val="2113063851"/>
                  </a:ext>
                </a:extLst>
              </a:tr>
              <a:tr h="163059">
                <a:tc>
                  <a:txBody>
                    <a:bodyPr/>
                    <a:lstStyle/>
                    <a:p>
                      <a:pPr algn="l" fontAlgn="b"/>
                      <a:r>
                        <a:rPr lang="en-GB" sz="500" u="none" strike="noStrike" dirty="0">
                          <a:effectLst/>
                        </a:rPr>
                        <a:t>               </a:t>
                      </a:r>
                      <a:r>
                        <a:rPr lang="en-GB" sz="500" u="none" strike="noStrike" dirty="0" err="1">
                          <a:effectLst/>
                        </a:rPr>
                        <a:t>agegroup</a:t>
                      </a:r>
                      <a:r>
                        <a:rPr lang="en-GB" sz="500" u="none" strike="noStrike" dirty="0">
                          <a:effectLst/>
                        </a:rPr>
                        <a:t> |</a:t>
                      </a:r>
                      <a:endParaRPr lang="en-GB" sz="500" b="0" i="0" u="none" strike="noStrike" dirty="0">
                        <a:solidFill>
                          <a:srgbClr val="000000"/>
                        </a:solidFill>
                        <a:effectLst/>
                        <a:latin typeface="Courier New" panose="02070309020205020404" pitchFamily="49"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extLst>
                  <a:ext uri="{0D108BD9-81ED-4DB2-BD59-A6C34878D82A}">
                    <a16:rowId xmlns:a16="http://schemas.microsoft.com/office/drawing/2014/main" val="398858377"/>
                  </a:ext>
                </a:extLst>
              </a:tr>
              <a:tr h="163059">
                <a:tc gridSpan="8">
                  <a:txBody>
                    <a:bodyPr/>
                    <a:lstStyle/>
                    <a:p>
                      <a:pPr algn="l" fontAlgn="b"/>
                      <a:r>
                        <a:rPr lang="en-GB" sz="500" u="none" strike="noStrike" dirty="0">
                          <a:effectLst/>
                        </a:rPr>
                        <a:t>                     2  |  -75.91933   .9860008   -77.00   0.000    -77.85186   -73.98679</a:t>
                      </a:r>
                      <a:endParaRPr lang="en-GB"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39024448"/>
                  </a:ext>
                </a:extLst>
              </a:tr>
              <a:tr h="163059">
                <a:tc gridSpan="8">
                  <a:txBody>
                    <a:bodyPr/>
                    <a:lstStyle/>
                    <a:p>
                      <a:pPr algn="l" fontAlgn="b"/>
                      <a:r>
                        <a:rPr lang="en-GB" sz="500" u="none" strike="noStrike" dirty="0">
                          <a:effectLst/>
                        </a:rPr>
                        <a:t>                     3  |  -143.7858    2.78459   -51.64   0.000    -149.2435   -138.3281</a:t>
                      </a:r>
                      <a:endParaRPr lang="en-GB"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73439404"/>
                  </a:ext>
                </a:extLst>
              </a:tr>
              <a:tr h="163059">
                <a:tc>
                  <a:txBody>
                    <a:bodyPr/>
                    <a:lstStyle/>
                    <a:p>
                      <a:pPr algn="l" fontAlgn="b"/>
                      <a:r>
                        <a:rPr lang="en-GB" sz="500" u="none" strike="noStrike" dirty="0">
                          <a:effectLst/>
                        </a:rPr>
                        <a:t>                        |</a:t>
                      </a:r>
                      <a:endParaRPr lang="en-GB" sz="500" b="0" i="0" u="none" strike="noStrike" dirty="0">
                        <a:solidFill>
                          <a:srgbClr val="000000"/>
                        </a:solidFill>
                        <a:effectLst/>
                        <a:latin typeface="Courier New" panose="02070309020205020404" pitchFamily="49"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extLst>
                  <a:ext uri="{0D108BD9-81ED-4DB2-BD59-A6C34878D82A}">
                    <a16:rowId xmlns:a16="http://schemas.microsoft.com/office/drawing/2014/main" val="2949753412"/>
                  </a:ext>
                </a:extLst>
              </a:tr>
              <a:tr h="163059">
                <a:tc gridSpan="8">
                  <a:txBody>
                    <a:bodyPr/>
                    <a:lstStyle/>
                    <a:p>
                      <a:pPr algn="l" fontAlgn="b"/>
                      <a:r>
                        <a:rPr lang="en-GB" sz="500" u="none" strike="noStrike" dirty="0">
                          <a:effectLst/>
                        </a:rPr>
                        <a:t>               </a:t>
                      </a:r>
                      <a:r>
                        <a:rPr lang="en-GB" sz="500" u="none" strike="noStrike" dirty="0" err="1">
                          <a:effectLst/>
                        </a:rPr>
                        <a:t>numchild</a:t>
                      </a:r>
                      <a:r>
                        <a:rPr lang="en-GB" sz="500" u="none" strike="noStrike" dirty="0">
                          <a:effectLst/>
                        </a:rPr>
                        <a:t> |   225.0759   2.315317    97.21   0.000      220.538    229.6139</a:t>
                      </a:r>
                      <a:endParaRPr lang="en-GB"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602710127"/>
                  </a:ext>
                </a:extLst>
              </a:tr>
              <a:tr h="163059">
                <a:tc gridSpan="8">
                  <a:txBody>
                    <a:bodyPr/>
                    <a:lstStyle/>
                    <a:p>
                      <a:pPr algn="l" fontAlgn="b"/>
                      <a:r>
                        <a:rPr lang="en-GB" sz="500" u="none" strike="noStrike" dirty="0">
                          <a:effectLst/>
                        </a:rPr>
                        <a:t>              numchild2 |  -30.32982     .64938   -46.71   0.000    -31.60258   -29.05705</a:t>
                      </a:r>
                      <a:endParaRPr lang="en-GB"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974299"/>
                  </a:ext>
                </a:extLst>
              </a:tr>
              <a:tr h="163059">
                <a:tc gridSpan="8">
                  <a:txBody>
                    <a:bodyPr/>
                    <a:lstStyle/>
                    <a:p>
                      <a:pPr algn="l" fontAlgn="b"/>
                      <a:r>
                        <a:rPr lang="pt-BR" sz="500" u="none" strike="noStrike" dirty="0">
                          <a:effectLst/>
                        </a:rPr>
                        <a:t>               numadult |  -13.97016     .34863   -40.07   0.000    -14.65347   -13.28686</a:t>
                      </a:r>
                      <a:endParaRPr lang="pt-BR"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50127182"/>
                  </a:ext>
                </a:extLst>
              </a:tr>
              <a:tr h="163059">
                <a:tc gridSpan="8">
                  <a:txBody>
                    <a:bodyPr/>
                    <a:lstStyle/>
                    <a:p>
                      <a:pPr algn="l" fontAlgn="b"/>
                      <a:r>
                        <a:rPr lang="en-GB" sz="500" u="none" strike="noStrike" dirty="0">
                          <a:effectLst/>
                        </a:rPr>
                        <a:t>               </a:t>
                      </a:r>
                      <a:r>
                        <a:rPr lang="en-GB" sz="500" u="none" strike="noStrike" dirty="0" err="1">
                          <a:effectLst/>
                        </a:rPr>
                        <a:t>hasteach</a:t>
                      </a:r>
                      <a:r>
                        <a:rPr lang="en-GB" sz="500" u="none" strike="noStrike" dirty="0">
                          <a:effectLst/>
                        </a:rPr>
                        <a:t> |   6.698178   4.288748     1.56   0.118    -1.707642      15.104</a:t>
                      </a:r>
                      <a:endParaRPr lang="en-GB"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75036467"/>
                  </a:ext>
                </a:extLst>
              </a:tr>
              <a:tr h="163059">
                <a:tc gridSpan="8">
                  <a:txBody>
                    <a:bodyPr/>
                    <a:lstStyle/>
                    <a:p>
                      <a:pPr algn="l" fontAlgn="b"/>
                      <a:r>
                        <a:rPr lang="it-IT" sz="500" u="none" strike="noStrike" dirty="0">
                          <a:effectLst/>
                        </a:rPr>
                        <a:t>           hascompoccup |   16.17882   3.158329     5.12   0.000     9.988592    22.36906</a:t>
                      </a:r>
                      <a:endParaRPr lang="it-IT"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578895762"/>
                  </a:ext>
                </a:extLst>
              </a:tr>
              <a:tr h="163059">
                <a:tc gridSpan="8">
                  <a:txBody>
                    <a:bodyPr/>
                    <a:lstStyle/>
                    <a:p>
                      <a:pPr algn="l" fontAlgn="b"/>
                      <a:r>
                        <a:rPr lang="en-GB" sz="500" u="none" strike="noStrike" dirty="0">
                          <a:effectLst/>
                        </a:rPr>
                        <a:t>                     </a:t>
                      </a:r>
                      <a:r>
                        <a:rPr lang="en-GB" sz="500" u="none" strike="noStrike" dirty="0" err="1">
                          <a:effectLst/>
                        </a:rPr>
                        <a:t>sc</a:t>
                      </a:r>
                      <a:r>
                        <a:rPr lang="en-GB" sz="500" u="none" strike="noStrike" dirty="0">
                          <a:effectLst/>
                        </a:rPr>
                        <a:t> |   -4.82571   1.272034    -3.79   0.000     -7.31886   -2.332559</a:t>
                      </a:r>
                      <a:endParaRPr lang="en-GB"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067732531"/>
                  </a:ext>
                </a:extLst>
              </a:tr>
              <a:tr h="163059">
                <a:tc gridSpan="8">
                  <a:txBody>
                    <a:bodyPr/>
                    <a:lstStyle/>
                    <a:p>
                      <a:pPr algn="l" fontAlgn="b"/>
                      <a:r>
                        <a:rPr lang="en-GB" sz="500" u="none" strike="noStrike" dirty="0">
                          <a:effectLst/>
                        </a:rPr>
                        <a:t>                     </a:t>
                      </a:r>
                      <a:r>
                        <a:rPr lang="en-GB" sz="500" u="none" strike="noStrike" dirty="0" err="1">
                          <a:effectLst/>
                        </a:rPr>
                        <a:t>st</a:t>
                      </a:r>
                      <a:r>
                        <a:rPr lang="en-GB" sz="500" u="none" strike="noStrike" dirty="0">
                          <a:effectLst/>
                        </a:rPr>
                        <a:t> |   -12.0681   1.625505    -7.42   0.000    -15.25404   -8.882157</a:t>
                      </a:r>
                      <a:endParaRPr lang="en-GB"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50063944"/>
                  </a:ext>
                </a:extLst>
              </a:tr>
              <a:tr h="163059">
                <a:tc gridSpan="8">
                  <a:txBody>
                    <a:bodyPr/>
                    <a:lstStyle/>
                    <a:p>
                      <a:pPr algn="l" fontAlgn="b"/>
                      <a:r>
                        <a:rPr lang="nn-NO" sz="500" u="none" strike="noStrike" dirty="0">
                          <a:effectLst/>
                        </a:rPr>
                        <a:t>                 muslim |  -3.599906   1.561779    -2.31   0.021    -6.660948   -.5388646</a:t>
                      </a:r>
                      <a:endParaRPr lang="nn-NO"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786691601"/>
                  </a:ext>
                </a:extLst>
              </a:tr>
              <a:tr h="163059">
                <a:tc gridSpan="8">
                  <a:txBody>
                    <a:bodyPr/>
                    <a:lstStyle/>
                    <a:p>
                      <a:pPr algn="l" fontAlgn="b"/>
                      <a:r>
                        <a:rPr lang="en-GB" sz="500" u="none" strike="noStrike" dirty="0">
                          <a:effectLst/>
                        </a:rPr>
                        <a:t>            </a:t>
                      </a:r>
                      <a:r>
                        <a:rPr lang="en-GB" sz="500" u="none" strike="noStrike" dirty="0" err="1">
                          <a:effectLst/>
                        </a:rPr>
                        <a:t>gngroupmean</a:t>
                      </a:r>
                      <a:r>
                        <a:rPr lang="en-GB" sz="500" u="none" strike="noStrike" dirty="0">
                          <a:effectLst/>
                        </a:rPr>
                        <a:t> |   55.57491   4.922029    11.29   0.000     45.92788    65.22194</a:t>
                      </a:r>
                      <a:endParaRPr lang="en-GB"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449747493"/>
                  </a:ext>
                </a:extLst>
              </a:tr>
              <a:tr h="163059">
                <a:tc gridSpan="8">
                  <a:txBody>
                    <a:bodyPr/>
                    <a:lstStyle/>
                    <a:p>
                      <a:pPr algn="l" fontAlgn="b"/>
                      <a:r>
                        <a:rPr lang="en-GB" sz="500" u="none" strike="noStrike" dirty="0">
                          <a:effectLst/>
                        </a:rPr>
                        <a:t>                  rural |   3.363136   1.548991     2.17   0.030     .3271591    6.399113</a:t>
                      </a:r>
                      <a:endParaRPr lang="en-GB" sz="500" b="0" i="0" u="none" strike="noStrike" dirty="0">
                        <a:solidFill>
                          <a:srgbClr val="000000"/>
                        </a:solidFill>
                        <a:effectLst/>
                        <a:latin typeface="Courier New" panose="02070309020205020404" pitchFamily="49" charset="0"/>
                      </a:endParaRPr>
                    </a:p>
                  </a:txBody>
                  <a:tcPr marL="2284" marR="2284" marT="2284"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620871415"/>
                  </a:ext>
                </a:extLst>
              </a:tr>
              <a:tr h="163059">
                <a:tc>
                  <a:txBody>
                    <a:bodyPr/>
                    <a:lstStyle/>
                    <a:p>
                      <a:pPr algn="l" fontAlgn="b"/>
                      <a:r>
                        <a:rPr lang="en-GB" sz="500" u="none" strike="noStrike" dirty="0">
                          <a:effectLst/>
                        </a:rPr>
                        <a:t>                        |</a:t>
                      </a:r>
                      <a:endParaRPr lang="en-GB" sz="500" b="0" i="0" u="none" strike="noStrike" dirty="0">
                        <a:solidFill>
                          <a:srgbClr val="000000"/>
                        </a:solidFill>
                        <a:effectLst/>
                        <a:latin typeface="Courier New" panose="02070309020205020404" pitchFamily="49"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extLst>
                  <a:ext uri="{0D108BD9-81ED-4DB2-BD59-A6C34878D82A}">
                    <a16:rowId xmlns:a16="http://schemas.microsoft.com/office/drawing/2014/main" val="2324725395"/>
                  </a:ext>
                </a:extLst>
              </a:tr>
              <a:tr h="163059">
                <a:tc>
                  <a:txBody>
                    <a:bodyPr/>
                    <a:lstStyle/>
                    <a:p>
                      <a:pPr algn="l" fontAlgn="b"/>
                      <a:r>
                        <a:rPr lang="en-GB" sz="500" u="none" strike="noStrike" dirty="0">
                          <a:effectLst/>
                        </a:rPr>
                        <a:t>                  state |</a:t>
                      </a:r>
                      <a:endParaRPr lang="en-GB" sz="500" b="0" i="0" u="none" strike="noStrike" dirty="0">
                        <a:solidFill>
                          <a:srgbClr val="000000"/>
                        </a:solidFill>
                        <a:effectLst/>
                        <a:latin typeface="Courier New" panose="02070309020205020404" pitchFamily="49"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a:solidFill>
                          <a:srgbClr val="000000"/>
                        </a:solidFill>
                        <a:effectLst/>
                        <a:latin typeface="Calibri" panose="020F0502020204030204" pitchFamily="34" charset="0"/>
                      </a:endParaRPr>
                    </a:p>
                  </a:txBody>
                  <a:tcPr marL="2284" marR="2284" marT="2284" marB="0" anchor="b"/>
                </a:tc>
                <a:tc>
                  <a:txBody>
                    <a:bodyPr/>
                    <a:lstStyle/>
                    <a:p>
                      <a:pPr algn="l" fontAlgn="b"/>
                      <a:endParaRPr lang="en-GB" sz="500" b="0" i="0" u="none" strike="noStrike" dirty="0">
                        <a:solidFill>
                          <a:srgbClr val="000000"/>
                        </a:solidFill>
                        <a:effectLst/>
                        <a:latin typeface="Calibri" panose="020F0502020204030204" pitchFamily="34" charset="0"/>
                      </a:endParaRPr>
                    </a:p>
                  </a:txBody>
                  <a:tcPr marL="2284" marR="2284" marT="2284" marB="0" anchor="b"/>
                </a:tc>
                <a:extLst>
                  <a:ext uri="{0D108BD9-81ED-4DB2-BD59-A6C34878D82A}">
                    <a16:rowId xmlns:a16="http://schemas.microsoft.com/office/drawing/2014/main" val="3800920942"/>
                  </a:ext>
                </a:extLst>
              </a:tr>
            </a:tbl>
          </a:graphicData>
        </a:graphic>
      </p:graphicFrame>
      <p:pic>
        <p:nvPicPr>
          <p:cNvPr id="16" name="Picture 15">
            <a:extLst>
              <a:ext uri="{FF2B5EF4-FFF2-40B4-BE49-F238E27FC236}">
                <a16:creationId xmlns:a16="http://schemas.microsoft.com/office/drawing/2014/main" id="{2B54D995-4D38-D0FB-24F7-1CE499101080}"/>
              </a:ext>
            </a:extLst>
          </p:cNvPr>
          <p:cNvPicPr>
            <a:picLocks noChangeAspect="1"/>
          </p:cNvPicPr>
          <p:nvPr/>
        </p:nvPicPr>
        <p:blipFill>
          <a:blip r:embed="rId3"/>
          <a:stretch>
            <a:fillRect/>
          </a:stretch>
        </p:blipFill>
        <p:spPr>
          <a:xfrm>
            <a:off x="9630412" y="5533758"/>
            <a:ext cx="1065566" cy="943675"/>
          </a:xfrm>
          <a:prstGeom prst="rect">
            <a:avLst/>
          </a:prstGeom>
        </p:spPr>
      </p:pic>
      <p:pic>
        <p:nvPicPr>
          <p:cNvPr id="17" name="Picture 16">
            <a:extLst>
              <a:ext uri="{FF2B5EF4-FFF2-40B4-BE49-F238E27FC236}">
                <a16:creationId xmlns:a16="http://schemas.microsoft.com/office/drawing/2014/main" id="{B0138FA1-F961-845B-E297-7C063AF07F92}"/>
              </a:ext>
            </a:extLst>
          </p:cNvPr>
          <p:cNvPicPr>
            <a:picLocks noChangeAspect="1"/>
          </p:cNvPicPr>
          <p:nvPr/>
        </p:nvPicPr>
        <p:blipFill>
          <a:blip r:embed="rId4"/>
          <a:stretch>
            <a:fillRect/>
          </a:stretch>
        </p:blipFill>
        <p:spPr>
          <a:xfrm>
            <a:off x="9515637" y="2029552"/>
            <a:ext cx="1137511" cy="1007390"/>
          </a:xfrm>
          <a:prstGeom prst="rect">
            <a:avLst/>
          </a:prstGeom>
        </p:spPr>
      </p:pic>
    </p:spTree>
    <p:extLst>
      <p:ext uri="{BB962C8B-B14F-4D97-AF65-F5344CB8AC3E}">
        <p14:creationId xmlns:p14="http://schemas.microsoft.com/office/powerpoint/2010/main" val="1286790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9FEE9-6E4B-493F-AF05-2212901FB8B7}"/>
              </a:ext>
            </a:extLst>
          </p:cNvPr>
          <p:cNvSpPr>
            <a:spLocks noGrp="1"/>
          </p:cNvSpPr>
          <p:nvPr>
            <p:ph type="title"/>
          </p:nvPr>
        </p:nvSpPr>
        <p:spPr>
          <a:xfrm>
            <a:off x="1118464" y="76309"/>
            <a:ext cx="10364451" cy="1022575"/>
          </a:xfrm>
          <a:solidFill>
            <a:schemeClr val="bg2">
              <a:lumMod val="20000"/>
              <a:lumOff val="80000"/>
            </a:schemeClr>
          </a:solidFill>
        </p:spPr>
        <p:txBody>
          <a:bodyPr>
            <a:normAutofit/>
          </a:bodyPr>
          <a:lstStyle/>
          <a:p>
            <a:r>
              <a:rPr lang="en-GB" dirty="0"/>
              <a:t>Beware of issues with the Indian data</a:t>
            </a:r>
          </a:p>
        </p:txBody>
      </p:sp>
      <p:sp>
        <p:nvSpPr>
          <p:cNvPr id="3" name="Text Placeholder 2">
            <a:extLst>
              <a:ext uri="{FF2B5EF4-FFF2-40B4-BE49-F238E27FC236}">
                <a16:creationId xmlns:a16="http://schemas.microsoft.com/office/drawing/2014/main" id="{FC4D1138-DCAE-4E0E-A594-0BA5C1DC05F6}"/>
              </a:ext>
            </a:extLst>
          </p:cNvPr>
          <p:cNvSpPr>
            <a:spLocks noGrp="1"/>
          </p:cNvSpPr>
          <p:nvPr>
            <p:ph type="body" idx="1"/>
          </p:nvPr>
        </p:nvSpPr>
        <p:spPr>
          <a:solidFill>
            <a:schemeClr val="bg2">
              <a:lumMod val="20000"/>
              <a:lumOff val="80000"/>
            </a:schemeClr>
          </a:solidFill>
        </p:spPr>
        <p:txBody>
          <a:bodyPr>
            <a:normAutofit fontScale="85000" lnSpcReduction="20000"/>
          </a:bodyPr>
          <a:lstStyle/>
          <a:p>
            <a:r>
              <a:rPr lang="en-GB" dirty="0"/>
              <a:t>Indian time-use survey 2019</a:t>
            </a:r>
          </a:p>
        </p:txBody>
      </p:sp>
      <p:sp>
        <p:nvSpPr>
          <p:cNvPr id="4" name="Content Placeholder 3">
            <a:extLst>
              <a:ext uri="{FF2B5EF4-FFF2-40B4-BE49-F238E27FC236}">
                <a16:creationId xmlns:a16="http://schemas.microsoft.com/office/drawing/2014/main" id="{E22D1AFC-E6D6-46A5-A2F4-2C1E1E3B383D}"/>
              </a:ext>
            </a:extLst>
          </p:cNvPr>
          <p:cNvSpPr>
            <a:spLocks noGrp="1"/>
          </p:cNvSpPr>
          <p:nvPr>
            <p:ph sz="half" idx="2"/>
          </p:nvPr>
        </p:nvSpPr>
        <p:spPr>
          <a:solidFill>
            <a:schemeClr val="bg2">
              <a:lumMod val="20000"/>
              <a:lumOff val="80000"/>
            </a:schemeClr>
          </a:solidFill>
        </p:spPr>
        <p:txBody>
          <a:bodyPr>
            <a:normAutofit fontScale="92500" lnSpcReduction="10000"/>
          </a:bodyPr>
          <a:lstStyle/>
          <a:p>
            <a:r>
              <a:rPr lang="en-GB" dirty="0"/>
              <a:t>Has had few users relative to its importance</a:t>
            </a:r>
          </a:p>
          <a:p>
            <a:r>
              <a:rPr lang="en-GB" dirty="0"/>
              <a:t>Was rather difficult to use initially</a:t>
            </a:r>
          </a:p>
          <a:p>
            <a:pPr lvl="1"/>
            <a:r>
              <a:rPr lang="en-GB" dirty="0"/>
              <a:t>Category codes are not in the documentation</a:t>
            </a:r>
          </a:p>
          <a:p>
            <a:pPr lvl="1"/>
            <a:r>
              <a:rPr lang="en-GB" dirty="0"/>
              <a:t>can look up </a:t>
            </a:r>
            <a:r>
              <a:rPr lang="en-GB" dirty="0" err="1"/>
              <a:t>icatus</a:t>
            </a:r>
            <a:r>
              <a:rPr lang="en-GB" dirty="0"/>
              <a:t> (2016) document</a:t>
            </a:r>
          </a:p>
          <a:p>
            <a:pPr lvl="1"/>
            <a:r>
              <a:rPr lang="en-GB" dirty="0"/>
              <a:t>These codes change from time to time!</a:t>
            </a:r>
          </a:p>
          <a:p>
            <a:r>
              <a:rPr lang="en-GB" dirty="0"/>
              <a:t>Good sampling methods</a:t>
            </a:r>
          </a:p>
        </p:txBody>
      </p:sp>
      <p:sp>
        <p:nvSpPr>
          <p:cNvPr id="6" name="Content Placeholder 5">
            <a:extLst>
              <a:ext uri="{FF2B5EF4-FFF2-40B4-BE49-F238E27FC236}">
                <a16:creationId xmlns:a16="http://schemas.microsoft.com/office/drawing/2014/main" id="{907C3D40-D52E-4B52-A041-C9177FFE47DB}"/>
              </a:ext>
            </a:extLst>
          </p:cNvPr>
          <p:cNvSpPr>
            <a:spLocks noGrp="1"/>
          </p:cNvSpPr>
          <p:nvPr>
            <p:ph sz="quarter" idx="4"/>
          </p:nvPr>
        </p:nvSpPr>
        <p:spPr/>
        <p:txBody>
          <a:bodyPr>
            <a:normAutofit fontScale="92500" lnSpcReduction="10000"/>
          </a:bodyPr>
          <a:lstStyle/>
          <a:p>
            <a:r>
              <a:rPr lang="en-GB" dirty="0"/>
              <a:t>30 minutes blocks give a large error bar</a:t>
            </a:r>
          </a:p>
          <a:p>
            <a:pPr lvl="1"/>
            <a:endParaRPr lang="en-GB" dirty="0"/>
          </a:p>
          <a:p>
            <a:r>
              <a:rPr lang="en-GB" dirty="0"/>
              <a:t>Hidden measurement error such as masking all the &lt;15 minute activities like brushing the child’s teeth</a:t>
            </a:r>
          </a:p>
          <a:p>
            <a:pPr lvl="1"/>
            <a:r>
              <a:rPr lang="en-GB" dirty="0"/>
              <a:t>Changing a diaper</a:t>
            </a:r>
          </a:p>
          <a:p>
            <a:r>
              <a:rPr lang="en-GB" dirty="0"/>
              <a:t>Likely to be underestimates of childcare time</a:t>
            </a:r>
          </a:p>
        </p:txBody>
      </p:sp>
      <p:sp>
        <p:nvSpPr>
          <p:cNvPr id="7" name="Slide Number Placeholder 6">
            <a:extLst>
              <a:ext uri="{FF2B5EF4-FFF2-40B4-BE49-F238E27FC236}">
                <a16:creationId xmlns:a16="http://schemas.microsoft.com/office/drawing/2014/main" id="{0BF96251-0154-46CA-8F3C-40FFA3EE3C34}"/>
              </a:ext>
            </a:extLst>
          </p:cNvPr>
          <p:cNvSpPr>
            <a:spLocks noGrp="1"/>
          </p:cNvSpPr>
          <p:nvPr>
            <p:ph type="sldNum" sz="quarter" idx="12"/>
          </p:nvPr>
        </p:nvSpPr>
        <p:spPr/>
        <p:txBody>
          <a:bodyPr/>
          <a:lstStyle/>
          <a:p>
            <a:fld id="{1D72F41D-2C04-46BD-AD58-EC9976117EFB}" type="slidenum">
              <a:rPr lang="en-GB" smtClean="0"/>
              <a:t>18</a:t>
            </a:fld>
            <a:endParaRPr lang="en-GB" dirty="0"/>
          </a:p>
        </p:txBody>
      </p:sp>
      <p:sp>
        <p:nvSpPr>
          <p:cNvPr id="9" name="Text Placeholder 2">
            <a:extLst>
              <a:ext uri="{FF2B5EF4-FFF2-40B4-BE49-F238E27FC236}">
                <a16:creationId xmlns:a16="http://schemas.microsoft.com/office/drawing/2014/main" id="{6C0FB429-C385-34BA-C639-821CFD57D73E}"/>
              </a:ext>
            </a:extLst>
          </p:cNvPr>
          <p:cNvSpPr txBox="1">
            <a:spLocks/>
          </p:cNvSpPr>
          <p:nvPr/>
        </p:nvSpPr>
        <p:spPr>
          <a:xfrm>
            <a:off x="609599" y="1690071"/>
            <a:ext cx="5386917" cy="715355"/>
          </a:xfrm>
          <a:prstGeom prst="rect">
            <a:avLst/>
          </a:prstGeom>
          <a:solidFill>
            <a:schemeClr val="bg2">
              <a:lumMod val="20000"/>
              <a:lumOff val="80000"/>
            </a:schemeClr>
          </a:solidFill>
        </p:spPr>
        <p:txBody>
          <a:bodyPr vert="horz" lIns="146304" tIns="45720" rIns="91440" bIns="45720" rtlCol="0" anchor="ctr">
            <a:normAutofit/>
          </a:bodyPr>
          <a:lstStyle>
            <a:lvl1pPr marL="0" indent="0" algn="l" defTabSz="914400" rtl="0" eaLnBrk="1" latinLnBrk="0" hangingPunct="1">
              <a:lnSpc>
                <a:spcPct val="120000"/>
              </a:lnSpc>
              <a:spcBef>
                <a:spcPts val="1000"/>
              </a:spcBef>
              <a:buClr>
                <a:schemeClr val="tx1"/>
              </a:buClr>
              <a:buFont typeface="Arial" panose="020B0604020202020204" pitchFamily="34" charset="0"/>
              <a:buNone/>
              <a:defRPr sz="2300" b="1" kern="1200" cap="all" baseline="0">
                <a:solidFill>
                  <a:schemeClr val="tx1"/>
                </a:solidFill>
                <a:effectLst/>
                <a:latin typeface="+mn-lt"/>
                <a:ea typeface="+mn-ea"/>
                <a:cs typeface="+mn-cs"/>
              </a:defRPr>
            </a:lvl1pPr>
            <a:lvl2pPr marL="457200" indent="0" algn="l" defTabSz="914400" rtl="0" eaLnBrk="1" latinLnBrk="0" hangingPunct="1">
              <a:lnSpc>
                <a:spcPct val="120000"/>
              </a:lnSpc>
              <a:spcBef>
                <a:spcPts val="500"/>
              </a:spcBef>
              <a:buClr>
                <a:schemeClr val="tx1"/>
              </a:buClr>
              <a:buFont typeface="Arial" panose="020B0604020202020204" pitchFamily="34" charset="0"/>
              <a:buNone/>
              <a:defRPr sz="2000" b="1" kern="1200" cap="all" baseline="0">
                <a:solidFill>
                  <a:schemeClr val="tx1"/>
                </a:solidFill>
                <a:effectLst/>
                <a:latin typeface="+mn-lt"/>
                <a:ea typeface="+mn-ea"/>
                <a:cs typeface="+mn-cs"/>
              </a:defRPr>
            </a:lvl2pPr>
            <a:lvl3pPr marL="914400" indent="0" algn="l" defTabSz="914400" rtl="0" eaLnBrk="1" latinLnBrk="0" hangingPunct="1">
              <a:lnSpc>
                <a:spcPct val="120000"/>
              </a:lnSpc>
              <a:spcBef>
                <a:spcPts val="500"/>
              </a:spcBef>
              <a:buClr>
                <a:schemeClr val="tx1"/>
              </a:buClr>
              <a:buFont typeface="Arial" panose="020B0604020202020204" pitchFamily="34" charset="0"/>
              <a:buNone/>
              <a:defRPr sz="1800" b="1" kern="1200" cap="all" baseline="0">
                <a:solidFill>
                  <a:schemeClr val="tx1"/>
                </a:solidFill>
                <a:effectLst/>
                <a:latin typeface="+mn-lt"/>
                <a:ea typeface="+mn-ea"/>
                <a:cs typeface="+mn-cs"/>
              </a:defRPr>
            </a:lvl3pPr>
            <a:lvl4pPr marL="1371600" indent="0" algn="l" defTabSz="914400" rtl="0" eaLnBrk="1" latinLnBrk="0" hangingPunct="1">
              <a:lnSpc>
                <a:spcPct val="120000"/>
              </a:lnSpc>
              <a:spcBef>
                <a:spcPts val="500"/>
              </a:spcBef>
              <a:buClr>
                <a:schemeClr val="tx1"/>
              </a:buClr>
              <a:buFont typeface="Arial" panose="020B0604020202020204" pitchFamily="34" charset="0"/>
              <a:buNone/>
              <a:defRPr sz="1600" b="1" kern="1200" cap="all" baseline="0">
                <a:solidFill>
                  <a:schemeClr val="tx1"/>
                </a:solidFill>
                <a:effectLst/>
                <a:latin typeface="+mn-lt"/>
                <a:ea typeface="+mn-ea"/>
                <a:cs typeface="+mn-cs"/>
              </a:defRPr>
            </a:lvl4pPr>
            <a:lvl5pPr marL="1828800" indent="0" algn="l" defTabSz="914400" rtl="0" eaLnBrk="1" latinLnBrk="0" hangingPunct="1">
              <a:lnSpc>
                <a:spcPct val="120000"/>
              </a:lnSpc>
              <a:spcBef>
                <a:spcPts val="500"/>
              </a:spcBef>
              <a:buClr>
                <a:schemeClr val="tx1"/>
              </a:buClr>
              <a:buFont typeface="Arial" panose="020B0604020202020204" pitchFamily="34" charset="0"/>
              <a:buNone/>
              <a:defRPr sz="1600" b="1" kern="1200" cap="all" baseline="0">
                <a:solidFill>
                  <a:schemeClr val="tx1"/>
                </a:solidFill>
                <a:effectLst/>
                <a:latin typeface="+mn-lt"/>
                <a:ea typeface="+mn-ea"/>
                <a:cs typeface="+mn-cs"/>
              </a:defRPr>
            </a:lvl5pPr>
            <a:lvl6pPr marL="2286000" indent="0" algn="l" defTabSz="914400" rtl="0" eaLnBrk="1" latinLnBrk="0" hangingPunct="1">
              <a:lnSpc>
                <a:spcPct val="120000"/>
              </a:lnSpc>
              <a:spcBef>
                <a:spcPts val="500"/>
              </a:spcBef>
              <a:buClr>
                <a:schemeClr val="tx1"/>
              </a:buClr>
              <a:buFont typeface="Arial" panose="020B0604020202020204" pitchFamily="34" charset="0"/>
              <a:buNone/>
              <a:defRPr sz="1600" b="1" kern="1200" cap="all" baseline="0">
                <a:solidFill>
                  <a:schemeClr val="tx1"/>
                </a:solidFill>
                <a:effectLst/>
                <a:latin typeface="+mn-lt"/>
                <a:ea typeface="+mn-ea"/>
                <a:cs typeface="+mn-cs"/>
              </a:defRPr>
            </a:lvl6pPr>
            <a:lvl7pPr marL="2743200" indent="0" algn="l" defTabSz="914400" rtl="0" eaLnBrk="1" latinLnBrk="0" hangingPunct="1">
              <a:lnSpc>
                <a:spcPct val="120000"/>
              </a:lnSpc>
              <a:spcBef>
                <a:spcPts val="500"/>
              </a:spcBef>
              <a:buClr>
                <a:schemeClr val="tx1"/>
              </a:buClr>
              <a:buFont typeface="Arial" panose="020B0604020202020204" pitchFamily="34" charset="0"/>
              <a:buNone/>
              <a:defRPr sz="1600" b="1" kern="1200" cap="all" baseline="0">
                <a:solidFill>
                  <a:schemeClr val="tx1"/>
                </a:solidFill>
                <a:effectLst/>
                <a:latin typeface="+mn-lt"/>
                <a:ea typeface="+mn-ea"/>
                <a:cs typeface="+mn-cs"/>
              </a:defRPr>
            </a:lvl7pPr>
            <a:lvl8pPr marL="3200400" indent="0" algn="l" defTabSz="914400" rtl="0" eaLnBrk="1" latinLnBrk="0" hangingPunct="1">
              <a:lnSpc>
                <a:spcPct val="120000"/>
              </a:lnSpc>
              <a:spcBef>
                <a:spcPts val="500"/>
              </a:spcBef>
              <a:buClr>
                <a:schemeClr val="tx1"/>
              </a:buClr>
              <a:buFont typeface="Arial" panose="020B0604020202020204" pitchFamily="34" charset="0"/>
              <a:buNone/>
              <a:defRPr sz="1600" b="1" kern="1200" cap="all" baseline="0">
                <a:solidFill>
                  <a:schemeClr val="tx1"/>
                </a:solidFill>
                <a:effectLst/>
                <a:latin typeface="+mn-lt"/>
                <a:ea typeface="+mn-ea"/>
                <a:cs typeface="+mn-cs"/>
              </a:defRPr>
            </a:lvl8pPr>
            <a:lvl9pPr marL="3657600" indent="0" algn="l" defTabSz="914400" rtl="0" eaLnBrk="1" latinLnBrk="0" hangingPunct="1">
              <a:lnSpc>
                <a:spcPct val="120000"/>
              </a:lnSpc>
              <a:spcBef>
                <a:spcPts val="500"/>
              </a:spcBef>
              <a:buClr>
                <a:schemeClr val="tx1"/>
              </a:buClr>
              <a:buFont typeface="Arial" panose="020B0604020202020204" pitchFamily="34" charset="0"/>
              <a:buNone/>
              <a:defRPr sz="1600" b="1" kern="1200" cap="all" baseline="0">
                <a:solidFill>
                  <a:schemeClr val="tx1"/>
                </a:solidFill>
                <a:effectLst/>
                <a:latin typeface="+mn-lt"/>
                <a:ea typeface="+mn-ea"/>
                <a:cs typeface="+mn-cs"/>
              </a:defRPr>
            </a:lvl9pPr>
          </a:lstStyle>
          <a:p>
            <a:r>
              <a:rPr lang="en-GB" dirty="0"/>
              <a:t>Indian time-use survey 2019</a:t>
            </a:r>
          </a:p>
        </p:txBody>
      </p:sp>
      <p:sp>
        <p:nvSpPr>
          <p:cNvPr id="10" name="Content Placeholder 3">
            <a:extLst>
              <a:ext uri="{FF2B5EF4-FFF2-40B4-BE49-F238E27FC236}">
                <a16:creationId xmlns:a16="http://schemas.microsoft.com/office/drawing/2014/main" id="{370F685A-AAB9-AC63-3E6E-426DCF9A766F}"/>
              </a:ext>
            </a:extLst>
          </p:cNvPr>
          <p:cNvSpPr txBox="1">
            <a:spLocks/>
          </p:cNvSpPr>
          <p:nvPr/>
        </p:nvSpPr>
        <p:spPr>
          <a:xfrm>
            <a:off x="609599" y="2440595"/>
            <a:ext cx="5386917" cy="3951288"/>
          </a:xfrm>
          <a:prstGeom prst="rect">
            <a:avLst/>
          </a:prstGeom>
          <a:solidFill>
            <a:schemeClr val="bg2">
              <a:lumMod val="20000"/>
              <a:lumOff val="80000"/>
            </a:schemeClr>
          </a:solidFill>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4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9pPr>
          </a:lstStyle>
          <a:p>
            <a:r>
              <a:rPr lang="en-GB" dirty="0"/>
              <a:t>Has had few users relative to its importance</a:t>
            </a:r>
          </a:p>
          <a:p>
            <a:r>
              <a:rPr lang="en-GB" dirty="0"/>
              <a:t>Was rather difficult to use initially</a:t>
            </a:r>
          </a:p>
          <a:p>
            <a:pPr lvl="1"/>
            <a:r>
              <a:rPr lang="en-GB" dirty="0"/>
              <a:t>Category codes are not in the documentation</a:t>
            </a:r>
          </a:p>
          <a:p>
            <a:pPr lvl="1"/>
            <a:r>
              <a:rPr lang="en-GB" dirty="0"/>
              <a:t>(Use the ITUS report for these)</a:t>
            </a:r>
          </a:p>
          <a:p>
            <a:pPr lvl="1"/>
            <a:r>
              <a:rPr lang="en-GB" dirty="0"/>
              <a:t>can look up </a:t>
            </a:r>
            <a:r>
              <a:rPr lang="en-GB" dirty="0" err="1"/>
              <a:t>icatus</a:t>
            </a:r>
            <a:r>
              <a:rPr lang="en-GB" dirty="0"/>
              <a:t> (2016) document</a:t>
            </a:r>
          </a:p>
          <a:p>
            <a:pPr lvl="1"/>
            <a:r>
              <a:rPr lang="en-GB" dirty="0"/>
              <a:t>These codes change from time to time!</a:t>
            </a:r>
          </a:p>
          <a:p>
            <a:r>
              <a:rPr lang="en-GB" dirty="0"/>
              <a:t>It had a Good sampling method</a:t>
            </a:r>
          </a:p>
        </p:txBody>
      </p:sp>
      <p:sp>
        <p:nvSpPr>
          <p:cNvPr id="11" name="Content Placeholder 5">
            <a:extLst>
              <a:ext uri="{FF2B5EF4-FFF2-40B4-BE49-F238E27FC236}">
                <a16:creationId xmlns:a16="http://schemas.microsoft.com/office/drawing/2014/main" id="{A885797C-BBAB-1CA3-9D74-892785B7F8A2}"/>
              </a:ext>
            </a:extLst>
          </p:cNvPr>
          <p:cNvSpPr txBox="1">
            <a:spLocks/>
          </p:cNvSpPr>
          <p:nvPr/>
        </p:nvSpPr>
        <p:spPr>
          <a:xfrm>
            <a:off x="6193367" y="2440595"/>
            <a:ext cx="5389033" cy="3951288"/>
          </a:xfrm>
          <a:prstGeom prst="rect">
            <a:avLst/>
          </a:prstGeom>
          <a:solidFill>
            <a:schemeClr val="bg2">
              <a:lumMod val="20000"/>
              <a:lumOff val="80000"/>
            </a:schemeClr>
          </a:solidFill>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4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9pPr>
          </a:lstStyle>
          <a:p>
            <a:r>
              <a:rPr lang="en-GB" dirty="0"/>
              <a:t>30 minute blocks give a large error bar</a:t>
            </a:r>
          </a:p>
          <a:p>
            <a:r>
              <a:rPr lang="en-GB" dirty="0"/>
              <a:t>Hidden measurement error such as masking all the &lt;15 minute activities like brushing the child’s teeth</a:t>
            </a:r>
          </a:p>
          <a:p>
            <a:pPr lvl="1"/>
            <a:r>
              <a:rPr lang="en-GB" dirty="0"/>
              <a:t>Changing a diaper</a:t>
            </a:r>
          </a:p>
          <a:p>
            <a:r>
              <a:rPr lang="en-GB" dirty="0"/>
              <a:t>Likely to lead to underestimating childcare time</a:t>
            </a:r>
          </a:p>
        </p:txBody>
      </p:sp>
      <p:sp>
        <p:nvSpPr>
          <p:cNvPr id="5" name="Text Placeholder 4">
            <a:extLst>
              <a:ext uri="{FF2B5EF4-FFF2-40B4-BE49-F238E27FC236}">
                <a16:creationId xmlns:a16="http://schemas.microsoft.com/office/drawing/2014/main" id="{42EE25A5-D059-4C9E-96FD-9BFBC184C2AD}"/>
              </a:ext>
            </a:extLst>
          </p:cNvPr>
          <p:cNvSpPr>
            <a:spLocks noGrp="1"/>
          </p:cNvSpPr>
          <p:nvPr>
            <p:ph type="body" sz="quarter" idx="3"/>
          </p:nvPr>
        </p:nvSpPr>
        <p:spPr>
          <a:solidFill>
            <a:schemeClr val="bg2">
              <a:lumMod val="20000"/>
              <a:lumOff val="80000"/>
            </a:schemeClr>
          </a:solidFill>
        </p:spPr>
        <p:txBody>
          <a:bodyPr>
            <a:normAutofit fontScale="85000" lnSpcReduction="20000"/>
          </a:bodyPr>
          <a:lstStyle/>
          <a:p>
            <a:r>
              <a:rPr lang="en-GB" dirty="0"/>
              <a:t>The hours worked in the one recall day were measured out in 30-minute blocs</a:t>
            </a:r>
          </a:p>
        </p:txBody>
      </p:sp>
    </p:spTree>
    <p:extLst>
      <p:ext uri="{BB962C8B-B14F-4D97-AF65-F5344CB8AC3E}">
        <p14:creationId xmlns:p14="http://schemas.microsoft.com/office/powerpoint/2010/main" val="1113527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 and Pointers Forward</a:t>
            </a:r>
          </a:p>
        </p:txBody>
      </p:sp>
      <p:sp>
        <p:nvSpPr>
          <p:cNvPr id="3" name="Text Placeholder 2"/>
          <p:cNvSpPr>
            <a:spLocks noGrp="1"/>
          </p:cNvSpPr>
          <p:nvPr>
            <p:ph type="body" idx="1"/>
          </p:nvPr>
        </p:nvSpPr>
        <p:spPr>
          <a:solidFill>
            <a:schemeClr val="bg2">
              <a:lumMod val="20000"/>
              <a:lumOff val="80000"/>
            </a:schemeClr>
          </a:solidFill>
        </p:spPr>
        <p:txBody>
          <a:bodyPr>
            <a:normAutofit fontScale="85000" lnSpcReduction="20000"/>
          </a:bodyPr>
          <a:lstStyle/>
          <a:p>
            <a:r>
              <a:rPr lang="en-GB" dirty="0"/>
              <a:t>Survey of the main points today</a:t>
            </a:r>
          </a:p>
        </p:txBody>
      </p:sp>
      <p:sp>
        <p:nvSpPr>
          <p:cNvPr id="4" name="Content Placeholder 3"/>
          <p:cNvSpPr>
            <a:spLocks noGrp="1"/>
          </p:cNvSpPr>
          <p:nvPr>
            <p:ph sz="half" idx="2"/>
          </p:nvPr>
        </p:nvSpPr>
        <p:spPr>
          <a:xfrm>
            <a:off x="609600" y="2332139"/>
            <a:ext cx="5386917" cy="4419180"/>
          </a:xfrm>
          <a:solidFill>
            <a:schemeClr val="accent1">
              <a:lumMod val="20000"/>
              <a:lumOff val="80000"/>
            </a:schemeClr>
          </a:solidFill>
        </p:spPr>
        <p:txBody>
          <a:bodyPr>
            <a:normAutofit fontScale="92500" lnSpcReduction="10000"/>
          </a:bodyPr>
          <a:lstStyle/>
          <a:p>
            <a:r>
              <a:rPr lang="en-GB" sz="4200" dirty="0"/>
              <a:t>Data combining can increase the cost-effectiveness of the time-use survey</a:t>
            </a:r>
          </a:p>
          <a:p>
            <a:r>
              <a:rPr lang="en-GB" sz="4200" dirty="0"/>
              <a:t>Gender norms</a:t>
            </a:r>
          </a:p>
        </p:txBody>
      </p:sp>
      <p:sp>
        <p:nvSpPr>
          <p:cNvPr id="5" name="Text Placeholder 4"/>
          <p:cNvSpPr>
            <a:spLocks noGrp="1"/>
          </p:cNvSpPr>
          <p:nvPr>
            <p:ph type="body" sz="quarter" idx="3"/>
          </p:nvPr>
        </p:nvSpPr>
        <p:spPr>
          <a:solidFill>
            <a:schemeClr val="bg2">
              <a:lumMod val="20000"/>
              <a:lumOff val="80000"/>
            </a:schemeClr>
          </a:solidFill>
        </p:spPr>
        <p:txBody>
          <a:bodyPr>
            <a:normAutofit fontScale="85000" lnSpcReduction="20000"/>
          </a:bodyPr>
          <a:lstStyle/>
          <a:p>
            <a:r>
              <a:rPr lang="en-GB" dirty="0"/>
              <a:t>Pointers to how time-use data will be organised in future, in many countries</a:t>
            </a:r>
          </a:p>
        </p:txBody>
      </p:sp>
      <p:sp>
        <p:nvSpPr>
          <p:cNvPr id="6" name="Content Placeholder 5"/>
          <p:cNvSpPr>
            <a:spLocks noGrp="1"/>
          </p:cNvSpPr>
          <p:nvPr>
            <p:ph sz="quarter" idx="4"/>
          </p:nvPr>
        </p:nvSpPr>
        <p:spPr>
          <a:xfrm>
            <a:off x="6193368" y="2516697"/>
            <a:ext cx="5389033" cy="4060272"/>
          </a:xfrm>
          <a:solidFill>
            <a:schemeClr val="accent1">
              <a:lumMod val="20000"/>
              <a:lumOff val="80000"/>
            </a:schemeClr>
          </a:solidFill>
        </p:spPr>
        <p:txBody>
          <a:bodyPr>
            <a:normAutofit fontScale="92500" lnSpcReduction="10000"/>
          </a:bodyPr>
          <a:lstStyle/>
          <a:p>
            <a:pPr lvl="1"/>
            <a:r>
              <a:rPr lang="en-GB" dirty="0"/>
              <a:t>Multi stage random sampling</a:t>
            </a:r>
          </a:p>
          <a:p>
            <a:pPr lvl="1"/>
            <a:r>
              <a:rPr lang="en-GB" dirty="0"/>
              <a:t>Cluster sampling stage is a risk zone for non-representativeness</a:t>
            </a:r>
          </a:p>
          <a:p>
            <a:pPr lvl="1"/>
            <a:r>
              <a:rPr lang="en-GB" dirty="0"/>
              <a:t>Costs rise, so statisticians can argue the </a:t>
            </a:r>
            <a:r>
              <a:rPr lang="en-GB" b="1" dirty="0"/>
              <a:t>case for </a:t>
            </a:r>
            <a:r>
              <a:rPr lang="en-GB" b="1" dirty="0" err="1"/>
              <a:t>timeuse</a:t>
            </a:r>
            <a:r>
              <a:rPr lang="en-GB" b="1" dirty="0"/>
              <a:t> spending </a:t>
            </a:r>
            <a:r>
              <a:rPr lang="en-GB" dirty="0"/>
              <a:t>if…</a:t>
            </a:r>
          </a:p>
          <a:p>
            <a:pPr lvl="2"/>
            <a:r>
              <a:rPr lang="en-GB" dirty="0"/>
              <a:t>A they get in the room</a:t>
            </a:r>
          </a:p>
          <a:p>
            <a:pPr lvl="2"/>
            <a:r>
              <a:rPr lang="en-GB" dirty="0"/>
              <a:t>B they can show benefits from the data</a:t>
            </a:r>
          </a:p>
          <a:p>
            <a:pPr lvl="2"/>
            <a:r>
              <a:rPr lang="en-GB" dirty="0"/>
              <a:t>C they say clearly who benefits</a:t>
            </a:r>
          </a:p>
          <a:p>
            <a:pPr lvl="2"/>
            <a:r>
              <a:rPr lang="en-GB" dirty="0"/>
              <a:t>D policy-practitioners directly, and childcare workers and fathers indirectly, benefit from the info.</a:t>
            </a:r>
          </a:p>
        </p:txBody>
      </p:sp>
      <p:sp>
        <p:nvSpPr>
          <p:cNvPr id="7" name="Slide Number Placeholder 6"/>
          <p:cNvSpPr>
            <a:spLocks noGrp="1"/>
          </p:cNvSpPr>
          <p:nvPr>
            <p:ph type="sldNum" sz="quarter" idx="12"/>
          </p:nvPr>
        </p:nvSpPr>
        <p:spPr/>
        <p:txBody>
          <a:bodyPr/>
          <a:lstStyle/>
          <a:p>
            <a:fld id="{1D72F41D-2C04-46BD-AD58-EC9976117EFB}" type="slidenum">
              <a:rPr lang="en-GB" smtClean="0"/>
              <a:t>19</a:t>
            </a:fld>
            <a:endParaRPr lang="en-GB" dirty="0"/>
          </a:p>
        </p:txBody>
      </p:sp>
    </p:spTree>
    <p:extLst>
      <p:ext uri="{BB962C8B-B14F-4D97-AF65-F5344CB8AC3E}">
        <p14:creationId xmlns:p14="http://schemas.microsoft.com/office/powerpoint/2010/main" val="2453903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Some References </a:t>
            </a:r>
          </a:p>
        </p:txBody>
      </p:sp>
      <p:sp>
        <p:nvSpPr>
          <p:cNvPr id="3" name="Text Placeholder 2"/>
          <p:cNvSpPr>
            <a:spLocks noGrp="1"/>
          </p:cNvSpPr>
          <p:nvPr>
            <p:ph type="body" idx="1"/>
          </p:nvPr>
        </p:nvSpPr>
        <p:spPr>
          <a:xfrm>
            <a:off x="1447800" y="1698988"/>
            <a:ext cx="4548717" cy="715355"/>
          </a:xfrm>
        </p:spPr>
        <p:txBody>
          <a:bodyPr>
            <a:normAutofit fontScale="92500"/>
          </a:bodyPr>
          <a:lstStyle/>
          <a:p>
            <a:r>
              <a:rPr lang="en-GB" dirty="0"/>
              <a:t>Indian data and early studies</a:t>
            </a:r>
          </a:p>
        </p:txBody>
      </p:sp>
      <p:sp>
        <p:nvSpPr>
          <p:cNvPr id="4" name="Content Placeholder 3"/>
          <p:cNvSpPr>
            <a:spLocks noGrp="1"/>
          </p:cNvSpPr>
          <p:nvPr>
            <p:ph sz="half" idx="2"/>
          </p:nvPr>
        </p:nvSpPr>
        <p:spPr/>
        <p:txBody>
          <a:bodyPr>
            <a:normAutofit/>
          </a:bodyPr>
          <a:lstStyle/>
          <a:p>
            <a:pPr marL="0" indent="0">
              <a:buNone/>
            </a:pPr>
            <a:endParaRPr lang="en-GB" dirty="0"/>
          </a:p>
          <a:p>
            <a:endParaRPr lang="en-GB" dirty="0"/>
          </a:p>
        </p:txBody>
      </p:sp>
      <p:sp>
        <p:nvSpPr>
          <p:cNvPr id="5" name="Text Placeholder 4"/>
          <p:cNvSpPr>
            <a:spLocks noGrp="1"/>
          </p:cNvSpPr>
          <p:nvPr>
            <p:ph type="body" sz="quarter" idx="3"/>
          </p:nvPr>
        </p:nvSpPr>
        <p:spPr/>
        <p:txBody>
          <a:bodyPr>
            <a:normAutofit fontScale="92500"/>
          </a:bodyPr>
          <a:lstStyle/>
          <a:p>
            <a:r>
              <a:rPr lang="en-GB" dirty="0"/>
              <a:t>Empirical research studies</a:t>
            </a:r>
          </a:p>
        </p:txBody>
      </p:sp>
      <p:sp>
        <p:nvSpPr>
          <p:cNvPr id="6" name="Content Placeholder 5"/>
          <p:cNvSpPr>
            <a:spLocks noGrp="1"/>
          </p:cNvSpPr>
          <p:nvPr>
            <p:ph sz="quarter" idx="4"/>
          </p:nvPr>
        </p:nvSpPr>
        <p:spPr/>
        <p:txBody>
          <a:bodyPr>
            <a:normAutofit/>
          </a:bodyPr>
          <a:lstStyle/>
          <a:p>
            <a:pPr marL="118872" indent="0">
              <a:buNone/>
            </a:pPr>
            <a:r>
              <a:rPr lang="en-GB" sz="1400" dirty="0"/>
              <a:t>Kim, Jihye, and Wendy Olsen (2023), Harmful Child Labour in India from a Time-Use Perspective, Development in Practice, 33:2, DOI Https://www.tandfonline.com/doi/full/10.1080/09614524.2022.2155620, Open access.</a:t>
            </a:r>
          </a:p>
          <a:p>
            <a:pPr marL="118872" indent="0">
              <a:buNone/>
            </a:pPr>
            <a:endParaRPr lang="en-GB" sz="1400" dirty="0"/>
          </a:p>
        </p:txBody>
      </p:sp>
      <p:sp>
        <p:nvSpPr>
          <p:cNvPr id="7" name="Slide Number Placeholder 6"/>
          <p:cNvSpPr>
            <a:spLocks noGrp="1"/>
          </p:cNvSpPr>
          <p:nvPr>
            <p:ph type="sldNum" sz="quarter" idx="12"/>
          </p:nvPr>
        </p:nvSpPr>
        <p:spPr/>
        <p:txBody>
          <a:bodyPr/>
          <a:lstStyle/>
          <a:p>
            <a:fld id="{1D72F41D-2C04-46BD-AD58-EC9976117EFB}" type="slidenum">
              <a:rPr lang="en-GB" smtClean="0"/>
              <a:t>20</a:t>
            </a:fld>
            <a:endParaRPr lang="en-GB" dirty="0"/>
          </a:p>
        </p:txBody>
      </p:sp>
      <p:sp>
        <p:nvSpPr>
          <p:cNvPr id="9" name="TextBox 8">
            <a:extLst>
              <a:ext uri="{FF2B5EF4-FFF2-40B4-BE49-F238E27FC236}">
                <a16:creationId xmlns:a16="http://schemas.microsoft.com/office/drawing/2014/main" id="{F4426B3C-479E-F281-D96E-50800B38E7DD}"/>
              </a:ext>
            </a:extLst>
          </p:cNvPr>
          <p:cNvSpPr txBox="1"/>
          <p:nvPr/>
        </p:nvSpPr>
        <p:spPr>
          <a:xfrm>
            <a:off x="1447800" y="2449512"/>
            <a:ext cx="4432300" cy="4247317"/>
          </a:xfrm>
          <a:prstGeom prst="rect">
            <a:avLst/>
          </a:prstGeom>
          <a:noFill/>
        </p:spPr>
        <p:txBody>
          <a:bodyPr wrap="square">
            <a:spAutoFit/>
          </a:bodyPr>
          <a:lstStyle/>
          <a:p>
            <a:r>
              <a:rPr lang="en-GB" dirty="0"/>
              <a:t>S. Rao and </a:t>
            </a:r>
            <a:r>
              <a:rPr lang="en-GB" dirty="0" err="1"/>
              <a:t>Vijayamba</a:t>
            </a:r>
            <a:r>
              <a:rPr lang="en-GB" dirty="0"/>
              <a:t> R., online document on "Using the India TUS Unit Level Data:  Some notes on method", URL https://fas.org.in/using-the-india-tus-unit-level-data-some-notes-on-method-and-some-stata-code/, accessed March 2022. </a:t>
            </a:r>
          </a:p>
          <a:p>
            <a:endParaRPr lang="en-GB" dirty="0"/>
          </a:p>
          <a:p>
            <a:r>
              <a:rPr lang="en-GB" dirty="0"/>
              <a:t>Full Open Access Methods: </a:t>
            </a:r>
          </a:p>
          <a:p>
            <a:r>
              <a:rPr lang="en-GB" dirty="0"/>
              <a:t>github.com/</a:t>
            </a:r>
            <a:r>
              <a:rPr lang="en-GB" dirty="0" err="1"/>
              <a:t>WendyOlsen</a:t>
            </a:r>
            <a:r>
              <a:rPr lang="en-GB" dirty="0"/>
              <a:t>/combining-</a:t>
            </a:r>
            <a:r>
              <a:rPr lang="en-GB" dirty="0" err="1"/>
              <a:t>cmie</a:t>
            </a:r>
            <a:r>
              <a:rPr lang="en-GB" dirty="0"/>
              <a:t>-</a:t>
            </a:r>
            <a:r>
              <a:rPr lang="en-GB" dirty="0" err="1"/>
              <a:t>itus</a:t>
            </a:r>
            <a:r>
              <a:rPr lang="en-GB" dirty="0"/>
              <a:t>-data</a:t>
            </a:r>
          </a:p>
          <a:p>
            <a:endParaRPr lang="en-GB" dirty="0"/>
          </a:p>
          <a:p>
            <a:r>
              <a:rPr lang="en-GB" dirty="0" err="1"/>
              <a:t>Dev’t</a:t>
            </a:r>
            <a:r>
              <a:rPr lang="en-GB" dirty="0"/>
              <a:t> In Practice Paper Methods:</a:t>
            </a:r>
          </a:p>
          <a:p>
            <a:r>
              <a:rPr lang="en-GB" dirty="0"/>
              <a:t>github.com/</a:t>
            </a:r>
            <a:r>
              <a:rPr lang="en-GB" dirty="0" err="1"/>
              <a:t>WendyOlsen</a:t>
            </a:r>
            <a:r>
              <a:rPr lang="en-GB" dirty="0"/>
              <a:t>/</a:t>
            </a:r>
            <a:r>
              <a:rPr lang="en-GB" dirty="0" err="1"/>
              <a:t>excessworkhoursindia</a:t>
            </a:r>
            <a:endParaRPr lang="en-GB" dirty="0"/>
          </a:p>
          <a:p>
            <a:endParaRPr lang="en-GB" dirty="0"/>
          </a:p>
        </p:txBody>
      </p:sp>
    </p:spTree>
    <p:extLst>
      <p:ext uri="{BB962C8B-B14F-4D97-AF65-F5344CB8AC3E}">
        <p14:creationId xmlns:p14="http://schemas.microsoft.com/office/powerpoint/2010/main" val="1248945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Further information sources</a:t>
            </a:r>
          </a:p>
        </p:txBody>
      </p:sp>
      <p:sp>
        <p:nvSpPr>
          <p:cNvPr id="4" name="Content Placeholder 3"/>
          <p:cNvSpPr>
            <a:spLocks noGrp="1"/>
          </p:cNvSpPr>
          <p:nvPr>
            <p:ph sz="half" idx="2"/>
          </p:nvPr>
        </p:nvSpPr>
        <p:spPr>
          <a:xfrm>
            <a:off x="1507958" y="1780674"/>
            <a:ext cx="4488559" cy="4620126"/>
          </a:xfrm>
        </p:spPr>
        <p:txBody>
          <a:bodyPr>
            <a:normAutofit fontScale="92500" lnSpcReduction="20000"/>
          </a:bodyPr>
          <a:lstStyle/>
          <a:p>
            <a:r>
              <a:rPr lang="en-GB" dirty="0"/>
              <a:t>*for </a:t>
            </a:r>
            <a:r>
              <a:rPr lang="en-GB" dirty="0" err="1"/>
              <a:t>icatus</a:t>
            </a:r>
            <a:r>
              <a:rPr lang="en-GB" dirty="0"/>
              <a:t> codes used at 1-digit level, see UN (2021), International Classification of Activities for Time-Use Statistics 2016, Department of Economic and Social Affairs Statistics Division, Statistical Papers Series M No. 98, New York:  United Nations. URL accessed Feb 2023, https://unstats.un.org/unsd/gender/timeuse/23012019%20ICATUS.pdf</a:t>
            </a:r>
          </a:p>
        </p:txBody>
      </p:sp>
      <p:sp>
        <p:nvSpPr>
          <p:cNvPr id="6" name="Content Placeholder 5"/>
          <p:cNvSpPr>
            <a:spLocks noGrp="1"/>
          </p:cNvSpPr>
          <p:nvPr>
            <p:ph sz="quarter" idx="4"/>
          </p:nvPr>
        </p:nvSpPr>
        <p:spPr>
          <a:xfrm>
            <a:off x="6096000" y="1900989"/>
            <a:ext cx="5486401" cy="4499811"/>
          </a:xfrm>
        </p:spPr>
        <p:txBody>
          <a:bodyPr>
            <a:normAutofit fontScale="92500" lnSpcReduction="20000"/>
          </a:bodyPr>
          <a:lstStyle/>
          <a:p>
            <a:r>
              <a:rPr lang="en-GB" dirty="0"/>
              <a:t>Specific codes are in the report published 2021 </a:t>
            </a:r>
          </a:p>
          <a:p>
            <a:r>
              <a:rPr lang="en-GB" sz="1100" dirty="0"/>
              <a:t>Indian Time Use Survey (ITUS) microdata 2019 (NSS, 2020) Available at: *https://mospi.gov.in/web/mospi/download-tables-data/-/reports/view/templateTwo/20702?q=TBDCAT. Accessed Sept. 15, 2022.</a:t>
            </a:r>
          </a:p>
          <a:p>
            <a:r>
              <a:rPr lang="en-GB" dirty="0"/>
              <a:t>There is a login stage at MOSPI website.</a:t>
            </a:r>
          </a:p>
          <a:p>
            <a:pPr lvl="1"/>
            <a:endParaRPr lang="en-GB" sz="1200" dirty="0"/>
          </a:p>
          <a:p>
            <a:pPr lvl="1"/>
            <a:r>
              <a:rPr lang="en-GB" sz="1200" dirty="0"/>
              <a:t>Text Data Layout for Time Use Survey  : Schedule-10.6, URL https://mospi.gov.in/sites/default/files/README_TUS106.pdf, available via https://mospi.gov.in/time-use-survey-0</a:t>
            </a:r>
          </a:p>
          <a:p>
            <a:r>
              <a:rPr lang="en-GB" dirty="0"/>
              <a:t>NIC info is at:</a:t>
            </a:r>
          </a:p>
          <a:p>
            <a:pPr lvl="1"/>
            <a:r>
              <a:rPr lang="en-GB" sz="1300" dirty="0"/>
              <a:t>https://www.ncs.gov.in/Documents/NIC_Sector.pdf</a:t>
            </a:r>
          </a:p>
          <a:p>
            <a:endParaRPr lang="en-GB" dirty="0"/>
          </a:p>
        </p:txBody>
      </p:sp>
      <p:sp>
        <p:nvSpPr>
          <p:cNvPr id="7" name="Slide Number Placeholder 6"/>
          <p:cNvSpPr>
            <a:spLocks noGrp="1"/>
          </p:cNvSpPr>
          <p:nvPr>
            <p:ph type="sldNum" sz="quarter" idx="12"/>
          </p:nvPr>
        </p:nvSpPr>
        <p:spPr/>
        <p:txBody>
          <a:bodyPr/>
          <a:lstStyle/>
          <a:p>
            <a:fld id="{1D72F41D-2C04-46BD-AD58-EC9976117EFB}" type="slidenum">
              <a:rPr lang="en-GB" smtClean="0"/>
              <a:t>21</a:t>
            </a:fld>
            <a:endParaRPr lang="en-GB" dirty="0"/>
          </a:p>
        </p:txBody>
      </p:sp>
    </p:spTree>
    <p:extLst>
      <p:ext uri="{BB962C8B-B14F-4D97-AF65-F5344CB8AC3E}">
        <p14:creationId xmlns:p14="http://schemas.microsoft.com/office/powerpoint/2010/main" val="3321439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7953</TotalTime>
  <Words>2587</Words>
  <Application>Microsoft Office PowerPoint</Application>
  <PresentationFormat>Widescreen</PresentationFormat>
  <Paragraphs>390</Paragraphs>
  <Slides>21</Slides>
  <Notes>0</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4" baseType="lpstr">
      <vt:lpstr>Arial</vt:lpstr>
      <vt:lpstr>Calibri</vt:lpstr>
      <vt:lpstr>Corbel</vt:lpstr>
      <vt:lpstr>Courier New</vt:lpstr>
      <vt:lpstr>Helvetica Neue</vt:lpstr>
      <vt:lpstr>Merriweather</vt:lpstr>
      <vt:lpstr>noto sans</vt:lpstr>
      <vt:lpstr>Symbol</vt:lpstr>
      <vt:lpstr>Tempus Sans ITC</vt:lpstr>
      <vt:lpstr>Tw Cen MT</vt:lpstr>
      <vt:lpstr>Wingdings</vt:lpstr>
      <vt:lpstr>Droplet</vt:lpstr>
      <vt:lpstr>Worksheet</vt:lpstr>
      <vt:lpstr>Women’s Invisibilised Childcare Work:  Indian PATTERNs in 2019</vt:lpstr>
      <vt:lpstr>Overview:</vt:lpstr>
      <vt:lpstr>Research question  what new factors explain childcare hours per day, across India?  (beyond number-of-children, marital status, hhsize) hypotheses 1 social group matters, but we are not clear about why that is so (therefore control for demographics);  2 state matters because of varying gender norms  Both hypotheses were falsified, and instead,  education and gender norms were very important! </vt:lpstr>
      <vt:lpstr>ONE Key book was Agarwal, a field of one’s own, 1995</vt:lpstr>
      <vt:lpstr>Definitions First</vt:lpstr>
      <vt:lpstr>Operationalised measures</vt:lpstr>
      <vt:lpstr>We merged the Asian Barometers data on gender norms onto the Indian Time-Use Diary survey 2019</vt:lpstr>
      <vt:lpstr>Dataset 1 – Asian barometers – Table 1</vt:lpstr>
      <vt:lpstr>Findings – Asian barometers – Table 2</vt:lpstr>
      <vt:lpstr>Dataset 2 – Indian time-use survey 2019</vt:lpstr>
      <vt:lpstr>Findings – Indian time-use survey 2019</vt:lpstr>
      <vt:lpstr>Findings: regarding whether the gender norms affected the childcare work time </vt:lpstr>
      <vt:lpstr>Findings 2 regarding whether the gender norms affected the childcare work time after allowing for state location</vt:lpstr>
      <vt:lpstr>Findings 2:  TABLE 4. the gender norms affected childcare work time after allowing for state location? Yes.  Female = +301 minutes. + if Group Gender norms progressive = +&gt; 55 minutes average! </vt:lpstr>
      <vt:lpstr>The regression results  ( tests ) </vt:lpstr>
      <vt:lpstr>Discussion</vt:lpstr>
      <vt:lpstr>Graphical Approach to the findings</vt:lpstr>
      <vt:lpstr>Beware of issues with the Indian data</vt:lpstr>
      <vt:lpstr>Summary and Pointers Forward</vt:lpstr>
      <vt:lpstr>Some References </vt:lpstr>
      <vt:lpstr>Further information sources</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Wendy Olsen</dc:creator>
  <cp:lastModifiedBy>Wendy Olsen</cp:lastModifiedBy>
  <cp:revision>39</cp:revision>
  <dcterms:created xsi:type="dcterms:W3CDTF">2022-10-24T11:42:09Z</dcterms:created>
  <dcterms:modified xsi:type="dcterms:W3CDTF">2024-02-20T09:39:39Z</dcterms:modified>
</cp:coreProperties>
</file>